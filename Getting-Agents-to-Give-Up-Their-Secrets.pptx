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Don't rush into the hook — give people a moment to read. This is 'Getting Agents to Give Up Their Secrets,' a practical guide to AI that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full story: 'I watched someone go back and forth — copy, paste, no that’s not right, copy, paste, closer but... The same task took 2 minutes once they knew the trick.' Let it land — this is the emotional anchor. The entire closing calls back to this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after this. Let it land. The entire closing (slide ~70) calls back to this moment. This is the thesis statement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personas:
• AI Skeptic — Avoids AI or refuses to engage
• AI Questioner — Has ChatGPT, uses it like a search engine
• AI Viber — Uses AI tools, then fixes output by hand
• AI-First — Everything through AI; context, agents, workflows
These are identity milestones. The deck’s levels are the steps that move you to the right. By the end, we’ll have moved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readers will self-identify at Questioner. They have ChatGPT, they’ve tried it, but they’re using it like a search engine. This framing pays off at the closing when we come full circle. Transition: Let’s look at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DataReportal 2026. AI has mass reach — over a billion people are using AI tools every month. But almost nobody is going deep. That’s the opportunity. Transition: How few are going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Reuters. Fewer than 2% of AI users pay for premium tiers. The opportunity gap is enormous — almost nobody is using AI seriously. If you learn to use it well, you’re already in the top percentile. Transition: We’ve seen this pattern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major technology era followed the same pattern:
• PCs (1980s): US productivity growth doubled (0.6% → 1.0%/yr) — Fed Reserve
• Internet (1990s): Global business online 7% → 30% — Visual Capitalist
• Smartphones (2010s): The pattern speaks for itself
• AI (Now): $7T projected GDP impact over 10 years — Goldman Sachs
Every era had skeptics. Every era punished those who waited. The only question is how fast you adapt. Transition: Let’s look at where AI is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McKinsey Global Institute ($2.6–4.4T annually in added value); ServiceNow (only 31% of prioritized AI use cases in full production); Microsoft Security Blog (80% of Fortune 500 have active AI agents, Feb 2026). The third stat is the killer — the gap between having AI and using it well is enormous. Transition: So what’s the core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Permission-granting moment. AI’s interface is natural language. The audience already has the prerequisite. 'You’re not missing the skill. You’re just using it wrong.' This deck is the walkthrough — each section levels you up. Transition: Let’s see what most people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Level 1. Pause. Let the pacing shift. We’re moving from 'why AI matters' to 'what AI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Exactly. Makes the reader feel validated. The overwhelm is real. Don’t explain anything yet — just let the wall of jargon hit them. Every one of these terms is real, and most people feel like they should know them all. They don’t need to. Transition: But there are some questions worth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make this simple. The questions represent common confusions. The audience should feel like someone is finally asking their questions. We’ll answer all of these in the next few slides. Transition: Let’s start with the basics — how is AI actually structured?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stack, from top to bottom:
• App — ChatGPT, Claude, Copilot. This is what you interact with.
• Agent — The brain + tools. The brain has ideas; the agent has hands.
• API — How software talks to the brain. You don’t need to know this exists.
• LLM — A massive AI model trained on text. You never touch this directly.
Most people only need the top two layers. Transition: Here’s the simple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AI stack in four sentences. Most people only need the top two layers (app and agent). The bottom two are for developers. If you remember nothing else from this section, remember this chain. Transition: So who makes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Microsoft doesn’t make the brain — they build tools around someone else’s LLM.
Taglines you might know them as:
• OpenAI/ChatGPT — The one everyone uses
• Anthropic/Claude — The 'thinking' one
• Google/Gemini — The one in your Google apps
• Microsoft/Copilot — The one in your work tools
This is why the agent/app layer matters more for most people. Transition: Where’s the real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side costs billions to train, takes months per model, and only ~5 companies can do it. The agent/app side is just software — innovation has exploded, anyone can build agents and apps, new tools appear weekly. The biggest user-facing improvements come from better agents, apps, and workflows — and that’s where you come in. Transition: Software engineers figured this 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(Karpathy coined the term Feb 2025). Software engineering was the canary in the coal mine — AI transformed coding faster than anyone expected. Transition: But there’s a twist.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Engineers went first, made all the mistakes, and learned what works. This deck teaches you those lessons. Transition: Let that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Level 1. The tools are everywhere, adoption is exploding, but most people are using AI poorly. The gap is your opportunity. Transition: And adoption is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Q2 2026 earnings. Microsoft 365 Copilot daily active users increased 10x year-over-year. Tools like Copilot in Excel, Copilot in Word, Gemini in Docs, Claude in Workflows — AI is entering every workplace tool. If you were a Skeptic, you’re now a Questioner — you know what AI is. Transition: You’ve got the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1 to Level 2. Persona milestone: Skeptic → Questioner. The audience now knows what AI is. Next: how to actually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Mental-model shift. The audience likely thinks output quality is about the AI. This section proves it’s about the input. Most people type something vague, get something generic, and blame the AI. Let’s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prompt that everyone starts with. The output is recognizably mediocre — generic proposal with bland headers, placeholder content, no specifics, no awareness of your company. Sound familiar? Over the next five slides, we’ll transform this same task by changing only the words. Transition: The first fix is the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vague request produces noticeably different output. The role sets the AI’s default tone, depth, and perspective. A role frames everything that follows. Always start here. More relevant frameworks, industry terminology, realistic timelines — just from telling the AI who it is. Transition: Now let’s get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the request = specificity in the output. We didn’t give new information — we described what we actually wanted. No audience, no constraints, no direction = the AI guesses everything. Treat it like briefing a colleague, not searching Google. Transition: Next — don’t overload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is one of the most common mistakes. Five requests tangled together — tries everything, nails nothing. If you have 5 tasks, send 5 prompts. One task, clear structure — the AI mirrors your organization. Source: CodeSignal. Transition: Now let’s add power keywords.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'Radically honest,' 'think step by step,' 'challenge my assumptions,' and 'flag uncertainty' are four of the highest-leverage keyword modifiers. A leading question produces sycophantic agreement — an echo chamber. Permit uncertainty — an AI that says 'I’m not sure' is more useful than one that confidently makes things up. Sources: OpenAI, DigitalOcean. Transition: One more — define what you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Defining format, tone, length, and audience assumptions produces immediately usable output. For extra precision, include a short example of what good output looks like — a quick example beats a long description. Every iteration changed wording. We never changed what the AI knew. That’s the setup for Level 3. Transition: Let’s see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final prompt: 'You are a senior HR operations consultant. Write a proposal for reducing onboarding from 4 to 2 weeks. Aimed at VP of People, leadership review format, under 2 pages. Structure: problem, solution, outcomes, resources, timeline. Be radically honest, challenge assumptions, flag uncertainty. One-page exec brief with bullets, data-driven language.'
Role + Specificity + Structure + Keywords + Output Definition. Same task, same background info, dramatically different result — purely from how the request was phrased. This is the hinge of the deck. Transition: Celebrate the progress, then plant the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audience should feel the progress — five simple techniques transformed a mediocre prompt into a professional one. But there’s a bigger lever coming. Transition: The cliffhanger.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cliffhanger. Every iteration in Level 2 changed the wording, but the AI still had zero context about your company, your team, your situation. It was working blind. Level 3 introduces context engineering — giving the AI the information it needs. Transition: Let’s change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2 (prompt engineering) to Level 3 (context engineering). The audience should feel like they’ve mastered the words, but there’s a whole other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Level 2/3 boundary demonstration. The prompt didn't change. The context did. This is the 'aha' — it's not about the words, it's about what the AI knows. Source: Elastic, KDnuggets. Transition: Let's see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Same well-crafted prompt from Level 2. Output is plausible but generic — reads like it could be for any company.
Right: Same prompt + background info (current onboarding stats, company size &amp; structure, known pain points, relevant policies). Output sounds like someone who works here.
Source: Elastic, KDnuggets. Transition: Let's meet the metaphor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AI is like Dory from Finding Nemo: incredibly smart, genuinely wants to help, remembers absolutely nothing between conversations. In Level 2, we got better at asking. But Dory's biggest problem isn't that she doesn't understand what you're saying — it's that she doesn't know what you know. You already SAW context transform output. Dory explains WHY. First of five Dory touchpoints. Transition: Let's meet her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punchline. Every conversation starts fresh — no memory of previous interactions, no context about your company, your role, or your preferences. This is why context engineering matters: you have to give Dory the information she needs every single time. Level 2 = words. Level 3 = information. Transition: Three ways to confuse your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failure modes of context:
1. Too much context — Dory gets lost, buries important stuff in noise. Key details get drowned out by irrelevant information.
2. Contradictory info — Dory gets confused, tries to satisfy everything at once. Output becomes incoherent.
3. Broad instructions — Dory wanders off, loses focus partway through. Starts strong, finishes weak.
The problem isn't that AI is dumb. It's the context. Source: Sombra — 57% of orgs have AI agents in production, but 32% cite quality as top barrier. Transition: So how do you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highest-leverage technique: let AI close its own context gaps. When you say 'Before you start, ask me clarifying questions about anything you'd need to know,' the AI will ask:
• What's the current onboarding timeline?
• Budget constraints?
• Key stakeholder concerns?
• Success metrics you'll be measured on?
• Previous failed attempts?
The AI does context engineering for you. Source: Anthropic/Claude. Transition: But how much context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tweaks the question. Context engineering builds the knowledge base. Persona milestone: Questioner → Viber. You've outgrown Questioner. You prompt well, you understand context, you get good results. You're a Viber — but you're still doing all the work manually. Source: CIO. Transition: Let's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3 (context engineering) to Level 4 (agents). The audience should feel like they've mastered information, but there's a bigger shift coming — letting AI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cycle is so universal it's invisible. Drawing it as steps makes people see the pattern:
1. You decide which documents to provide
2. You copy-paste into the AI chat
3. You read the output
4. You manually apply it
Problems: You're the bottleneck. You don't know what context AI needs. You're doing grunt work. Every step has 'you' in it. Transition: There's a better metaphor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trap summarized in one image. You have this incredibly powerful tool, and you're using it for the most mundane possible workflow. The AI can do so much more — if you let it. Transition: What if the agent did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but the human only appears at step 4. The agent retrieves its own context, identifies gaps and goes back for more, creates/edits outputs directly, and you review and approve. Human moved from 'operator at every step' to 'reviewer at the end.' Same Dory, same memory issues, but now she has hands, eyes, and a to-do list. One great chef who finds ingredients, preps, cooks, and plates. You taste-test at the end. Transition: Let's meet this new Dory.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Dory touchpoint. Same memory issues, but the agent now has tools. It can read files, search the web, send emails, query databases. The chef metaphor: one great chef who finds ingredients, preps, cooks, and plates. You taste-test at the end. Transition: What tools does she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Dory a phone, a filing cabinet, and a library card. The six connection types:
• Web — Search and fact-check in real time
• Email — Read context, draft responses
• Docs — Policies, templates, past work
• Data — Query real databases
• Calendar — Scheduling context
• Custom — Via MCP ('USB-C for AI') — any tool you can imagine
MCP detail available in appendix for Q&amp;A. Transition: What does this look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forgotten budget memo is the killer detail. Everyone has this story.
Without connections: Copy-paste HR handbook, survey results, team structure. Forget the budget memo. Proposal misses cost constraints. VP asks about it — too late.
With connections: Agent reads HR system directly. Pulls survey data automatically. Finds the budget memo you forgot. Flags a policy constraint you didn't know existed.
The agent found context you wouldn't have thought to provide. Transition: But can you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lands. The reader just watched us hand AI the keys to documents, databases, and workflows. They should be feeling 'Wait, can I trust it with all that?' This addresses the unease at exactly the moment it's felt.
Three rules:
1. Never trust numbers you didn't provide — if it can't cite a source, it made it up.
2. Verify claims against sources — AI output = first draft, not final answer.
3. Use AI for drafts, not decisions — your judgment is the last step.
Love Dory. Fact-check Dory. Transition: The mindset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Sensitive/confidential data — only approved/enterprise tools. Final legal/compliance language — AI drafts, humans approve. Anything where being wrong has serious consequences. Persona milestone: Viber → approaching AI-First. You're no longer a Viber — you've let go of the wheel. But you're still working with a single agent. One last leap. Transition: The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bullet from the old 'Hands on the Wheel' slide — and the most important. This is the 'feels right' trap. When AI output sounds confident and plausible but you have no way to check it, that's when mistakes happen. The feeling of confidence is not the same as verification. Transition: You're ready for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level transition. Single agent → multi-agent. The audience has mastered individual AI interaction. Now we go to the brigade.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One chef doing everything solo. Works for single tasks, but a 10-course dinner alone = burnout, mistakes, forgotten appetizer.
Level 5: Kitchen brigade — multiple chefs at stations. A classroom of Dorys, each doing one focused step. Each fresh, focused, brilliant at one thing.
LLMs are bad at long chains but excellent at focused tasks. The kitchen brigade leverages the strength. Third Dory touchpoint. Transition: Let's name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principle of Level 5. Instead of one powerful agent trying to do everything, you create a chain of focused agents. Each one does one thing brilliantly, and the chain does everything. Transition: Here's what that chain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onboarding proposal chain:
• Agent 1 (Research) — researches onboarding process, pulls metrics from HR, reads surveys, summarizes pain points → structured brief
• Agent 2 (Draft) — uses the brief to draft a proposal, one-page exec brief for VP of People → polished proposal
• Agent 3 (Review) — reviews against leadership template and compliance policy, flags gaps → final draft + notes
• You — review, adjust, approve. The part only humans can do: judgment.
Three principles: Single job (each link has one clear job), Filtered context (context is filtered between steps), Compounding quality (each step builds on verified output). Smell test: If your initial prompt is getting long and complex, you need a Phase 0 — an agent whose only job is to figure out what the rest of the chain needs. Transition: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Distilled principle. Break big tasks into focused steps. Pass results forward. Filter context between each. The 'write this down' moment. Transition: But how does each agent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definition: Skills are predefined rules, instructions, templates, and context packages — injected into the AI's context only when relevant. Think of them as the specialized training manual each chef at each station receives.
How does each Dory in the brigade know what to do? Skills. Write once, use forever. Every time the chain runs, each agent already knows its specialty.
Organizations investing in context architecture see 50% faster responses and 40% higher quality outputs. Source: CodeConductor. Transition: Let's see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onboarding chain, now upgraded with skills:
• Agent 1 (Research) + 'Research Standards' — knows where to look, what data to prioritize, how to structure the brief. Already knows the company's data sources.
• Agent 2 (Draft) + 'Leadership Proposals' — knows the VP's preferred format, tone, level of detail, how to frame costs. Every proposal sounds like it was written for this audience.
• Agent 3 (Review) + 'Compliance Policy' — knows regulations, required disclaimers, approval workflows. Catches policy gaps you didn't know existed.
With skills, each agent already knows its specialty. Transition: What makes skills special?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that make skills transformative vs. just helpful:
• Reusable — write once, use forever
• Consistent — every interaction gets the same quality context
• Scalable — works for 1 person or 10,000
• Focused — only loads what's relevant, keeping each Dory's attention on track
And they compound. Your feedback from each chain run becomes new skills. The brigade gets smarter every time. Transition: You may have seen skills by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concept, many names. Whether triggered by you, the app, or the AI itself differs across tools. The principle is identical. ChatGPT custom instructions, Claude Project rules, system prompts — all skills. If your tool has a way to save reusable instructions, use it. That's a skill. Transition: Here's the metaphor that ties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 giving directions for each individual trip. Effort every time. Doesn't compound.
Context engineering + skills = programming a GPS with home, office, preferences, traffic patterns. Gets smarter the more you invest. Compounds permanently.
This crystallizes the full journey. Each level built on the last. The GPS metaphor ties all five together. Transition: And here's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beat. Your feedback from each chain run becomes new skills. The VP's format becomes the 'Leadership Proposals' skill. Compliance gaps become the updated 'Compliance Policy' skill. Even though Dory won't remember, the skills will. Final Dory touchpoint. Transition: Let's see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7 steps verbally:
1. Search for onboarding docs and survey data (20 min)
2. Copy-paste into AI, ask for draft (10 min)
3. Read output, realize it's missing budget context (5 min)
4. Find budget data, re-prompt (15 min)
5. Reformat to leadership template (20 min)
6. Ask AI to review draft (10 min)
7. Manually apply suggestions (15 min)
Total: ~1.5 hours of you being the bottleneck. This is the manual workflow the audience has watched evolve through the entire deck. Now it's at full scale and the pain is vivid. Transition: Now the chained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 Agent 1 researches (pulls metrics, reads surveys, summarizes pain points)
• Agent 2 drafts (one-page exec brief for VP of People)
• Agent 3 reviews (checks against leadership template and compliance policy)
• You judge (review, adjust, approve)
Same proposal quality. The chain did 1 hour 15 minutes of grunt work. You spent 15 minutes on judgment — the part only humans can do. Transition: And it gets better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The skills compounding beat is the final Dory touchpoint. Your feedback from each run becomes new skills — the VP's format, compliance gaps, research standards. Even though Dory forgets, the skills persist. Same proposal. 15 minutes of judgment instead of 1.5 hours of grunt work. And next time it's even faster. Transition to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rush this — let the audience see how far they've come. The spectrum from slide 4 is now a journey they've completed.
• AI Skeptic — Levels 0–1 got you past this
• AI Questioner — Levels 2–3 got you past this
• AI Viber — Level 4 got you past this
• AI-First — Level 5 brought you here
You walked in as a Questioner. This deck just showed you the path to AI-First. Transition: Here are the tools to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not exhaustive. Know which tool to try first for your role:
• General purpose — ChatGPT, Claude, Gemini. Free tiers available. Start here.
• In your workflow — Microsoft Copilot, Gemini in Workspace. Already in your work tools.
• For developers — GitHub Copilot, Cursor, Claude Code. AI-first coding.
• For connections — MCP servers, Zapier AI, custom integrations. Level 4–5 territory.
Transition: Here's your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task. Four weeks. Four persona crossings.
• Week 1 (Questioner) — Level 2. Specific, structured prompt. Compare to manual. Notice the phrasing difference.
• Week 2 (Viber) — Level 3. Add context. Ask AI to ask clarifying questions. Notice the jump.
• Week 3 (AI-First) — Level 4. Agent with connections. Let it pull context itself. Notice what it finds.
• Week 4 (Orchestrator) — Level 5. Break into phases. Chain them. Compare to Week 1. You're orchestrating.
Four weeks. One task. Same journey this deck just took you on. Most actionable takeaway. Transition: Let's come back to where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reset before the callback. Pause. Let the pacing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slide 2. The person who spent 45 minutes copy-pasting into ChatGPT. They learned to prompt with specificity (became a Viber, Levels 2–3). They let the agent find what it needed (started going AI-First, Level 4). They chained the whole workflow (full AI-First, Level 5). They were a Questioner who became AI-First. Transition: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task. Two minutes. That's the trick. Now you know it too. Let this land. Long pause. This is the emotional peak of the entire deck. Everything from slide 1 has been building to this moment. Transition: One final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exit. The secret was in knowing how to work with it. One task, this week — not 'transform everything.' Getting Agents to Give Up Their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4" Type="http://schemas.openxmlformats.org/officeDocument/2006/relationships/image" Target="../media/image-52-1.png"/><Relationship Id="rId5" Type="http://schemas.openxmlformats.org/officeDocument/2006/relationships/image" Target="../media/image-52-1.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Getting Agents to</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Give Up Their Secrets</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A guide to AI that actually works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E0E4E8"/>
                </a:solidFill>
                <a:latin typeface="Calibri" pitchFamily="34" charset="0"/>
                <a:ea typeface="Calibri" pitchFamily="34" charset="-122"/>
                <a:cs typeface="Calibri" pitchFamily="34" charset="-120"/>
              </a:rPr>
              <a:t>Last month, someone spent 45 minutes</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arguing with ChatGPT.</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The same task took 2 minutes.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This deck is about</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the trick.</a:t>
            </a:r>
            <a:endParaRPr lang="en-US"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4" name="Text 2"/>
          <p:cNvSpPr/>
          <p:nvPr/>
        </p:nvSpPr>
        <p:spPr>
          <a:xfrm>
            <a:off x="45720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7" name="Text 5"/>
          <p:cNvSpPr/>
          <p:nvPr/>
        </p:nvSpPr>
        <p:spPr>
          <a:xfrm>
            <a:off x="256032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0" name="Text 8"/>
          <p:cNvSpPr/>
          <p:nvPr/>
        </p:nvSpPr>
        <p:spPr>
          <a:xfrm>
            <a:off x="466344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3" name="Text 11"/>
          <p:cNvSpPr/>
          <p:nvPr/>
        </p:nvSpPr>
        <p:spPr>
          <a:xfrm>
            <a:off x="676656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AI-First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4" name="Text 2"/>
          <p:cNvSpPr/>
          <p:nvPr/>
        </p:nvSpPr>
        <p:spPr>
          <a:xfrm>
            <a:off x="45720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1645920"/>
            <a:ext cx="1920240" cy="731520"/>
          </a:xfrm>
          <a:prstGeom prst="roundRect">
            <a:avLst>
              <a:gd name="adj" fmla="val 12500"/>
            </a:avLst>
          </a:prstGeom>
          <a:solidFill>
            <a:srgbClr val="00B4D8"/>
          </a:solidFill>
          <a:ln w="25400">
            <a:solidFill>
              <a:srgbClr val="00B4D8"/>
            </a:solidFill>
            <a:prstDash val="solid"/>
          </a:ln>
        </p:spPr>
      </p:sp>
      <p:sp>
        <p:nvSpPr>
          <p:cNvPr id="7" name="Text 5"/>
          <p:cNvSpPr/>
          <p:nvPr/>
        </p:nvSpPr>
        <p:spPr>
          <a:xfrm>
            <a:off x="2560320" y="164592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0" name="Text 8"/>
          <p:cNvSpPr/>
          <p:nvPr/>
        </p:nvSpPr>
        <p:spPr>
          <a:xfrm>
            <a:off x="466344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3" name="Text 11"/>
          <p:cNvSpPr/>
          <p:nvPr/>
        </p:nvSpPr>
        <p:spPr>
          <a:xfrm>
            <a:off x="676656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AI-First</a:t>
            </a:r>
            <a:endParaRPr lang="en-US" sz="2200" dirty="0"/>
          </a:p>
        </p:txBody>
      </p:sp>
      <p:sp>
        <p:nvSpPr>
          <p:cNvPr id="14" name="Text 12"/>
          <p:cNvSpPr/>
          <p:nvPr/>
        </p:nvSpPr>
        <p:spPr>
          <a:xfrm>
            <a:off x="914400" y="2926080"/>
            <a:ext cx="7315200" cy="914400"/>
          </a:xfrm>
          <a:prstGeom prst="rect">
            <a:avLst/>
          </a:prstGeom>
          <a:noFill/>
          <a:ln/>
        </p:spPr>
        <p:txBody>
          <a:bodyPr wrap="square" lIns="0" tIns="0" rIns="0" bIns="0" rtlCol="0" anchor="t"/>
          <a:lstStyle/>
          <a:p>
            <a:pPr algn="ctr" indent="0" marL="0">
              <a:buNone/>
            </a:pPr>
            <a:r>
              <a:rPr lang="en-US" sz="3600" b="1" dirty="0">
                <a:solidFill>
                  <a:srgbClr val="00B4D8"/>
                </a:solidFill>
                <a:latin typeface="Georgia" pitchFamily="34" charset="0"/>
                <a:ea typeface="Georgia" pitchFamily="34" charset="-122"/>
                <a:cs typeface="Georgia" pitchFamily="34" charset="-120"/>
              </a:rPr>
              <a:t>Most people are 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 billion+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use AI tools monthly</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&lt; 2%</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pay for premium</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914400" y="2377440"/>
            <a:ext cx="7315200" cy="0"/>
          </a:xfrm>
          <a:prstGeom prst="line">
            <a:avLst/>
          </a:prstGeom>
          <a:noFill/>
          <a:ln w="38100">
            <a:solidFill>
              <a:srgbClr val="00B4D8"/>
            </a:solidFill>
            <a:prstDash val="solid"/>
          </a:ln>
        </p:spPr>
      </p:sp>
      <p:sp>
        <p:nvSpPr>
          <p:cNvPr id="4" name="Shape 2"/>
          <p:cNvSpPr/>
          <p:nvPr/>
        </p:nvSpPr>
        <p:spPr>
          <a:xfrm>
            <a:off x="1143000" y="2148840"/>
            <a:ext cx="457200" cy="457200"/>
          </a:xfrm>
          <a:prstGeom prst="ellipse">
            <a:avLst/>
          </a:prstGeom>
          <a:solidFill>
            <a:srgbClr val="94A3B8"/>
          </a:solidFill>
          <a:ln/>
        </p:spPr>
      </p:sp>
      <p:sp>
        <p:nvSpPr>
          <p:cNvPr id="5" name="Text 3"/>
          <p:cNvSpPr/>
          <p:nvPr/>
        </p:nvSpPr>
        <p:spPr>
          <a:xfrm>
            <a:off x="22860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PCs</a:t>
            </a:r>
            <a:endParaRPr lang="en-US" sz="2400" dirty="0"/>
          </a:p>
        </p:txBody>
      </p:sp>
      <p:sp>
        <p:nvSpPr>
          <p:cNvPr id="6" name="Text 4"/>
          <p:cNvSpPr/>
          <p:nvPr/>
        </p:nvSpPr>
        <p:spPr>
          <a:xfrm>
            <a:off x="22860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1980s</a:t>
            </a:r>
            <a:endParaRPr lang="en-US" sz="2400" dirty="0"/>
          </a:p>
        </p:txBody>
      </p:sp>
      <p:sp>
        <p:nvSpPr>
          <p:cNvPr id="7" name="Shape 5"/>
          <p:cNvSpPr/>
          <p:nvPr/>
        </p:nvSpPr>
        <p:spPr>
          <a:xfrm>
            <a:off x="3291840" y="2148840"/>
            <a:ext cx="457200" cy="457200"/>
          </a:xfrm>
          <a:prstGeom prst="ellipse">
            <a:avLst/>
          </a:prstGeom>
          <a:solidFill>
            <a:srgbClr val="94A3B8"/>
          </a:solidFill>
          <a:ln/>
        </p:spPr>
      </p:sp>
      <p:sp>
        <p:nvSpPr>
          <p:cNvPr id="8" name="Text 6"/>
          <p:cNvSpPr/>
          <p:nvPr/>
        </p:nvSpPr>
        <p:spPr>
          <a:xfrm>
            <a:off x="237744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Internet</a:t>
            </a:r>
            <a:endParaRPr lang="en-US" sz="2400" dirty="0"/>
          </a:p>
        </p:txBody>
      </p:sp>
      <p:sp>
        <p:nvSpPr>
          <p:cNvPr id="9" name="Text 7"/>
          <p:cNvSpPr/>
          <p:nvPr/>
        </p:nvSpPr>
        <p:spPr>
          <a:xfrm>
            <a:off x="237744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1990s</a:t>
            </a:r>
            <a:endParaRPr lang="en-US" sz="2400" dirty="0"/>
          </a:p>
        </p:txBody>
      </p:sp>
      <p:sp>
        <p:nvSpPr>
          <p:cNvPr id="10" name="Shape 8"/>
          <p:cNvSpPr/>
          <p:nvPr/>
        </p:nvSpPr>
        <p:spPr>
          <a:xfrm>
            <a:off x="5440680" y="2148840"/>
            <a:ext cx="457200" cy="457200"/>
          </a:xfrm>
          <a:prstGeom prst="ellipse">
            <a:avLst/>
          </a:prstGeom>
          <a:solidFill>
            <a:srgbClr val="94A3B8"/>
          </a:solidFill>
          <a:ln/>
        </p:spPr>
      </p:sp>
      <p:sp>
        <p:nvSpPr>
          <p:cNvPr id="11" name="Text 9"/>
          <p:cNvSpPr/>
          <p:nvPr/>
        </p:nvSpPr>
        <p:spPr>
          <a:xfrm>
            <a:off x="452628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Smartphones</a:t>
            </a:r>
            <a:endParaRPr lang="en-US" sz="2400" dirty="0"/>
          </a:p>
        </p:txBody>
      </p:sp>
      <p:sp>
        <p:nvSpPr>
          <p:cNvPr id="12" name="Text 10"/>
          <p:cNvSpPr/>
          <p:nvPr/>
        </p:nvSpPr>
        <p:spPr>
          <a:xfrm>
            <a:off x="452628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2010s</a:t>
            </a:r>
            <a:endParaRPr lang="en-US" sz="2400" dirty="0"/>
          </a:p>
        </p:txBody>
      </p:sp>
      <p:sp>
        <p:nvSpPr>
          <p:cNvPr id="13" name="Shape 11"/>
          <p:cNvSpPr/>
          <p:nvPr/>
        </p:nvSpPr>
        <p:spPr>
          <a:xfrm>
            <a:off x="7589520" y="2148840"/>
            <a:ext cx="457200" cy="457200"/>
          </a:xfrm>
          <a:prstGeom prst="ellipse">
            <a:avLst/>
          </a:prstGeom>
          <a:solidFill>
            <a:srgbClr val="00B4D8"/>
          </a:solidFill>
          <a:ln/>
        </p:spPr>
      </p:sp>
      <p:sp>
        <p:nvSpPr>
          <p:cNvPr id="14" name="Text 12"/>
          <p:cNvSpPr/>
          <p:nvPr/>
        </p:nvSpPr>
        <p:spPr>
          <a:xfrm>
            <a:off x="667512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AI</a:t>
            </a:r>
            <a:endParaRPr lang="en-US" sz="2400" dirty="0"/>
          </a:p>
        </p:txBody>
      </p:sp>
      <p:sp>
        <p:nvSpPr>
          <p:cNvPr id="15" name="Text 13"/>
          <p:cNvSpPr/>
          <p:nvPr/>
        </p:nvSpPr>
        <p:spPr>
          <a:xfrm>
            <a:off x="667512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Now</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$4.4T</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in annual value. Only 31% in full production.</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core skill for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talking.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 already have it.</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see what most people get wrong.</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274320" y="182880"/>
            <a:ext cx="1828800" cy="4572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ChatGPT</a:t>
            </a:r>
            <a:endParaRPr lang="en-US" sz="3200" dirty="0"/>
          </a:p>
        </p:txBody>
      </p:sp>
      <p:sp>
        <p:nvSpPr>
          <p:cNvPr id="4" name="Text 2"/>
          <p:cNvSpPr/>
          <p:nvPr/>
        </p:nvSpPr>
        <p:spPr>
          <a:xfrm>
            <a:off x="5029200" y="274320"/>
            <a:ext cx="1828800" cy="45720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a:t>
            </a:r>
            <a:endParaRPr lang="en-US" sz="3600" dirty="0"/>
          </a:p>
        </p:txBody>
      </p:sp>
      <p:sp>
        <p:nvSpPr>
          <p:cNvPr id="5" name="Text 3"/>
          <p:cNvSpPr/>
          <p:nvPr/>
        </p:nvSpPr>
        <p:spPr>
          <a:xfrm>
            <a:off x="2743200" y="8229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GPT</a:t>
            </a:r>
            <a:endParaRPr lang="en-US" sz="2800" dirty="0"/>
          </a:p>
        </p:txBody>
      </p:sp>
      <p:sp>
        <p:nvSpPr>
          <p:cNvPr id="6" name="Text 4"/>
          <p:cNvSpPr/>
          <p:nvPr/>
        </p:nvSpPr>
        <p:spPr>
          <a:xfrm>
            <a:off x="6858000" y="5486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Claude</a:t>
            </a:r>
            <a:endParaRPr lang="en-US" sz="2800" dirty="0"/>
          </a:p>
        </p:txBody>
      </p:sp>
      <p:sp>
        <p:nvSpPr>
          <p:cNvPr id="7" name="Text 5"/>
          <p:cNvSpPr/>
          <p:nvPr/>
        </p:nvSpPr>
        <p:spPr>
          <a:xfrm>
            <a:off x="457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Gemini</a:t>
            </a:r>
            <a:endParaRPr lang="en-US" sz="2800" dirty="0"/>
          </a:p>
        </p:txBody>
      </p:sp>
      <p:sp>
        <p:nvSpPr>
          <p:cNvPr id="8" name="Text 6"/>
          <p:cNvSpPr/>
          <p:nvPr/>
        </p:nvSpPr>
        <p:spPr>
          <a:xfrm>
            <a:off x="7315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MCP</a:t>
            </a:r>
            <a:endParaRPr lang="en-US" sz="2800" dirty="0"/>
          </a:p>
        </p:txBody>
      </p:sp>
      <p:sp>
        <p:nvSpPr>
          <p:cNvPr id="9" name="Text 7"/>
          <p:cNvSpPr/>
          <p:nvPr/>
        </p:nvSpPr>
        <p:spPr>
          <a:xfrm>
            <a:off x="2286000" y="20116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tokens</a:t>
            </a:r>
            <a:endParaRPr lang="en-US" sz="2800" dirty="0"/>
          </a:p>
        </p:txBody>
      </p:sp>
      <p:sp>
        <p:nvSpPr>
          <p:cNvPr id="10" name="Text 8"/>
          <p:cNvSpPr/>
          <p:nvPr/>
        </p:nvSpPr>
        <p:spPr>
          <a:xfrm>
            <a:off x="4114800" y="14630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agents</a:t>
            </a:r>
            <a:endParaRPr lang="en-US" sz="2800" dirty="0"/>
          </a:p>
        </p:txBody>
      </p:sp>
      <p:sp>
        <p:nvSpPr>
          <p:cNvPr id="11" name="Text 9"/>
          <p:cNvSpPr/>
          <p:nvPr/>
        </p:nvSpPr>
        <p:spPr>
          <a:xfrm>
            <a:off x="5943600" y="22860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RAG</a:t>
            </a:r>
            <a:endParaRPr lang="en-US" sz="2800" dirty="0"/>
          </a:p>
        </p:txBody>
      </p:sp>
      <p:sp>
        <p:nvSpPr>
          <p:cNvPr id="12" name="Text 10"/>
          <p:cNvSpPr/>
          <p:nvPr/>
        </p:nvSpPr>
        <p:spPr>
          <a:xfrm>
            <a:off x="1371600" y="27432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fine-tuning</a:t>
            </a:r>
            <a:endParaRPr lang="en-US" sz="2800" dirty="0"/>
          </a:p>
        </p:txBody>
      </p:sp>
      <p:sp>
        <p:nvSpPr>
          <p:cNvPr id="13" name="Text 11"/>
          <p:cNvSpPr/>
          <p:nvPr/>
        </p:nvSpPr>
        <p:spPr>
          <a:xfrm>
            <a:off x="3474720" y="2926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embeddings</a:t>
            </a:r>
            <a:endParaRPr lang="en-US" sz="2800" dirty="0"/>
          </a:p>
        </p:txBody>
      </p:sp>
      <p:sp>
        <p:nvSpPr>
          <p:cNvPr id="14" name="Text 12"/>
          <p:cNvSpPr/>
          <p:nvPr/>
        </p:nvSpPr>
        <p:spPr>
          <a:xfrm>
            <a:off x="6400800" y="2743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prompts</a:t>
            </a:r>
            <a:endParaRPr lang="en-US" sz="2800" dirty="0"/>
          </a:p>
        </p:txBody>
      </p:sp>
      <p:sp>
        <p:nvSpPr>
          <p:cNvPr id="15" name="Text 13"/>
          <p:cNvSpPr/>
          <p:nvPr/>
        </p:nvSpPr>
        <p:spPr>
          <a:xfrm>
            <a:off x="457200" y="34747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copilot</a:t>
            </a:r>
            <a:endParaRPr lang="en-US" sz="2800" dirty="0"/>
          </a:p>
        </p:txBody>
      </p:sp>
      <p:sp>
        <p:nvSpPr>
          <p:cNvPr id="16" name="Text 14"/>
          <p:cNvSpPr/>
          <p:nvPr/>
        </p:nvSpPr>
        <p:spPr>
          <a:xfrm>
            <a:off x="4572000" y="32004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AGI</a:t>
            </a:r>
            <a:endParaRPr lang="en-US" sz="2800" dirty="0"/>
          </a:p>
        </p:txBody>
      </p:sp>
      <p:sp>
        <p:nvSpPr>
          <p:cNvPr id="17" name="Text 15"/>
          <p:cNvSpPr/>
          <p:nvPr/>
        </p:nvSpPr>
        <p:spPr>
          <a:xfrm>
            <a:off x="2560320" y="1371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transformer</a:t>
            </a:r>
            <a:endParaRPr lang="en-US" sz="2800" dirty="0"/>
          </a:p>
        </p:txBody>
      </p:sp>
      <p:sp>
        <p:nvSpPr>
          <p:cNvPr id="18" name="Text 16"/>
          <p:cNvSpPr/>
          <p:nvPr/>
        </p:nvSpPr>
        <p:spPr>
          <a:xfrm>
            <a:off x="5303520" y="10972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neural net</a:t>
            </a:r>
            <a:endParaRPr lang="en-US" sz="2800" dirty="0"/>
          </a:p>
        </p:txBody>
      </p:sp>
      <p:sp>
        <p:nvSpPr>
          <p:cNvPr id="19" name="Text 17"/>
          <p:cNvSpPr/>
          <p:nvPr/>
        </p:nvSpPr>
        <p:spPr>
          <a:xfrm>
            <a:off x="274320" y="640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deep learning</a:t>
            </a:r>
            <a:endParaRPr lang="en-US" sz="2800" dirty="0"/>
          </a:p>
        </p:txBody>
      </p:sp>
      <p:sp>
        <p:nvSpPr>
          <p:cNvPr id="20" name="Text 18"/>
          <p:cNvSpPr/>
          <p:nvPr/>
        </p:nvSpPr>
        <p:spPr>
          <a:xfrm>
            <a:off x="7132320" y="32004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Anthropic</a:t>
            </a:r>
            <a:endParaRPr lang="en-US" sz="2800" dirty="0"/>
          </a:p>
        </p:txBody>
      </p:sp>
      <p:sp>
        <p:nvSpPr>
          <p:cNvPr id="21" name="Text 19"/>
          <p:cNvSpPr/>
          <p:nvPr/>
        </p:nvSpPr>
        <p:spPr>
          <a:xfrm>
            <a:off x="457200" y="10058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OpenAI</a:t>
            </a:r>
            <a:endParaRPr lang="en-US" sz="2800" dirty="0"/>
          </a:p>
        </p:txBody>
      </p:sp>
      <p:sp>
        <p:nvSpPr>
          <p:cNvPr id="22" name="Text 20"/>
          <p:cNvSpPr/>
          <p:nvPr/>
        </p:nvSpPr>
        <p:spPr>
          <a:xfrm>
            <a:off x="32004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inference</a:t>
            </a:r>
            <a:endParaRPr lang="en-US" sz="2800" dirty="0"/>
          </a:p>
        </p:txBody>
      </p:sp>
      <p:sp>
        <p:nvSpPr>
          <p:cNvPr id="23" name="Text 21"/>
          <p:cNvSpPr/>
          <p:nvPr/>
        </p:nvSpPr>
        <p:spPr>
          <a:xfrm>
            <a:off x="7315200" y="274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training</a:t>
            </a:r>
            <a:endParaRPr lang="en-US" sz="2800" dirty="0"/>
          </a:p>
        </p:txBody>
      </p:sp>
      <p:sp>
        <p:nvSpPr>
          <p:cNvPr id="24" name="Text 22"/>
          <p:cNvSpPr/>
          <p:nvPr/>
        </p:nvSpPr>
        <p:spPr>
          <a:xfrm>
            <a:off x="457200" y="38404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parameters</a:t>
            </a:r>
            <a:endParaRPr lang="en-US" sz="2800" dirty="0"/>
          </a:p>
        </p:txBody>
      </p:sp>
      <p:sp>
        <p:nvSpPr>
          <p:cNvPr id="25" name="Text 23"/>
          <p:cNvSpPr/>
          <p:nvPr/>
        </p:nvSpPr>
        <p:spPr>
          <a:xfrm>
            <a:off x="4114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context window</a:t>
            </a:r>
            <a:endParaRPr lang="en-US" sz="2800" dirty="0"/>
          </a:p>
        </p:txBody>
      </p:sp>
      <p:sp>
        <p:nvSpPr>
          <p:cNvPr id="26" name="Text 24"/>
          <p:cNvSpPr/>
          <p:nvPr/>
        </p:nvSpPr>
        <p:spPr>
          <a:xfrm>
            <a:off x="1828800" y="36576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hallucination</a:t>
            </a:r>
            <a:endParaRPr lang="en-US" sz="2800" dirty="0"/>
          </a:p>
        </p:txBody>
      </p:sp>
      <p:sp>
        <p:nvSpPr>
          <p:cNvPr id="27" name="Text 25"/>
          <p:cNvSpPr/>
          <p:nvPr/>
        </p:nvSpPr>
        <p:spPr>
          <a:xfrm>
            <a:off x="6400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grounding</a:t>
            </a:r>
            <a:endParaRPr lang="en-US" sz="2800" dirty="0"/>
          </a:p>
        </p:txBody>
      </p:sp>
      <p:sp>
        <p:nvSpPr>
          <p:cNvPr id="28" name="Text 26"/>
          <p:cNvSpPr/>
          <p:nvPr/>
        </p:nvSpPr>
        <p:spPr>
          <a:xfrm>
            <a:off x="50292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retrieval</a:t>
            </a:r>
            <a:endParaRPr lang="en-US" sz="2800" dirty="0"/>
          </a:p>
        </p:txBody>
      </p:sp>
      <p:sp>
        <p:nvSpPr>
          <p:cNvPr id="29" name="Text 27"/>
          <p:cNvSpPr/>
          <p:nvPr/>
        </p:nvSpPr>
        <p:spPr>
          <a:xfrm>
            <a:off x="713232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vector DB</a:t>
            </a:r>
            <a:endParaRPr lang="en-US" sz="2800" dirty="0"/>
          </a:p>
        </p:txBody>
      </p:sp>
      <p:sp>
        <p:nvSpPr>
          <p:cNvPr id="30" name="Text 28"/>
          <p:cNvSpPr/>
          <p:nvPr/>
        </p:nvSpPr>
        <p:spPr>
          <a:xfrm>
            <a:off x="27432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Llama</a:t>
            </a:r>
            <a:endParaRPr lang="en-US" sz="2800" dirty="0"/>
          </a:p>
        </p:txBody>
      </p:sp>
      <p:sp>
        <p:nvSpPr>
          <p:cNvPr id="31" name="Text 29"/>
          <p:cNvSpPr/>
          <p:nvPr/>
        </p:nvSpPr>
        <p:spPr>
          <a:xfrm>
            <a:off x="54864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open-source</a:t>
            </a:r>
            <a:endParaRPr lang="en-US" sz="2800" dirty="0"/>
          </a:p>
        </p:txBody>
      </p:sp>
      <p:sp>
        <p:nvSpPr>
          <p:cNvPr id="32" name="Text 30"/>
          <p:cNvSpPr/>
          <p:nvPr/>
        </p:nvSpPr>
        <p:spPr>
          <a:xfrm>
            <a:off x="3474720" y="18288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365760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LLM</a:t>
            </a:r>
            <a:endParaRPr lang="en-US" sz="2800" dirty="0"/>
          </a:p>
        </p:txBody>
      </p:sp>
      <p:sp>
        <p:nvSpPr>
          <p:cNvPr id="4" name="Text 2"/>
          <p:cNvSpPr/>
          <p:nvPr/>
        </p:nvSpPr>
        <p:spPr>
          <a:xfrm>
            <a:off x="27432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GPT</a:t>
            </a:r>
            <a:endParaRPr lang="en-US" sz="2800" dirty="0"/>
          </a:p>
        </p:txBody>
      </p:sp>
      <p:sp>
        <p:nvSpPr>
          <p:cNvPr id="5" name="Text 3"/>
          <p:cNvSpPr/>
          <p:nvPr/>
        </p:nvSpPr>
        <p:spPr>
          <a:xfrm>
            <a:off x="7315200" y="27432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Claude</a:t>
            </a:r>
            <a:endParaRPr lang="en-US" sz="2800" dirty="0"/>
          </a:p>
        </p:txBody>
      </p:sp>
      <p:sp>
        <p:nvSpPr>
          <p:cNvPr id="6" name="Text 4"/>
          <p:cNvSpPr/>
          <p:nvPr/>
        </p:nvSpPr>
        <p:spPr>
          <a:xfrm>
            <a:off x="457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Gemini</a:t>
            </a:r>
            <a:endParaRPr lang="en-US" sz="2800" dirty="0"/>
          </a:p>
        </p:txBody>
      </p:sp>
      <p:sp>
        <p:nvSpPr>
          <p:cNvPr id="7" name="Text 5"/>
          <p:cNvSpPr/>
          <p:nvPr/>
        </p:nvSpPr>
        <p:spPr>
          <a:xfrm>
            <a:off x="384048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tokens</a:t>
            </a:r>
            <a:endParaRPr lang="en-US" sz="2800" dirty="0"/>
          </a:p>
        </p:txBody>
      </p:sp>
      <p:sp>
        <p:nvSpPr>
          <p:cNvPr id="8" name="Text 6"/>
          <p:cNvSpPr/>
          <p:nvPr/>
        </p:nvSpPr>
        <p:spPr>
          <a:xfrm>
            <a:off x="457200" y="38404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copilot</a:t>
            </a:r>
            <a:endParaRPr lang="en-US" sz="2800" dirty="0"/>
          </a:p>
        </p:txBody>
      </p:sp>
      <p:sp>
        <p:nvSpPr>
          <p:cNvPr id="9" name="Text 7"/>
          <p:cNvSpPr/>
          <p:nvPr/>
        </p:nvSpPr>
        <p:spPr>
          <a:xfrm>
            <a:off x="4114800" y="38404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AGI</a:t>
            </a:r>
            <a:endParaRPr lang="en-US" sz="2800" dirty="0"/>
          </a:p>
        </p:txBody>
      </p:sp>
      <p:sp>
        <p:nvSpPr>
          <p:cNvPr id="10" name="Text 8"/>
          <p:cNvSpPr/>
          <p:nvPr/>
        </p:nvSpPr>
        <p:spPr>
          <a:xfrm>
            <a:off x="7315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training</a:t>
            </a:r>
            <a:endParaRPr lang="en-US" sz="2800" dirty="0"/>
          </a:p>
        </p:txBody>
      </p:sp>
      <p:sp>
        <p:nvSpPr>
          <p:cNvPr id="11" name="Shape 9"/>
          <p:cNvSpPr/>
          <p:nvPr/>
        </p:nvSpPr>
        <p:spPr>
          <a:xfrm>
            <a:off x="457200" y="731520"/>
            <a:ext cx="2926080" cy="822960"/>
          </a:xfrm>
          <a:prstGeom prst="roundRect">
            <a:avLst>
              <a:gd name="adj" fmla="val 11111"/>
            </a:avLst>
          </a:prstGeom>
          <a:solidFill>
            <a:srgbClr val="00B4D8"/>
          </a:solidFill>
          <a:ln/>
        </p:spPr>
      </p:sp>
      <p:sp>
        <p:nvSpPr>
          <p:cNvPr id="12" name="Text 10"/>
          <p:cNvSpPr/>
          <p:nvPr/>
        </p:nvSpPr>
        <p:spPr>
          <a:xfrm>
            <a:off x="594360" y="73152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What's the difference</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between ChatGPT and GPT?</a:t>
            </a:r>
            <a:endParaRPr lang="en-US" sz="2800" dirty="0"/>
          </a:p>
        </p:txBody>
      </p:sp>
      <p:sp>
        <p:nvSpPr>
          <p:cNvPr id="13" name="Shape 11"/>
          <p:cNvSpPr/>
          <p:nvPr/>
        </p:nvSpPr>
        <p:spPr>
          <a:xfrm>
            <a:off x="5029200" y="1097280"/>
            <a:ext cx="2926080" cy="822960"/>
          </a:xfrm>
          <a:prstGeom prst="roundRect">
            <a:avLst>
              <a:gd name="adj" fmla="val 11111"/>
            </a:avLst>
          </a:prstGeom>
          <a:solidFill>
            <a:srgbClr val="00B4D8"/>
          </a:solidFill>
          <a:ln/>
        </p:spPr>
      </p:sp>
      <p:sp>
        <p:nvSpPr>
          <p:cNvPr id="14" name="Text 12"/>
          <p:cNvSpPr/>
          <p:nvPr/>
        </p:nvSpPr>
        <p:spPr>
          <a:xfrm>
            <a:off x="5166360" y="109728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Is Claude the same</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as ChatGPT?</a:t>
            </a:r>
            <a:endParaRPr lang="en-US" sz="2800" dirty="0"/>
          </a:p>
        </p:txBody>
      </p:sp>
      <p:sp>
        <p:nvSpPr>
          <p:cNvPr id="15" name="Shape 13"/>
          <p:cNvSpPr/>
          <p:nvPr/>
        </p:nvSpPr>
        <p:spPr>
          <a:xfrm>
            <a:off x="1371600" y="2743200"/>
            <a:ext cx="2926080" cy="822960"/>
          </a:xfrm>
          <a:prstGeom prst="roundRect">
            <a:avLst>
              <a:gd name="adj" fmla="val 11111"/>
            </a:avLst>
          </a:prstGeom>
          <a:solidFill>
            <a:srgbClr val="00B4D8"/>
          </a:solidFill>
          <a:ln/>
        </p:spPr>
      </p:sp>
      <p:sp>
        <p:nvSpPr>
          <p:cNvPr id="16" name="Text 14"/>
          <p:cNvSpPr/>
          <p:nvPr/>
        </p:nvSpPr>
        <p:spPr>
          <a:xfrm>
            <a:off x="1508760" y="274320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What even is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an agent?</a:t>
            </a:r>
            <a:endParaRPr lang="en-US" sz="2800" dirty="0"/>
          </a:p>
        </p:txBody>
      </p:sp>
      <p:sp>
        <p:nvSpPr>
          <p:cNvPr id="17" name="Shape 15"/>
          <p:cNvSpPr/>
          <p:nvPr/>
        </p:nvSpPr>
        <p:spPr>
          <a:xfrm>
            <a:off x="5486400" y="2926080"/>
            <a:ext cx="2926080" cy="822960"/>
          </a:xfrm>
          <a:prstGeom prst="roundRect">
            <a:avLst>
              <a:gd name="adj" fmla="val 11111"/>
            </a:avLst>
          </a:prstGeom>
          <a:solidFill>
            <a:srgbClr val="00B4D8"/>
          </a:solidFill>
          <a:ln/>
        </p:spPr>
      </p:sp>
      <p:sp>
        <p:nvSpPr>
          <p:cNvPr id="18" name="Text 16"/>
          <p:cNvSpPr/>
          <p:nvPr/>
        </p:nvSpPr>
        <p:spPr>
          <a:xfrm>
            <a:off x="5623560" y="292608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Do I need to know</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what a token is?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3429000" y="902970"/>
            <a:ext cx="2286000" cy="731520"/>
          </a:xfrm>
          <a:prstGeom prst="roundRect">
            <a:avLst>
              <a:gd name="adj" fmla="val 10000"/>
            </a:avLst>
          </a:prstGeom>
          <a:solidFill>
            <a:srgbClr val="00B4D8"/>
          </a:solidFill>
          <a:ln/>
        </p:spPr>
      </p:sp>
      <p:sp>
        <p:nvSpPr>
          <p:cNvPr id="4" name="Text 2"/>
          <p:cNvSpPr/>
          <p:nvPr/>
        </p:nvSpPr>
        <p:spPr>
          <a:xfrm>
            <a:off x="3429000" y="90297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App</a:t>
            </a:r>
            <a:endParaRPr lang="en-US" sz="2800" dirty="0"/>
          </a:p>
        </p:txBody>
      </p:sp>
      <p:sp>
        <p:nvSpPr>
          <p:cNvPr id="5" name="Shape 3"/>
          <p:cNvSpPr/>
          <p:nvPr/>
        </p:nvSpPr>
        <p:spPr>
          <a:xfrm>
            <a:off x="3429000" y="1771650"/>
            <a:ext cx="2286000" cy="731520"/>
          </a:xfrm>
          <a:prstGeom prst="roundRect">
            <a:avLst>
              <a:gd name="adj" fmla="val 10000"/>
            </a:avLst>
          </a:prstGeom>
          <a:solidFill>
            <a:srgbClr val="0099B8"/>
          </a:solidFill>
          <a:ln/>
        </p:spPr>
      </p:sp>
      <p:sp>
        <p:nvSpPr>
          <p:cNvPr id="6" name="Text 4"/>
          <p:cNvSpPr/>
          <p:nvPr/>
        </p:nvSpPr>
        <p:spPr>
          <a:xfrm>
            <a:off x="3429000" y="177165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Agent</a:t>
            </a:r>
            <a:endParaRPr lang="en-US" sz="2800" dirty="0"/>
          </a:p>
        </p:txBody>
      </p:sp>
      <p:sp>
        <p:nvSpPr>
          <p:cNvPr id="7" name="Shape 5"/>
          <p:cNvSpPr/>
          <p:nvPr/>
        </p:nvSpPr>
        <p:spPr>
          <a:xfrm>
            <a:off x="3429000" y="2640330"/>
            <a:ext cx="2286000" cy="731520"/>
          </a:xfrm>
          <a:prstGeom prst="roundRect">
            <a:avLst>
              <a:gd name="adj" fmla="val 10000"/>
            </a:avLst>
          </a:prstGeom>
          <a:solidFill>
            <a:srgbClr val="007A93"/>
          </a:solidFill>
          <a:ln/>
        </p:spPr>
      </p:sp>
      <p:sp>
        <p:nvSpPr>
          <p:cNvPr id="8" name="Text 6"/>
          <p:cNvSpPr/>
          <p:nvPr/>
        </p:nvSpPr>
        <p:spPr>
          <a:xfrm>
            <a:off x="3429000" y="264033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
        <p:nvSpPr>
          <p:cNvPr id="9" name="Shape 7"/>
          <p:cNvSpPr/>
          <p:nvPr/>
        </p:nvSpPr>
        <p:spPr>
          <a:xfrm>
            <a:off x="3429000" y="3509010"/>
            <a:ext cx="2286000" cy="731520"/>
          </a:xfrm>
          <a:prstGeom prst="roundRect">
            <a:avLst>
              <a:gd name="adj" fmla="val 10000"/>
            </a:avLst>
          </a:prstGeom>
          <a:solidFill>
            <a:srgbClr val="005C6E"/>
          </a:solidFill>
          <a:ln/>
        </p:spPr>
      </p:sp>
      <p:sp>
        <p:nvSpPr>
          <p:cNvPr id="10" name="Text 8"/>
          <p:cNvSpPr/>
          <p:nvPr/>
        </p:nvSpPr>
        <p:spPr>
          <a:xfrm>
            <a:off x="3429000" y="350901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LLM</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 use apps.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Apps use agents.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Agents call APIs.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APIs talk to LLMs.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45720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Who Makes What</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7315200" cy="914400"/>
        </p:xfrm>
        <a:graphic>
          <a:graphicData uri="http://schemas.openxmlformats.org/drawingml/2006/table">
            <a:tbl>
              <a:tblPr/>
              <a:tblGrid>
                <a:gridCol w="2377440"/>
                <a:gridCol w="2377440"/>
                <a:gridCol w="256032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Company</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Anthropic</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Google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Microsoft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(OpenAI's)</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real action is in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agents and apps.</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Microsoft 365 Copilot daily users,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year over year</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got the basics.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give you the skills.</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Prompt Engineering</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How to Stop Getting Useless Answers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1371600" y="914400"/>
            <a:ext cx="6400800" cy="1645920"/>
          </a:xfrm>
          <a:prstGeom prst="roundRect">
            <a:avLst>
              <a:gd name="adj" fmla="val 8333"/>
            </a:avLst>
          </a:prstGeom>
          <a:solidFill>
            <a:srgbClr val="00B4D8">
              <a:alpha val="15000"/>
            </a:srgbClr>
          </a:solidFill>
          <a:ln w="19050">
            <a:solidFill>
              <a:srgbClr val="00B4D8"/>
            </a:solidFill>
            <a:prstDash val="solid"/>
          </a:ln>
        </p:spPr>
      </p:sp>
      <p:sp>
        <p:nvSpPr>
          <p:cNvPr id="4" name="Text 2"/>
          <p:cNvSpPr/>
          <p:nvPr/>
        </p:nvSpPr>
        <p:spPr>
          <a:xfrm>
            <a:off x="1645920" y="1005840"/>
            <a:ext cx="5852160" cy="1463040"/>
          </a:xfrm>
          <a:prstGeom prst="rect">
            <a:avLst/>
          </a:prstGeom>
          <a:noFill/>
          <a:ln/>
        </p:spPr>
        <p:txBody>
          <a:bodyPr wrap="square" lIns="0" tIns="0" rIns="0" bIns="0" rtlCol="0" anchor="ctr"/>
          <a:lstStyle/>
          <a:p>
            <a:pPr algn="ctr" indent="0" marL="0">
              <a:buNone/>
            </a:pPr>
            <a:r>
              <a:rPr lang="en-US" sz="2800" dirty="0">
                <a:solidFill>
                  <a:srgbClr val="FFFFFF"/>
                </a:solidFill>
                <a:latin typeface="Calibri" pitchFamily="34" charset="0"/>
                <a:ea typeface="Calibri" pitchFamily="34" charset="-122"/>
                <a:cs typeface="Calibri" pitchFamily="34" charset="-120"/>
              </a:rPr>
              <a:t>Write me a proposal for improving</a:t>
            </a:r>
            <a:endParaRPr lang="en-US" sz="2800" dirty="0"/>
          </a:p>
          <a:p>
            <a:pPr algn="ctr" indent="0" marL="0">
              <a:buNone/>
            </a:pPr>
            <a:r>
              <a:rPr lang="en-US" sz="2800" dirty="0">
                <a:solidFill>
                  <a:srgbClr val="FFFFFF"/>
                </a:solidFill>
                <a:latin typeface="Calibri" pitchFamily="34" charset="0"/>
                <a:ea typeface="Calibri" pitchFamily="34" charset="-122"/>
                <a:cs typeface="Calibri" pitchFamily="34" charset="-120"/>
              </a:rPr>
              <a:t>our onboarding process.</a:t>
            </a:r>
            <a:endParaRPr lang="en-US" sz="2800" dirty="0"/>
          </a:p>
        </p:txBody>
      </p:sp>
      <p:sp>
        <p:nvSpPr>
          <p:cNvPr id="5" name="Text 3"/>
          <p:cNvSpPr/>
          <p:nvPr/>
        </p:nvSpPr>
        <p:spPr>
          <a:xfrm>
            <a:off x="1371600" y="292608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 Generic, surface-level output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talking to a stranger</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You are a senior HR operations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consultant. 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vague ask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a proposal for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from 4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for the VP of People, under 2 pages.</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kitchen sink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the proposal, draft an email,</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create a budget spreadsheet,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and summarize risks.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Structure the proposal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 Problem statement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2. Proposed solution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3. Expected outcomes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 Timeline</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leading the witness</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Don't you think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would be great?</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Be radically honest about challenges.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Think step by step.</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Challenge my assumptions.</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hoping for the best</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(No format guidance)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Random format, 5-page essay</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when you needed bullets.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One-page executive brief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bullet points. Data-driven language.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Reader has 2 minutes.</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54864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Before</a:t>
            </a:r>
            <a:endParaRPr lang="en-US" sz="2800" dirty="0"/>
          </a:p>
        </p:txBody>
      </p:sp>
      <p:sp>
        <p:nvSpPr>
          <p:cNvPr id="4" name="Text 2"/>
          <p:cNvSpPr/>
          <p:nvPr/>
        </p:nvSpPr>
        <p:spPr>
          <a:xfrm>
            <a:off x="457200" y="1463040"/>
            <a:ext cx="3840480" cy="2286000"/>
          </a:xfrm>
          <a:prstGeom prst="rect">
            <a:avLst/>
          </a:prstGeom>
          <a:noFill/>
          <a:ln/>
        </p:spPr>
        <p:txBody>
          <a:bodyPr wrap="square" lIns="0" tIns="0" rIns="0" bIns="0" rtlCol="0" anchor="t"/>
          <a:lstStyle/>
          <a:p>
            <a:pPr algn="ctr" indent="0" marL="0">
              <a:buNone/>
            </a:pPr>
            <a:r>
              <a:rPr lang="en-US" sz="2800" i="1" dirty="0">
                <a:solidFill>
                  <a:srgbClr val="94A3B8"/>
                </a:solidFill>
                <a:latin typeface="Calibri" pitchFamily="34" charset="0"/>
                <a:ea typeface="Calibri" pitchFamily="34" charset="-122"/>
                <a:cs typeface="Calibri" pitchFamily="34" charset="-120"/>
              </a:rPr>
              <a:t>"Write me a proposal for</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improving our onboarding</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process."</a:t>
            </a:r>
            <a:endParaRPr lang="en-US" sz="2800" dirty="0"/>
          </a:p>
        </p:txBody>
      </p:sp>
      <p:sp>
        <p:nvSpPr>
          <p:cNvPr id="5" name="Shape 3"/>
          <p:cNvSpPr/>
          <p:nvPr/>
        </p:nvSpPr>
        <p:spPr>
          <a:xfrm>
            <a:off x="4572000" y="731520"/>
            <a:ext cx="0" cy="3657600"/>
          </a:xfrm>
          <a:prstGeom prst="line">
            <a:avLst/>
          </a:prstGeom>
          <a:noFill/>
          <a:ln w="25400">
            <a:solidFill>
              <a:srgbClr val="00B4D8"/>
            </a:solidFill>
            <a:prstDash val="solid"/>
          </a:ln>
        </p:spPr>
      </p:sp>
      <p:sp>
        <p:nvSpPr>
          <p:cNvPr id="6" name="Text 4"/>
          <p:cNvSpPr/>
          <p:nvPr/>
        </p:nvSpPr>
        <p:spPr>
          <a:xfrm>
            <a:off x="4846320" y="731520"/>
            <a:ext cx="3840480" cy="548640"/>
          </a:xfrm>
          <a:prstGeom prst="rect">
            <a:avLst/>
          </a:prstGeom>
          <a:noFill/>
          <a:ln/>
        </p:spPr>
        <p:txBody>
          <a:bodyPr wrap="square" lIns="0" tIns="0" rIns="0" bIns="0" rtlCol="0" anchor="ctr"/>
          <a:lstStyle/>
          <a:p>
            <a:pPr algn="ctr" indent="0" marL="0">
              <a:buNone/>
            </a:pPr>
            <a:r>
              <a:rPr lang="en-US" sz="2800" b="1" dirty="0">
                <a:solidFill>
                  <a:srgbClr val="00B4D8"/>
                </a:solidFill>
                <a:latin typeface="Georgia" pitchFamily="34" charset="0"/>
                <a:ea typeface="Georgia" pitchFamily="34" charset="-122"/>
                <a:cs typeface="Georgia" pitchFamily="34" charset="-120"/>
              </a:rPr>
              <a:t>After</a:t>
            </a:r>
            <a:endParaRPr lang="en-US" sz="2800" dirty="0"/>
          </a:p>
        </p:txBody>
      </p:sp>
      <p:sp>
        <p:nvSpPr>
          <p:cNvPr id="7" name="Text 5"/>
          <p:cNvSpPr/>
          <p:nvPr/>
        </p:nvSpPr>
        <p:spPr>
          <a:xfrm>
            <a:off x="4846320" y="1463040"/>
            <a:ext cx="3840480" cy="228600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Senior HR consultant</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4 to 2 weeks, VP of People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Step by step, challenge me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One-page brief, bullets</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But we never changed</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what the AI knew.</a:t>
            </a:r>
            <a:endParaRPr lang="en-US" sz="4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changed the words.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change the information.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prompt.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Different information.</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Dramatically different result.</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645920"/>
            <a:ext cx="3840480" cy="914400"/>
          </a:xfrm>
          <a:prstGeom prst="rect">
            <a:avLst/>
          </a:prstGeom>
          <a:noFill/>
          <a:ln/>
        </p:spPr>
        <p:txBody>
          <a:bodyPr wrap="square" lIns="0" tIns="0" rIns="0" bIns="0" rtlCol="0" anchor="ctr"/>
          <a:lstStyle/>
          <a:p>
            <a:pPr algn="ctr" indent="0" marL="0">
              <a:buNone/>
            </a:pPr>
            <a:r>
              <a:rPr lang="en-US" sz="3200" b="1" dirty="0">
                <a:solidFill>
                  <a:srgbClr val="94A3B8"/>
                </a:solidFill>
                <a:latin typeface="Georgia" pitchFamily="34" charset="0"/>
                <a:ea typeface="Georgia" pitchFamily="34" charset="-122"/>
                <a:cs typeface="Georgia" pitchFamily="34" charset="-120"/>
              </a:rPr>
              <a:t>Plausible but generic</a:t>
            </a:r>
            <a:endParaRPr lang="en-US" sz="3200" dirty="0"/>
          </a:p>
        </p:txBody>
      </p:sp>
      <p:sp>
        <p:nvSpPr>
          <p:cNvPr id="3" name="Text 1"/>
          <p:cNvSpPr/>
          <p:nvPr/>
        </p:nvSpPr>
        <p:spPr>
          <a:xfrm>
            <a:off x="457200" y="2651760"/>
            <a:ext cx="384048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Could be for any company.</a:t>
            </a:r>
            <a:endParaRPr lang="en-US" sz="2800" dirty="0"/>
          </a:p>
        </p:txBody>
      </p:sp>
      <p:sp>
        <p:nvSpPr>
          <p:cNvPr id="4" name="Shape 2"/>
          <p:cNvSpPr/>
          <p:nvPr/>
        </p:nvSpPr>
        <p:spPr>
          <a:xfrm>
            <a:off x="4572000" y="914400"/>
            <a:ext cx="0" cy="3291840"/>
          </a:xfrm>
          <a:prstGeom prst="line">
            <a:avLst/>
          </a:prstGeom>
          <a:noFill/>
          <a:ln w="25400">
            <a:solidFill>
              <a:srgbClr val="00B4D8"/>
            </a:solidFill>
            <a:prstDash val="solid"/>
          </a:ln>
        </p:spPr>
      </p:sp>
      <p:sp>
        <p:nvSpPr>
          <p:cNvPr id="5" name="Text 3"/>
          <p:cNvSpPr/>
          <p:nvPr/>
        </p:nvSpPr>
        <p:spPr>
          <a:xfrm>
            <a:off x="4846320" y="1645920"/>
            <a:ext cx="3840480" cy="914400"/>
          </a:xfrm>
          <a:prstGeom prst="rect">
            <a:avLst/>
          </a:prstGeom>
          <a:noFill/>
          <a:ln/>
        </p:spPr>
        <p:txBody>
          <a:bodyPr wrap="square" lIns="0" tIns="0" rIns="0" bIns="0" rtlCol="0" anchor="ctr"/>
          <a:lstStyle/>
          <a:p>
            <a:pPr algn="ctr" indent="0" marL="0">
              <a:buNone/>
            </a:pPr>
            <a:r>
              <a:rPr lang="en-US" sz="3200" b="1" dirty="0">
                <a:solidFill>
                  <a:srgbClr val="00B4D8"/>
                </a:solidFill>
                <a:latin typeface="Georgia" pitchFamily="34" charset="0"/>
                <a:ea typeface="Georgia" pitchFamily="34" charset="-122"/>
                <a:cs typeface="Georgia" pitchFamily="34" charset="-120"/>
              </a:rPr>
              <a:t>Sounds like someone</a:t>
            </a:r>
            <a:endParaRPr lang="en-US" sz="3200" dirty="0"/>
          </a:p>
          <a:p>
            <a:pPr algn="ctr" indent="0" marL="0">
              <a:buNone/>
            </a:pPr>
            <a:r>
              <a:rPr lang="en-US" sz="3200" b="1" dirty="0">
                <a:solidFill>
                  <a:srgbClr val="00B4D8"/>
                </a:solidFill>
                <a:latin typeface="Georgia" pitchFamily="34" charset="0"/>
                <a:ea typeface="Georgia" pitchFamily="34" charset="-122"/>
                <a:cs typeface="Georgia" pitchFamily="34" charset="-120"/>
              </a:rPr>
              <a:t>who works here</a:t>
            </a:r>
            <a:endParaRPr lang="en-US" sz="3200" dirty="0"/>
          </a:p>
        </p:txBody>
      </p:sp>
      <p:sp>
        <p:nvSpPr>
          <p:cNvPr id="6" name="Text 4"/>
          <p:cNvSpPr/>
          <p:nvPr/>
        </p:nvSpPr>
        <p:spPr>
          <a:xfrm>
            <a:off x="4846320" y="2651760"/>
            <a:ext cx="3840480" cy="73152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Same prompt + your context.</a:t>
            </a:r>
            <a:endParaRPr lang="en-US" sz="2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731520"/>
            <a:ext cx="3200400" cy="3657600"/>
          </a:xfrm>
          <a:prstGeom prst="roundRect">
            <a:avLst>
              <a:gd name="adj" fmla="val 4286"/>
            </a:avLst>
          </a:prstGeom>
          <a:solidFill>
            <a:srgbClr val="00B4D8">
              <a:alpha val="15000"/>
            </a:srgbClr>
          </a:solidFill>
          <a:ln w="19050">
            <a:solidFill>
              <a:srgbClr val="00B4D8"/>
            </a:solidFill>
            <a:prstDash val="solid"/>
          </a:ln>
        </p:spPr>
      </p:sp>
      <p:pic>
        <p:nvPicPr>
          <p:cNvPr id="4" name="Image 0" descr="/Users/michaelengland/Developer/michaelengland/ai-best-practices/icons/fish.png">    </p:cNvPr>
          <p:cNvPicPr>
            <a:picLocks noChangeAspect="1"/>
          </p:cNvPicPr>
          <p:nvPr/>
        </p:nvPicPr>
        <p:blipFill>
          <a:blip r:embed="rId1"/>
          <a:stretch>
            <a:fillRect/>
          </a:stretch>
        </p:blipFill>
        <p:spPr>
          <a:xfrm>
            <a:off x="1783080" y="1828800"/>
            <a:ext cx="1097280" cy="1097280"/>
          </a:xfrm>
          <a:prstGeom prst="rect">
            <a:avLst/>
          </a:prstGeom>
        </p:spPr>
      </p:pic>
      <p:sp>
        <p:nvSpPr>
          <p:cNvPr id="5" name="Text 2"/>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Meet your</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AI colleague.</a:t>
            </a:r>
            <a:endParaRPr lang="en-US" sz="4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Brilliant. Helpful.</a:t>
            </a:r>
            <a:endParaRPr lang="en-US" sz="6000" dirty="0"/>
          </a:p>
          <a:p>
            <a:pPr algn="ctr" indent="0" marL="0">
              <a:buNone/>
            </a:pPr>
            <a:r>
              <a:rPr lang="en-US" sz="6000" b="1" dirty="0">
                <a:solidFill>
                  <a:srgbClr val="FFFFFF"/>
                </a:solidFill>
                <a:latin typeface="Georgia" pitchFamily="34" charset="0"/>
                <a:ea typeface="Georgia" pitchFamily="34" charset="-122"/>
                <a:cs typeface="Georgia" pitchFamily="34" charset="-120"/>
              </a:rPr>
              <a:t>Remembers nothing.</a:t>
            </a:r>
            <a:endParaRPr lang="en-US" sz="6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Contradictory.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Too broad.</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Three ways to confuse your AI.</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Let AI tell you</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what it needs.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"Before you start, ask me clarifying questions."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Not 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too little.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right context at the right time.</a:t>
            </a:r>
            <a:endParaRPr lang="en-US"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 prompt well and feed AI smartly.</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But who's doing all the work? Still you.</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4. You apply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00B4D8"/>
                </a:solidFill>
                <a:latin typeface="Calibri" pitchFamily="34" charset="0"/>
                <a:ea typeface="Calibri" pitchFamily="34" charset="-122"/>
                <a:cs typeface="Calibri" pitchFamily="34" charset="-120"/>
              </a:rPr>
              <a:t>4. You review</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Dory.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Eyes, a phone, and a to-do list.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Web</a:t>
            </a:r>
            <a:endParaRPr lang="en-US" sz="2000" dirty="0"/>
          </a:p>
        </p:txBody>
      </p:sp>
      <p:pic>
        <p:nvPicPr>
          <p:cNvPr id="5" name="Image 1" descr="/Users/michaelengland/Developer/michaelengland/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Email</a:t>
            </a:r>
            <a:endParaRPr lang="en-US" sz="2000" dirty="0"/>
          </a:p>
        </p:txBody>
      </p:sp>
      <p:pic>
        <p:nvPicPr>
          <p:cNvPr id="7" name="Image 2" descr="/Users/michaelengland/Developer/michaelengland/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Docs</a:t>
            </a:r>
            <a:endParaRPr lang="en-US" sz="2000" dirty="0"/>
          </a:p>
        </p:txBody>
      </p:sp>
      <p:pic>
        <p:nvPicPr>
          <p:cNvPr id="9" name="Image 3" descr="/Users/michaelengland/Developer/michaelengland/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Data</a:t>
            </a:r>
            <a:endParaRPr lang="en-US" sz="2000" dirty="0"/>
          </a:p>
        </p:txBody>
      </p:sp>
      <p:pic>
        <p:nvPicPr>
          <p:cNvPr id="11" name="Image 4" descr="/Users/michaelengland/Developer/michaelengland/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Calendar</a:t>
            </a:r>
            <a:endParaRPr lang="en-US" sz="2000" dirty="0"/>
          </a:p>
        </p:txBody>
      </p:sp>
      <p:pic>
        <p:nvPicPr>
          <p:cNvPr id="13" name="Image 5" descr="/Users/michaelengland/Developer/michaelengland/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Custom</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Without</a:t>
            </a:r>
            <a:endParaRPr lang="en-US" sz="3600" dirty="0"/>
          </a:p>
        </p:txBody>
      </p:sp>
      <p:sp>
        <p:nvSpPr>
          <p:cNvPr id="3" name="Text 1"/>
          <p:cNvSpPr/>
          <p:nvPr/>
        </p:nvSpPr>
        <p:spPr>
          <a:xfrm>
            <a:off x="457200" y="155448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You copy-paste</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You forget the budget memo</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VP asks — too late</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2D936C"/>
                </a:solidFill>
                <a:latin typeface="Georgia" pitchFamily="34" charset="0"/>
                <a:ea typeface="Georgia" pitchFamily="34" charset="-122"/>
                <a:cs typeface="Georgia" pitchFamily="34" charset="-120"/>
              </a:rPr>
              <a:t>With</a:t>
            </a:r>
            <a:endParaRPr lang="en-US" sz="3600" dirty="0"/>
          </a:p>
        </p:txBody>
      </p:sp>
      <p:sp>
        <p:nvSpPr>
          <p:cNvPr id="6" name="Text 4"/>
          <p:cNvSpPr/>
          <p:nvPr/>
        </p:nvSpPr>
        <p:spPr>
          <a:xfrm>
            <a:off x="4846320" y="155448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Agent reads directly</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Finds what you forgot</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Flags what you missed</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548640"/>
            <a:ext cx="7315200" cy="1828800"/>
          </a:xfrm>
          <a:prstGeom prst="rect">
            <a:avLst/>
          </a:prstGeom>
          <a:noFill/>
          <a:ln/>
        </p:spPr>
        <p:txBody>
          <a:bodyPr wrap="square" lIns="0" tIns="0" rIns="0" bIns="0" rtlCol="0" anchor="b"/>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
        <p:nvSpPr>
          <p:cNvPr id="4" name="Text 2"/>
          <p:cNvSpPr/>
          <p:nvPr/>
        </p:nvSpPr>
        <p:spPr>
          <a:xfrm>
            <a:off x="1371600" y="2560320"/>
            <a:ext cx="6400800" cy="18288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Never trust numbers you didn't provide.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Verify claims against sources.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Use AI for drafts, not decisions.</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When the answer ‘feels right’</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but you can’t verify it —</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that’s the most dangerous moment.</a:t>
            </a:r>
            <a:endParaRPr lang="en-US" sz="3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You're managing AI well.</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Time to orchestrate it.</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user.png">    </p:cNvPr>
          <p:cNvPicPr>
            <a:picLocks noChangeAspect="1"/>
          </p:cNvPicPr>
          <p:nvPr/>
        </p:nvPicPr>
        <p:blipFill>
          <a:blip r:embed="rId1"/>
          <a:stretch>
            <a:fillRect/>
          </a:stretch>
        </p:blipFill>
        <p:spPr>
          <a:xfrm>
            <a:off x="1371600" y="1371600"/>
            <a:ext cx="1371600" cy="1371600"/>
          </a:xfrm>
          <a:prstGeom prst="rect">
            <a:avLst/>
          </a:prstGeom>
        </p:spPr>
      </p:pic>
      <p:sp>
        <p:nvSpPr>
          <p:cNvPr id="4" name="Text 1"/>
          <p:cNvSpPr/>
          <p:nvPr/>
        </p:nvSpPr>
        <p:spPr>
          <a:xfrm>
            <a:off x="731520" y="2926080"/>
            <a:ext cx="27432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One Chef</a:t>
            </a:r>
            <a:endParaRPr lang="en-US" sz="2800" dirty="0"/>
          </a:p>
        </p:txBody>
      </p:sp>
      <p:sp>
        <p:nvSpPr>
          <p:cNvPr id="5" name="Shape 2"/>
          <p:cNvSpPr/>
          <p:nvPr/>
        </p:nvSpPr>
        <p:spPr>
          <a:xfrm>
            <a:off x="4572000" y="731520"/>
            <a:ext cx="0" cy="3657600"/>
          </a:xfrm>
          <a:prstGeom prst="line">
            <a:avLst/>
          </a:prstGeom>
          <a:noFill/>
          <a:ln w="25400">
            <a:solidFill>
              <a:srgbClr val="00B4D8"/>
            </a:solidFill>
            <a:prstDash val="solid"/>
          </a:ln>
        </p:spPr>
      </p:sp>
      <p:pic>
        <p:nvPicPr>
          <p:cNvPr id="6" name="Image 1" descr="/Users/michaelengland/Developer/michaelengland/ai-best-practices/icons/user.png">    </p:cNvPr>
          <p:cNvPicPr>
            <a:picLocks noChangeAspect="1"/>
          </p:cNvPicPr>
          <p:nvPr/>
        </p:nvPicPr>
        <p:blipFill>
          <a:blip r:embed="rId2"/>
          <a:stretch>
            <a:fillRect/>
          </a:stretch>
        </p:blipFill>
        <p:spPr>
          <a:xfrm>
            <a:off x="5486400" y="1188720"/>
            <a:ext cx="731520" cy="731520"/>
          </a:xfrm>
          <a:prstGeom prst="rect">
            <a:avLst/>
          </a:prstGeom>
        </p:spPr>
      </p:pic>
      <p:sp>
        <p:nvSpPr>
          <p:cNvPr id="7" name="Text 3"/>
          <p:cNvSpPr/>
          <p:nvPr/>
        </p:nvSpPr>
        <p:spPr>
          <a:xfrm>
            <a:off x="530352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Prep</a:t>
            </a:r>
            <a:endParaRPr lang="en-US" sz="2000" dirty="0"/>
          </a:p>
        </p:txBody>
      </p:sp>
      <p:pic>
        <p:nvPicPr>
          <p:cNvPr id="8" name="Image 2" descr="/Users/michaelengland/Developer/michaelengland/ai-best-practices/icons/user.png">    </p:cNvPr>
          <p:cNvPicPr>
            <a:picLocks noChangeAspect="1"/>
          </p:cNvPicPr>
          <p:nvPr/>
        </p:nvPicPr>
        <p:blipFill>
          <a:blip r:embed="rId3"/>
          <a:stretch>
            <a:fillRect/>
          </a:stretch>
        </p:blipFill>
        <p:spPr>
          <a:xfrm>
            <a:off x="7132320" y="1188720"/>
            <a:ext cx="731520" cy="731520"/>
          </a:xfrm>
          <a:prstGeom prst="rect">
            <a:avLst/>
          </a:prstGeom>
        </p:spPr>
      </p:pic>
      <p:sp>
        <p:nvSpPr>
          <p:cNvPr id="9" name="Text 4"/>
          <p:cNvSpPr/>
          <p:nvPr/>
        </p:nvSpPr>
        <p:spPr>
          <a:xfrm>
            <a:off x="694944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Grill</a:t>
            </a:r>
            <a:endParaRPr lang="en-US" sz="2000" dirty="0"/>
          </a:p>
        </p:txBody>
      </p:sp>
      <p:pic>
        <p:nvPicPr>
          <p:cNvPr id="10" name="Image 3" descr="/Users/michaelengland/Developer/michaelengland/ai-best-practices/icons/user.png">    </p:cNvPr>
          <p:cNvPicPr>
            <a:picLocks noChangeAspect="1"/>
          </p:cNvPicPr>
          <p:nvPr/>
        </p:nvPicPr>
        <p:blipFill>
          <a:blip r:embed="rId4"/>
          <a:stretch>
            <a:fillRect/>
          </a:stretch>
        </p:blipFill>
        <p:spPr>
          <a:xfrm>
            <a:off x="5486400" y="2834640"/>
            <a:ext cx="731520" cy="731520"/>
          </a:xfrm>
          <a:prstGeom prst="rect">
            <a:avLst/>
          </a:prstGeom>
        </p:spPr>
      </p:pic>
      <p:sp>
        <p:nvSpPr>
          <p:cNvPr id="11" name="Text 5"/>
          <p:cNvSpPr/>
          <p:nvPr/>
        </p:nvSpPr>
        <p:spPr>
          <a:xfrm>
            <a:off x="530352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Sauce</a:t>
            </a:r>
            <a:endParaRPr lang="en-US" sz="2000" dirty="0"/>
          </a:p>
        </p:txBody>
      </p:sp>
      <p:pic>
        <p:nvPicPr>
          <p:cNvPr id="12" name="Image 4" descr="/Users/michaelengland/Developer/michaelengland/ai-best-practices/icons/user.png">    </p:cNvPr>
          <p:cNvPicPr>
            <a:picLocks noChangeAspect="1"/>
          </p:cNvPicPr>
          <p:nvPr/>
        </p:nvPicPr>
        <p:blipFill>
          <a:blip r:embed="rId5"/>
          <a:stretch>
            <a:fillRect/>
          </a:stretch>
        </p:blipFill>
        <p:spPr>
          <a:xfrm>
            <a:off x="7132320" y="2834640"/>
            <a:ext cx="731520" cy="731520"/>
          </a:xfrm>
          <a:prstGeom prst="rect">
            <a:avLst/>
          </a:prstGeom>
        </p:spPr>
      </p:pic>
      <p:sp>
        <p:nvSpPr>
          <p:cNvPr id="13" name="Text 6"/>
          <p:cNvSpPr/>
          <p:nvPr/>
        </p:nvSpPr>
        <p:spPr>
          <a:xfrm>
            <a:off x="694944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Plate</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trick isn’t making</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AI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It’s making many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work together.</a:t>
            </a:r>
            <a:endParaRPr lang="en-US" sz="4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645920" cy="822960"/>
          </a:xfrm>
          <a:prstGeom prst="roundRect">
            <a:avLst>
              <a:gd name="adj" fmla="val 11111"/>
            </a:avLst>
          </a:prstGeom>
          <a:solidFill>
            <a:srgbClr val="00B4D8"/>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Research</a:t>
            </a:r>
            <a:endParaRPr lang="en-US" sz="2800" dirty="0"/>
          </a:p>
        </p:txBody>
      </p:sp>
      <p:sp>
        <p:nvSpPr>
          <p:cNvPr id="5" name="Text 3"/>
          <p:cNvSpPr/>
          <p:nvPr/>
        </p:nvSpPr>
        <p:spPr>
          <a:xfrm>
            <a:off x="210312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0B4D8"/>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8" name="Text 6"/>
          <p:cNvSpPr/>
          <p:nvPr/>
        </p:nvSpPr>
        <p:spPr>
          <a:xfrm>
            <a:off x="429768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0B4D8"/>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Review</a:t>
            </a:r>
            <a:endParaRPr lang="en-US" sz="2800" dirty="0"/>
          </a:p>
        </p:txBody>
      </p:sp>
      <p:sp>
        <p:nvSpPr>
          <p:cNvPr id="11" name="Text 9"/>
          <p:cNvSpPr/>
          <p:nvPr/>
        </p:nvSpPr>
        <p:spPr>
          <a:xfrm>
            <a:off x="649224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2D936C"/>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a:t>
            </a:r>
            <a:endParaRPr lang="en-US" sz="2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Each agent does one thing.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does everything.</a:t>
            </a:r>
            <a:endParaRPr lang="en-US" sz="4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Skills</a:t>
            </a:r>
            <a:endParaRPr lang="en-US" sz="72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playbook each chef follows.</a:t>
            </a:r>
            <a:endParaRPr lang="en-US" sz="2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Research Agent</a:t>
            </a:r>
            <a:endParaRPr lang="en-US" sz="2800" dirty="0"/>
          </a:p>
        </p:txBody>
      </p:sp>
      <p:sp>
        <p:nvSpPr>
          <p:cNvPr id="4" name="Text 2"/>
          <p:cNvSpPr/>
          <p:nvPr/>
        </p:nvSpPr>
        <p:spPr>
          <a:xfrm>
            <a:off x="45720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Research Standards</a:t>
            </a:r>
            <a:endParaRPr lang="en-US" sz="2400" dirty="0"/>
          </a:p>
        </p:txBody>
      </p:sp>
      <p:sp>
        <p:nvSpPr>
          <p:cNvPr id="5" name="Text 3"/>
          <p:cNvSpPr/>
          <p:nvPr/>
        </p:nvSpPr>
        <p:spPr>
          <a:xfrm>
            <a:off x="329184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Draft Agent</a:t>
            </a:r>
            <a:endParaRPr lang="en-US" sz="2800" dirty="0"/>
          </a:p>
        </p:txBody>
      </p:sp>
      <p:sp>
        <p:nvSpPr>
          <p:cNvPr id="6" name="Text 4"/>
          <p:cNvSpPr/>
          <p:nvPr/>
        </p:nvSpPr>
        <p:spPr>
          <a:xfrm>
            <a:off x="329184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Leadership Proposals</a:t>
            </a:r>
            <a:endParaRPr lang="en-US" sz="2400" dirty="0"/>
          </a:p>
        </p:txBody>
      </p:sp>
      <p:sp>
        <p:nvSpPr>
          <p:cNvPr id="7" name="Text 5"/>
          <p:cNvSpPr/>
          <p:nvPr/>
        </p:nvSpPr>
        <p:spPr>
          <a:xfrm>
            <a:off x="612648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Review Agent</a:t>
            </a:r>
            <a:endParaRPr lang="en-US" sz="2800" dirty="0"/>
          </a:p>
        </p:txBody>
      </p:sp>
      <p:sp>
        <p:nvSpPr>
          <p:cNvPr id="8" name="Text 6"/>
          <p:cNvSpPr/>
          <p:nvPr/>
        </p:nvSpPr>
        <p:spPr>
          <a:xfrm>
            <a:off x="612648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Compliance Policy</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Reusable.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Consistent.</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Scalable.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Focused.</a:t>
            </a:r>
            <a:endParaRPr lang="en-US" sz="4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"Custom instructions"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"System prompts"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"Rules"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"Skills"</a:t>
            </a:r>
            <a:endParaRPr lang="en-US" sz="3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1097280"/>
          </a:xfrm>
          <a:prstGeom prst="rect">
            <a:avLst/>
          </a:prstGeom>
          <a:noFill/>
          <a:ln/>
        </p:spPr>
        <p:txBody>
          <a:bodyPr wrap="square" lIns="0" tIns="0" rIns="0" bIns="0" rtlCol="0" anchor="ctr"/>
          <a:lstStyle/>
          <a:p>
            <a:pPr algn="ctr" indent="0" marL="0">
              <a:buNone/>
            </a:pPr>
            <a:r>
              <a:rPr lang="en-US" sz="3200" b="1" dirty="0">
                <a:solidFill>
                  <a:srgbClr val="E63946"/>
                </a:solidFill>
                <a:latin typeface="Georgia" pitchFamily="34" charset="0"/>
                <a:ea typeface="Georgia" pitchFamily="34" charset="-122"/>
                <a:cs typeface="Georgia" pitchFamily="34" charset="-120"/>
              </a:rPr>
              <a:t>Directions</a:t>
            </a:r>
            <a:endParaRPr lang="en-US" sz="3200" dirty="0"/>
          </a:p>
          <a:p>
            <a:pPr algn="ctr" indent="0" marL="0">
              <a:buNone/>
            </a:pPr>
            <a:r>
              <a:rPr lang="en-US" sz="3200" b="1" dirty="0">
                <a:solidFill>
                  <a:srgbClr val="E63946"/>
                </a:solidFill>
                <a:latin typeface="Georgia" pitchFamily="34" charset="0"/>
                <a:ea typeface="Georgia" pitchFamily="34" charset="-122"/>
                <a:cs typeface="Georgia" pitchFamily="34" charset="-120"/>
              </a:rPr>
              <a:t>every trip</a:t>
            </a:r>
            <a:endParaRPr lang="en-US" sz="3200" dirty="0"/>
          </a:p>
        </p:txBody>
      </p:sp>
      <p:sp>
        <p:nvSpPr>
          <p:cNvPr id="3" name="Text 1"/>
          <p:cNvSpPr/>
          <p:nvPr/>
        </p:nvSpPr>
        <p:spPr>
          <a:xfrm>
            <a:off x="457200" y="2560320"/>
            <a:ext cx="3840480" cy="73152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Effort. Every. Time.</a:t>
            </a:r>
            <a:endParaRPr lang="en-US" sz="2200" dirty="0"/>
          </a:p>
        </p:txBody>
      </p:sp>
      <p:sp>
        <p:nvSpPr>
          <p:cNvPr id="4" name="Shape 2"/>
          <p:cNvSpPr/>
          <p:nvPr/>
        </p:nvSpPr>
        <p:spPr>
          <a:xfrm>
            <a:off x="4572000" y="914400"/>
            <a:ext cx="0" cy="3291840"/>
          </a:xfrm>
          <a:prstGeom prst="line">
            <a:avLst/>
          </a:prstGeom>
          <a:noFill/>
          <a:ln w="12700">
            <a:solidFill>
              <a:srgbClr val="94A3B8"/>
            </a:solidFill>
            <a:prstDash val="solid"/>
          </a:ln>
        </p:spPr>
      </p:sp>
      <p:sp>
        <p:nvSpPr>
          <p:cNvPr id="5" name="Text 3"/>
          <p:cNvSpPr/>
          <p:nvPr/>
        </p:nvSpPr>
        <p:spPr>
          <a:xfrm>
            <a:off x="4846320" y="1371600"/>
            <a:ext cx="3840480" cy="1097280"/>
          </a:xfrm>
          <a:prstGeom prst="rect">
            <a:avLst/>
          </a:prstGeom>
          <a:noFill/>
          <a:ln/>
        </p:spPr>
        <p:txBody>
          <a:bodyPr wrap="square" lIns="0" tIns="0" rIns="0" bIns="0" rtlCol="0" anchor="ctr"/>
          <a:lstStyle/>
          <a:p>
            <a:pPr algn="ctr" indent="0" marL="0">
              <a:buNone/>
            </a:pPr>
            <a:r>
              <a:rPr lang="en-US" sz="3200" b="1" dirty="0">
                <a:solidFill>
                  <a:srgbClr val="2D936C"/>
                </a:solidFill>
                <a:latin typeface="Georgia" pitchFamily="34" charset="0"/>
                <a:ea typeface="Georgia" pitchFamily="34" charset="-122"/>
                <a:cs typeface="Georgia" pitchFamily="34" charset="-120"/>
              </a:rPr>
              <a:t>GPS that learns</a:t>
            </a:r>
            <a:endParaRPr lang="en-US" sz="3200" dirty="0"/>
          </a:p>
        </p:txBody>
      </p:sp>
      <p:sp>
        <p:nvSpPr>
          <p:cNvPr id="6" name="Text 4"/>
          <p:cNvSpPr/>
          <p:nvPr/>
        </p:nvSpPr>
        <p:spPr>
          <a:xfrm>
            <a:off x="4846320" y="2560320"/>
            <a:ext cx="3840480" cy="731520"/>
          </a:xfrm>
          <a:prstGeom prst="rect">
            <a:avLst/>
          </a:prstGeom>
          <a:noFill/>
          <a:ln/>
        </p:spPr>
        <p:txBody>
          <a:bodyPr wrap="square" lIns="0" tIns="0" rIns="0" bIns="0" rtlCol="0" anchor="t"/>
          <a:lstStyle/>
          <a:p>
            <a:pPr algn="ctr" indent="0" marL="0">
              <a:buNone/>
            </a:pPr>
            <a:r>
              <a:rPr lang="en-US" sz="2200" dirty="0">
                <a:solidFill>
                  <a:srgbClr val="00B4D8"/>
                </a:solidFill>
                <a:latin typeface="Calibri" pitchFamily="34" charset="0"/>
                <a:ea typeface="Calibri" pitchFamily="34" charset="-122"/>
                <a:cs typeface="Calibri" pitchFamily="34" charset="-120"/>
              </a:rPr>
              <a:t>Compounds permanently.</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Skills compound.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The brigade gets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every time.</a:t>
            </a:r>
            <a:endParaRPr lang="en-US" sz="4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 being the bottleneck</a:t>
            </a:r>
            <a:endParaRPr lang="en-US" sz="2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2D936C"/>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judgment — the part only humans can do</a:t>
            </a:r>
            <a:endParaRPr lang="en-US" sz="2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proposal.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gets smarter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every time.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Your feedback becomes skills. Dory won't remember, but the skills will.</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377440"/>
            <a:ext cx="8229600" cy="54864"/>
          </a:xfrm>
          <a:prstGeom prst="rect">
            <a:avLst/>
          </a:prstGeom>
          <a:solidFill>
            <a:srgbClr val="00B4D8"/>
          </a:solidFill>
          <a:ln/>
        </p:spPr>
      </p:sp>
      <p:sp>
        <p:nvSpPr>
          <p:cNvPr id="4" name="Text 2"/>
          <p:cNvSpPr/>
          <p:nvPr/>
        </p:nvSpPr>
        <p:spPr>
          <a:xfrm>
            <a:off x="457200" y="1280160"/>
            <a:ext cx="1920240" cy="914400"/>
          </a:xfrm>
          <a:prstGeom prst="rect">
            <a:avLst/>
          </a:prstGeom>
          <a:noFill/>
          <a:ln/>
        </p:spPr>
        <p:txBody>
          <a:bodyPr wrap="square" lIns="0" tIns="0" rIns="0" bIns="0" rtlCol="0" anchor="b"/>
          <a:lstStyle/>
          <a:p>
            <a:pPr algn="ctr" indent="0" marL="0">
              <a:buNone/>
            </a:pPr>
            <a:r>
              <a:rPr lang="en-US" sz="2200" b="1" dirty="0">
                <a:solidFill>
                  <a:srgbClr val="9CA3AF"/>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457200" y="2560320"/>
            <a:ext cx="1920240" cy="731520"/>
          </a:xfrm>
          <a:prstGeom prst="rect">
            <a:avLst/>
          </a:prstGeom>
          <a:noFill/>
          <a:ln/>
        </p:spPr>
        <p:txBody>
          <a:bodyPr wrap="square" lIns="0" tIns="0" rIns="0" bIns="0" rtlCol="0" anchor="t"/>
          <a:lstStyle/>
          <a:p>
            <a:pPr algn="ctr" indent="0" marL="0">
              <a:buNone/>
            </a:pPr>
            <a:r>
              <a:rPr lang="en-US" sz="2000" i="1" dirty="0">
                <a:solidFill>
                  <a:srgbClr val="9CA3AF"/>
                </a:solidFill>
                <a:latin typeface="Calibri" pitchFamily="34" charset="0"/>
                <a:ea typeface="Calibri" pitchFamily="34" charset="-122"/>
                <a:cs typeface="Calibri" pitchFamily="34" charset="-120"/>
              </a:rPr>
              <a:t>Levels 0–1</a:t>
            </a:r>
            <a:endParaRPr lang="en-US" sz="2000" dirty="0"/>
          </a:p>
        </p:txBody>
      </p:sp>
      <p:sp>
        <p:nvSpPr>
          <p:cNvPr id="6" name="Text 4"/>
          <p:cNvSpPr/>
          <p:nvPr/>
        </p:nvSpPr>
        <p:spPr>
          <a:xfrm>
            <a:off x="2377440" y="173736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7" name="Text 5"/>
          <p:cNvSpPr/>
          <p:nvPr/>
        </p:nvSpPr>
        <p:spPr>
          <a:xfrm>
            <a:off x="2560320" y="1280160"/>
            <a:ext cx="1920240" cy="914400"/>
          </a:xfrm>
          <a:prstGeom prst="rect">
            <a:avLst/>
          </a:prstGeom>
          <a:noFill/>
          <a:ln/>
        </p:spPr>
        <p:txBody>
          <a:bodyPr wrap="square" lIns="0" tIns="0" rIns="0" bIns="0" rtlCol="0" anchor="b"/>
          <a:lstStyle/>
          <a:p>
            <a:pPr algn="ctr" indent="0" marL="0">
              <a:buNone/>
            </a:pPr>
            <a:r>
              <a:rPr lang="en-US" sz="2200" b="1" dirty="0">
                <a:solidFill>
                  <a:srgbClr val="6B7280"/>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2560320" y="2560320"/>
            <a:ext cx="1920240" cy="731520"/>
          </a:xfrm>
          <a:prstGeom prst="rect">
            <a:avLst/>
          </a:prstGeom>
          <a:noFill/>
          <a:ln/>
        </p:spPr>
        <p:txBody>
          <a:bodyPr wrap="square" lIns="0" tIns="0" rIns="0" bIns="0" rtlCol="0" anchor="t"/>
          <a:lstStyle/>
          <a:p>
            <a:pPr algn="ctr" indent="0" marL="0">
              <a:buNone/>
            </a:pPr>
            <a:r>
              <a:rPr lang="en-US" sz="2000" i="1" dirty="0">
                <a:solidFill>
                  <a:srgbClr val="6B7280"/>
                </a:solidFill>
                <a:latin typeface="Calibri" pitchFamily="34" charset="0"/>
                <a:ea typeface="Calibri" pitchFamily="34" charset="-122"/>
                <a:cs typeface="Calibri" pitchFamily="34" charset="-120"/>
              </a:rPr>
              <a:t>Levels 2–3</a:t>
            </a:r>
            <a:endParaRPr lang="en-US" sz="2000" dirty="0"/>
          </a:p>
        </p:txBody>
      </p:sp>
      <p:sp>
        <p:nvSpPr>
          <p:cNvPr id="9" name="Text 7"/>
          <p:cNvSpPr/>
          <p:nvPr/>
        </p:nvSpPr>
        <p:spPr>
          <a:xfrm>
            <a:off x="4480560" y="173736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0" name="Text 8"/>
          <p:cNvSpPr/>
          <p:nvPr/>
        </p:nvSpPr>
        <p:spPr>
          <a:xfrm>
            <a:off x="4663440" y="1280160"/>
            <a:ext cx="1920240" cy="914400"/>
          </a:xfrm>
          <a:prstGeom prst="rect">
            <a:avLst/>
          </a:prstGeom>
          <a:noFill/>
          <a:ln/>
        </p:spPr>
        <p:txBody>
          <a:bodyPr wrap="square" lIns="0" tIns="0" rIns="0" bIns="0" rtlCol="0" anchor="b"/>
          <a:lstStyle/>
          <a:p>
            <a:pPr algn="ctr" indent="0" marL="0">
              <a:buNone/>
            </a:pPr>
            <a:r>
              <a:rPr lang="en-US" sz="2200" b="1" dirty="0">
                <a:solidFill>
                  <a:srgbClr val="00B4D8"/>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4663440" y="2560320"/>
            <a:ext cx="192024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4</a:t>
            </a:r>
            <a:endParaRPr lang="en-US" sz="2000" dirty="0"/>
          </a:p>
        </p:txBody>
      </p:sp>
      <p:sp>
        <p:nvSpPr>
          <p:cNvPr id="12" name="Text 10"/>
          <p:cNvSpPr/>
          <p:nvPr/>
        </p:nvSpPr>
        <p:spPr>
          <a:xfrm>
            <a:off x="6583680" y="173736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766560" y="1280160"/>
            <a:ext cx="1920240" cy="914400"/>
          </a:xfrm>
          <a:prstGeom prst="rect">
            <a:avLst/>
          </a:prstGeom>
          <a:noFill/>
          <a:ln/>
        </p:spPr>
        <p:txBody>
          <a:bodyPr wrap="square" lIns="0" tIns="0" rIns="0" bIns="0" rtlCol="0" anchor="b"/>
          <a:lstStyle/>
          <a:p>
            <a:pPr algn="ctr" indent="0" marL="0">
              <a:buNone/>
            </a:pPr>
            <a:r>
              <a:rPr lang="en-US" sz="2200" b="1" dirty="0">
                <a:solidFill>
                  <a:srgbClr val="00B4D8"/>
                </a:solidFill>
                <a:latin typeface="Georgia" pitchFamily="34" charset="0"/>
                <a:ea typeface="Georgia" pitchFamily="34" charset="-122"/>
                <a:cs typeface="Georgia" pitchFamily="34" charset="-120"/>
              </a:rPr>
              <a:t>AI-First</a:t>
            </a:r>
            <a:endParaRPr lang="en-US" sz="2200" dirty="0"/>
          </a:p>
        </p:txBody>
      </p:sp>
      <p:sp>
        <p:nvSpPr>
          <p:cNvPr id="14" name="Text 12"/>
          <p:cNvSpPr/>
          <p:nvPr/>
        </p:nvSpPr>
        <p:spPr>
          <a:xfrm>
            <a:off x="6766560" y="2560320"/>
            <a:ext cx="192024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5</a:t>
            </a:r>
            <a:endParaRPr lang="en-US" sz="2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36576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 AI Toolkit</a:t>
            </a:r>
            <a:endParaRPr lang="en-US" sz="44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3474720"/>
                <a:gridCol w="274320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Category</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Notes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General</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 Claude, Gemini</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Start here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Workflow</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Gemini Workspace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In your 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Dev</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Cursor, Claude Code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AI-first coding</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Connections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MCP, Zapier AI, custom</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Level 4–5</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377440"/>
            <a:ext cx="8229600" cy="54864"/>
          </a:xfrm>
          <a:prstGeom prst="rect">
            <a:avLst/>
          </a:prstGeom>
          <a:solidFill>
            <a:srgbClr val="00B4D8"/>
          </a:solidFill>
          <a:ln/>
        </p:spPr>
      </p:sp>
      <p:sp>
        <p:nvSpPr>
          <p:cNvPr id="4" name="Shape 2"/>
          <p:cNvSpPr/>
          <p:nvPr/>
        </p:nvSpPr>
        <p:spPr>
          <a:xfrm>
            <a:off x="1280160" y="2130552"/>
            <a:ext cx="548640" cy="548640"/>
          </a:xfrm>
          <a:prstGeom prst="ellipse">
            <a:avLst/>
          </a:prstGeom>
          <a:solidFill>
            <a:srgbClr val="00B4D8"/>
          </a:solidFill>
          <a:ln/>
        </p:spPr>
      </p:sp>
      <p:sp>
        <p:nvSpPr>
          <p:cNvPr id="5" name="Text 3"/>
          <p:cNvSpPr/>
          <p:nvPr/>
        </p:nvSpPr>
        <p:spPr>
          <a:xfrm>
            <a:off x="64008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1</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Questioner</a:t>
            </a:r>
            <a:endParaRPr lang="en-US" sz="2400" dirty="0"/>
          </a:p>
        </p:txBody>
      </p:sp>
      <p:sp>
        <p:nvSpPr>
          <p:cNvPr id="6" name="Shape 4"/>
          <p:cNvSpPr/>
          <p:nvPr/>
        </p:nvSpPr>
        <p:spPr>
          <a:xfrm>
            <a:off x="3291840" y="2130552"/>
            <a:ext cx="548640" cy="548640"/>
          </a:xfrm>
          <a:prstGeom prst="ellipse">
            <a:avLst/>
          </a:prstGeom>
          <a:solidFill>
            <a:srgbClr val="00B4D8"/>
          </a:solidFill>
          <a:ln/>
        </p:spPr>
      </p:sp>
      <p:sp>
        <p:nvSpPr>
          <p:cNvPr id="7" name="Text 5"/>
          <p:cNvSpPr/>
          <p:nvPr/>
        </p:nvSpPr>
        <p:spPr>
          <a:xfrm>
            <a:off x="265176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2</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Viber</a:t>
            </a:r>
            <a:endParaRPr lang="en-US" sz="2400" dirty="0"/>
          </a:p>
        </p:txBody>
      </p:sp>
      <p:sp>
        <p:nvSpPr>
          <p:cNvPr id="8" name="Shape 6"/>
          <p:cNvSpPr/>
          <p:nvPr/>
        </p:nvSpPr>
        <p:spPr>
          <a:xfrm>
            <a:off x="5303520" y="2130552"/>
            <a:ext cx="548640" cy="548640"/>
          </a:xfrm>
          <a:prstGeom prst="ellipse">
            <a:avLst/>
          </a:prstGeom>
          <a:solidFill>
            <a:srgbClr val="00B4D8"/>
          </a:solidFill>
          <a:ln/>
        </p:spPr>
      </p:sp>
      <p:sp>
        <p:nvSpPr>
          <p:cNvPr id="9" name="Text 7"/>
          <p:cNvSpPr/>
          <p:nvPr/>
        </p:nvSpPr>
        <p:spPr>
          <a:xfrm>
            <a:off x="466344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3</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AI-First</a:t>
            </a:r>
            <a:endParaRPr lang="en-US" sz="2400" dirty="0"/>
          </a:p>
        </p:txBody>
      </p:sp>
      <p:sp>
        <p:nvSpPr>
          <p:cNvPr id="10" name="Shape 8"/>
          <p:cNvSpPr/>
          <p:nvPr/>
        </p:nvSpPr>
        <p:spPr>
          <a:xfrm>
            <a:off x="7315200" y="2130552"/>
            <a:ext cx="548640" cy="548640"/>
          </a:xfrm>
          <a:prstGeom prst="ellipse">
            <a:avLst/>
          </a:prstGeom>
          <a:solidFill>
            <a:srgbClr val="2D936C"/>
          </a:solidFill>
          <a:ln/>
        </p:spPr>
      </p:sp>
      <p:sp>
        <p:nvSpPr>
          <p:cNvPr id="11" name="Text 9"/>
          <p:cNvSpPr/>
          <p:nvPr/>
        </p:nvSpPr>
        <p:spPr>
          <a:xfrm>
            <a:off x="6675120" y="2926080"/>
            <a:ext cx="1828800" cy="1097280"/>
          </a:xfrm>
          <a:prstGeom prst="rect">
            <a:avLst/>
          </a:prstGeom>
          <a:noFill/>
          <a:ln/>
        </p:spPr>
        <p:txBody>
          <a:bodyPr wrap="square" lIns="0" tIns="0" rIns="0" bIns="0" rtlCol="0" anchor="t"/>
          <a:lstStyle/>
          <a:p>
            <a:pPr algn="ctr" indent="0" marL="0">
              <a:buNone/>
            </a:pPr>
            <a:r>
              <a:rPr lang="en-US" sz="2400" dirty="0">
                <a:solidFill>
                  <a:srgbClr val="2D936C"/>
                </a:solidFill>
                <a:latin typeface="Calibri" pitchFamily="34" charset="0"/>
                <a:ea typeface="Calibri" pitchFamily="34" charset="-122"/>
                <a:cs typeface="Calibri" pitchFamily="34" charset="-120"/>
              </a:rPr>
              <a:t>Week 4</a:t>
            </a:r>
            <a:endParaRPr lang="en-US" sz="2400" dirty="0"/>
          </a:p>
          <a:p>
            <a:pPr algn="ctr" indent="0" marL="0">
              <a:buNone/>
            </a:pPr>
            <a:r>
              <a:rPr lang="en-US" sz="2400" dirty="0">
                <a:solidFill>
                  <a:srgbClr val="2D936C"/>
                </a:solidFill>
                <a:latin typeface="Calibri" pitchFamily="34" charset="0"/>
                <a:ea typeface="Calibri" pitchFamily="34" charset="-122"/>
                <a:cs typeface="Calibri" pitchFamily="34" charset="-120"/>
              </a:rPr>
              <a:t>Orchestrator</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come back to where we started.</a:t>
            </a:r>
            <a:endParaRPr lang="en-US" sz="2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Remember the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45-minute conversation?</a:t>
            </a:r>
            <a:endParaRPr lang="en-US" sz="4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Two minutes.</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That’s the trick.</a:t>
            </a:r>
            <a:endParaRPr lang="en-US" sz="7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secret was never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in the AI.</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 go try it — one task, this week.</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Agents to Give Up Their Secrets</dc:title>
  <dc:subject>PptxGenJS Presentation</dc:subject>
  <dc:creator>AI Best Practices</dc:creator>
  <cp:lastModifiedBy>AI Best Practices</cp:lastModifiedBy>
  <cp:revision>1</cp:revision>
  <dcterms:created xsi:type="dcterms:W3CDTF">2026-02-20T12:03:58Z</dcterms:created>
  <dcterms:modified xsi:type="dcterms:W3CDTF">2026-02-20T12:03:58Z</dcterms:modified>
</cp:coreProperties>
</file>