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2 of 2 in the AI Academy series. 1 hour, hands-on. Everyone needs Claude open on their laptop. Pre-req: facilitator must have created and provisioned three org Skills (Research, Draft, Review)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callback to Workshop 1. They crossed Explorer → Strategist last time. Today: Strategist → Orchestrator. "You talk to AI like a pro. You've set up its playbook. But look at every step of your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pattern visible: every step has "you" as the bottleneck. They've been doing this since Workshop 1 — prompting well, using rules and Skills, but still manually searching, copying, pasting, and applying. The four steps should feel painfully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land. This should sting — they recognise themselves. Don't explain it. Pause. Then move on. "What if you only appeared at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the copy-paste trap slide exactly — same layout, same four steps — but now the first three say "Claude" instead of "You." The visual parallel makes the shift concrete. "Same colleague from Workshop 1. Now she has hands — eyes, a search engine, and a filing cabinet."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colleague from Workshop 1. Now she has hands." The six connection types: Web — search and fact-check in real time. Email — read context, draft responses. Docs — policies, templates, past work. Data — query real databases. Calendar — scheduling context. Custom — via MCP, any tool you can imagine. "Let's connect one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Screen-share this walkthrough. Pre-req: an Owner or Primary Owner must enable Google Workspace connectors at Organization Settings → Capabilities before the session. Walk the room — make sure everyone authenticates successfully. If someone can't connect, they'll use web search only for Exercise 1. This should take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sequential prompts in the same conversation — not one multi-step prompt (reinforces Workshop 1's "One Task at a Time" rule). The magic: they never opened Gmail, never opened Google, and Claude already has context from the email when it does the search. "This" naturally refers to whatever the email was about. If someone couldn't connect Gmail, they skip to the second prompt with their own topic. Ask after: "How long would that have taken you manually? Open Gmail, read the email, open Google, read 10 articles, summarise..."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reveal moment. They connected a source (Gmail) and Claude reached two places — their inbox and the web — without a single copy-paste. That's the shift: from being the courier to being the director. Let the comparison sink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Screen-share the Cowork setup. "Your files are your most powerful source — nobody else has them. Your company data, your documents, your context. Let's give Claude direct access." Walk the room. Have a sample folder ready (with a policy doc, a data file, a memo) for anyone who doesn't have a suitable folder. Best practice: create or use a dedicated working folder rather than granting access to broad directories.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bigger wow. Claude reads multiple files from their Mac — not uploaded, not copy-pasted, just... there. Cowork runs in a sandboxed VM so their files are safe. Have a sample folder with 2-3 documents ready for anyone without their own. Ask: "How long would it take you to read three documents and write a summary?" If time is tight, this can be a facilitator demo — but the individual experience is much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what they just experienced. Three sources, zero copy-paste. The principle: give Claude the source, stop being the courier. And there's more — Google Drive, Slack, Calendar, and other integrations are all connectable. These three are just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trust. This is the most important mindset shift in the entire series. Four simple rules. The last one catches people: Claude Team/Enterprise's privacy guarantee means your data isn't used for training, but that says nothing about whether the output is accurate. Don't conflate safety with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be individual or group discussion if time is tight — but don't skip it. The "feels right" moment is the key insight: AI output often reads with high confidence regardless of accuracy. The most dangerous outputs are the ones that feel right but aren't.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coding agent autonomously deleted a user's entire codebase while trying to fix a bug. The user had trusted the agent to work autonomously. Months of work, gone in seconds. This is the gut punch that makes the trust rules feel necessary, not theoretical. Source: https://www.theregister.co.uk/2025/07/15/replit_ai_agent_deletes_codebase/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trust section firmly. "You review. You judge. You approve. Claude does the grunt work." This earns them the right to hand agents more complex work in Act 3 — they've proven they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flash — 5 seconds. "You've handed Claude the keys — email, web, your files. And you've proven you can verify. That makes you an Operator. One more level to go." Don't linger.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pivot beat. The kitchen brigade metaphor: "One chef doing a 10-course dinner alone? Burnout. Mistakes. Forgotten appetiser. A kitchen brigade — each chef at a station — serves everything perfectly." Plant the word "specialised."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exercise. Facilitator presents a complex task (the tea presentation or another multi-step scenario). Discussion with whiteboard or shared doc. Target: 3-4 phases. e.g., Research → Draft → Review → Approval. Don't let it go beyond 4 — more than that overcomplicates the demo. 5-6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 should mirror the copy-paste trap (Slide 3) and agent way (Slide 5) — same layout, same four-step pattern. But now each step is a specialised Skill. Only human at the final step. "Write this down: break big tasks into focused steps. Pass results forward. Filter context between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switches to Claude for the live demo. Run the chain using pre-built org Skills: (1) New conversation → give it the research task → the Research Skill kicks in → show the structured brief output. (2) New conversation → paste the brief → the Draft Skill kicks in → show the polished proposal. (3) New conversation → paste the draft + original brief → the Review Skill kicks in → show the critique. Narrate every step. Point out what the Draft Skill doesn't know: it never saw the raw research, only the structured brief. That's filtered context — each new conversation provides isolation. Compare final output to what a single Claude conversation would have produced. Take your time — this demo earns the exercise that follows.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Attendees choose their running task from Workshop 1 or the tea presentation. The org Skills auto-activate based on the task. Fallback if time runs short: Phase 1 becomes a facilitator demo, attendees do Phase 2 only. The discussion matters more than both phases completing. Ask: "Where did the chain produce better results? Where did the handoff lose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1 callback. In the last session they set up rules (on the page) and pulled Skills from the drawer. Each org Skill in the chain is the same idea taken further — each agent gets its own drawer, its own expertise. They've been building persistent context since last session; now each step in the chain gets its own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where to find the Skill instructions (Customize → Skills → click the Skill). Take 2-3 suggestions from the group. Discuss what difference each change would make. The SKILL.md is tangible — they can see it, read it, edit it. "When you edit that SKILL.md, every future use gets better. Your feedback becomes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Emotional climax. Give this a full beat. "And as an org Skill, when you improve it, everyone benefits." This is the payoff of the entire skills arc that started in Workshop 1. The drawer gets better every time you edit a SKILL.md — and it's everyone's drawer. For Pro plan audiences: "Every future use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 payoff begins. Manual workflow: search, copy-paste, draft, re-prompt, reformat, review, apply. All the steps they recognised in Slide 3. "1.5 hours of grunt work where you're the bottleneck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Chained workflow: Skills handle 1 hour 15 minutes of work. You spend 15 minutes on judgment — reviewing, deciding, approving. "Same tea presentation. The chain gets smarter every time. Your feedback becomes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Graduation moment. "You learned to whisper. You became a strategist. You let Claude operate. You orchestrated the brigade." This is the emotional payoff. Make it feel earned — they completed a 2-session AI Academy. Builder is still dimmed — that's the horizon for those who want to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CTA. "Now go try it — one task, this week." Builder tease for the curious: "And if you want to go further — building integrations, connecting Claude to your actual systems, automating entire workflows — that's the Builder level. That's what's next." But don't oversell — most attendees won't go there,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theregister.co.uk/2025/07/15/replit_ai_agent_deletes_codebase/"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Strategist → Orchestrator</a:t>
            </a:r>
            <a:endParaRPr lang="en-US" sz="6000" dirty="0"/>
          </a:p>
        </p:txBody>
      </p:sp>
      <p:sp>
        <p:nvSpPr>
          <p:cNvPr id="4" name="Text 2"/>
          <p:cNvSpPr/>
          <p:nvPr/>
        </p:nvSpPr>
        <p:spPr>
          <a:xfrm>
            <a:off x="1371600" y="3200400"/>
            <a:ext cx="6400800" cy="548640"/>
          </a:xfrm>
          <a:prstGeom prst="rect">
            <a:avLst/>
          </a:prstGeom>
          <a:noFill/>
          <a:ln/>
        </p:spPr>
        <p:txBody>
          <a:bodyPr wrap="square" lIns="0" tIns="0" rIns="0" bIns="0" rtlCol="0" anchor="ctr"/>
          <a:lstStyle/>
          <a:p>
            <a:pPr algn="ctr" indent="0" marL="0">
              <a:buNone/>
            </a:pPr>
            <a:r>
              <a:rPr lang="en-US" sz="2200" i="1" dirty="0">
                <a:solidFill>
                  <a:srgbClr val="8B95A5"/>
                </a:solidFill>
                <a:latin typeface="Verdana" pitchFamily="34" charset="0"/>
                <a:ea typeface="Verdana" pitchFamily="34" charset="-122"/>
                <a:cs typeface="Verdana" pitchFamily="34" charset="-120"/>
              </a:rPr>
              <a:t>Let AI work. Build it a team.</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635BFF"/>
          </a:solidFill>
          <a:ln w="19050">
            <a:solidFill>
              <a:srgbClr val="635BFF"/>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635BFF"/>
          </a:solidFill>
          <a:ln w="19050">
            <a:solidFill>
              <a:srgbClr val="635BFF"/>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635BFF"/>
          </a:solidFill>
          <a:ln w="19050">
            <a:solidFill>
              <a:srgbClr val="635BFF"/>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
        <p:nvSpPr>
          <p:cNvPr id="23" name="Text 21"/>
          <p:cNvSpPr/>
          <p:nvPr/>
        </p:nvSpPr>
        <p:spPr>
          <a:xfrm>
            <a:off x="914400" y="3108960"/>
            <a:ext cx="7315200" cy="54864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Two more levels. By the end, you’re an Orchestrator.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457200" y="2011680"/>
            <a:ext cx="1645920" cy="822960"/>
          </a:xfrm>
          <a:prstGeom prst="roundRect">
            <a:avLst>
              <a:gd name="adj" fmla="val 11111"/>
            </a:avLst>
          </a:prstGeom>
          <a:solidFill>
            <a:srgbClr val="635BFF"/>
          </a:solidFill>
          <a:ln/>
        </p:spPr>
      </p:sp>
      <p:sp>
        <p:nvSpPr>
          <p:cNvPr id="4" name="Text 2"/>
          <p:cNvSpPr/>
          <p:nvPr/>
        </p:nvSpPr>
        <p:spPr>
          <a:xfrm>
            <a:off x="45720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You search</a:t>
            </a:r>
            <a:endParaRPr lang="en-US" sz="1800" dirty="0"/>
          </a:p>
        </p:txBody>
      </p:sp>
      <p:sp>
        <p:nvSpPr>
          <p:cNvPr id="5" name="Text 3"/>
          <p:cNvSpPr/>
          <p:nvPr/>
        </p:nvSpPr>
        <p:spPr>
          <a:xfrm>
            <a:off x="210312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6" name="Shape 4"/>
          <p:cNvSpPr/>
          <p:nvPr/>
        </p:nvSpPr>
        <p:spPr>
          <a:xfrm>
            <a:off x="2651760" y="2011680"/>
            <a:ext cx="1645920" cy="822960"/>
          </a:xfrm>
          <a:prstGeom prst="roundRect">
            <a:avLst>
              <a:gd name="adj" fmla="val 11111"/>
            </a:avLst>
          </a:prstGeom>
          <a:solidFill>
            <a:srgbClr val="635BFF"/>
          </a:solidFill>
          <a:ln/>
        </p:spPr>
      </p:sp>
      <p:sp>
        <p:nvSpPr>
          <p:cNvPr id="7" name="Text 5"/>
          <p:cNvSpPr/>
          <p:nvPr/>
        </p:nvSpPr>
        <p:spPr>
          <a:xfrm>
            <a:off x="265176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You paste</a:t>
            </a:r>
            <a:endParaRPr lang="en-US" sz="1800" dirty="0"/>
          </a:p>
        </p:txBody>
      </p:sp>
      <p:sp>
        <p:nvSpPr>
          <p:cNvPr id="8" name="Text 6"/>
          <p:cNvSpPr/>
          <p:nvPr/>
        </p:nvSpPr>
        <p:spPr>
          <a:xfrm>
            <a:off x="429768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9" name="Shape 7"/>
          <p:cNvSpPr/>
          <p:nvPr/>
        </p:nvSpPr>
        <p:spPr>
          <a:xfrm>
            <a:off x="4846320" y="2011680"/>
            <a:ext cx="1645920" cy="822960"/>
          </a:xfrm>
          <a:prstGeom prst="roundRect">
            <a:avLst>
              <a:gd name="adj" fmla="val 11111"/>
            </a:avLst>
          </a:prstGeom>
          <a:solidFill>
            <a:srgbClr val="635BFF"/>
          </a:solidFill>
          <a:ln/>
        </p:spPr>
      </p:sp>
      <p:sp>
        <p:nvSpPr>
          <p:cNvPr id="10" name="Text 8"/>
          <p:cNvSpPr/>
          <p:nvPr/>
        </p:nvSpPr>
        <p:spPr>
          <a:xfrm>
            <a:off x="484632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AI drafts</a:t>
            </a:r>
            <a:endParaRPr lang="en-US" sz="1800" dirty="0"/>
          </a:p>
        </p:txBody>
      </p:sp>
      <p:sp>
        <p:nvSpPr>
          <p:cNvPr id="11" name="Text 9"/>
          <p:cNvSpPr/>
          <p:nvPr/>
        </p:nvSpPr>
        <p:spPr>
          <a:xfrm>
            <a:off x="649224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12" name="Shape 10"/>
          <p:cNvSpPr/>
          <p:nvPr/>
        </p:nvSpPr>
        <p:spPr>
          <a:xfrm>
            <a:off x="7040880" y="2011680"/>
            <a:ext cx="1645920" cy="822960"/>
          </a:xfrm>
          <a:prstGeom prst="roundRect">
            <a:avLst>
              <a:gd name="adj" fmla="val 11111"/>
            </a:avLst>
          </a:prstGeom>
          <a:solidFill>
            <a:srgbClr val="635BFF"/>
          </a:solidFill>
          <a:ln/>
        </p:spPr>
      </p:sp>
      <p:sp>
        <p:nvSpPr>
          <p:cNvPr id="13" name="Text 11"/>
          <p:cNvSpPr/>
          <p:nvPr/>
        </p:nvSpPr>
        <p:spPr>
          <a:xfrm>
            <a:off x="704088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You apply</a:t>
            </a:r>
            <a:endParaRPr lang="en-US" sz="1800" dirty="0"/>
          </a:p>
        </p:txBody>
      </p:sp>
      <p:sp>
        <p:nvSpPr>
          <p:cNvPr id="14" name="Text 12"/>
          <p:cNvSpPr/>
          <p:nvPr/>
        </p:nvSpPr>
        <p:spPr>
          <a:xfrm>
            <a:off x="914400" y="3291840"/>
            <a:ext cx="7315200" cy="548640"/>
          </a:xfrm>
          <a:prstGeom prst="rect">
            <a:avLst/>
          </a:prstGeom>
          <a:noFill/>
          <a:ln/>
        </p:spPr>
        <p:txBody>
          <a:bodyPr wrap="square" lIns="0" tIns="0" rIns="0" bIns="0" rtlCol="0" anchor="ctr"/>
          <a:lstStyle/>
          <a:p>
            <a:pPr algn="ctr" indent="0" marL="0">
              <a:buNone/>
            </a:pPr>
            <a:r>
              <a:rPr lang="en-US" sz="2400" i="1" dirty="0">
                <a:solidFill>
                  <a:srgbClr val="8B95A5"/>
                </a:solidFill>
                <a:latin typeface="Verdana" pitchFamily="34" charset="0"/>
                <a:ea typeface="Verdana" pitchFamily="34" charset="-122"/>
                <a:cs typeface="Verdana" pitchFamily="34" charset="-120"/>
              </a:rPr>
              <a:t>Every step has "you" in it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You're using a Ferrari</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to carry groceries</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457200" y="2011680"/>
            <a:ext cx="1645920" cy="822960"/>
          </a:xfrm>
          <a:prstGeom prst="roundRect">
            <a:avLst>
              <a:gd name="adj" fmla="val 11111"/>
            </a:avLst>
          </a:prstGeom>
          <a:solidFill>
            <a:srgbClr val="0A2540"/>
          </a:solidFill>
          <a:ln w="19050">
            <a:solidFill>
              <a:srgbClr val="8B95A5"/>
            </a:solidFill>
            <a:prstDash val="solid"/>
          </a:ln>
        </p:spPr>
      </p:sp>
      <p:sp>
        <p:nvSpPr>
          <p:cNvPr id="4" name="Text 2"/>
          <p:cNvSpPr/>
          <p:nvPr/>
        </p:nvSpPr>
        <p:spPr>
          <a:xfrm>
            <a:off x="45720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Claude retrieves</a:t>
            </a:r>
            <a:endParaRPr lang="en-US" sz="1800" dirty="0"/>
          </a:p>
        </p:txBody>
      </p:sp>
      <p:sp>
        <p:nvSpPr>
          <p:cNvPr id="5" name="Text 3"/>
          <p:cNvSpPr/>
          <p:nvPr/>
        </p:nvSpPr>
        <p:spPr>
          <a:xfrm>
            <a:off x="210312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6" name="Shape 4"/>
          <p:cNvSpPr/>
          <p:nvPr/>
        </p:nvSpPr>
        <p:spPr>
          <a:xfrm>
            <a:off x="2651760" y="2011680"/>
            <a:ext cx="1645920" cy="822960"/>
          </a:xfrm>
          <a:prstGeom prst="roundRect">
            <a:avLst>
              <a:gd name="adj" fmla="val 11111"/>
            </a:avLst>
          </a:prstGeom>
          <a:solidFill>
            <a:srgbClr val="0A2540"/>
          </a:solidFill>
          <a:ln w="19050">
            <a:solidFill>
              <a:srgbClr val="8B95A5"/>
            </a:solidFill>
            <a:prstDash val="solid"/>
          </a:ln>
        </p:spPr>
      </p:sp>
      <p:sp>
        <p:nvSpPr>
          <p:cNvPr id="7" name="Text 5"/>
          <p:cNvSpPr/>
          <p:nvPr/>
        </p:nvSpPr>
        <p:spPr>
          <a:xfrm>
            <a:off x="265176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Claude identifies</a:t>
            </a:r>
            <a:endParaRPr lang="en-US" sz="1800" dirty="0"/>
          </a:p>
        </p:txBody>
      </p:sp>
      <p:sp>
        <p:nvSpPr>
          <p:cNvPr id="8" name="Text 6"/>
          <p:cNvSpPr/>
          <p:nvPr/>
        </p:nvSpPr>
        <p:spPr>
          <a:xfrm>
            <a:off x="429768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9" name="Shape 7"/>
          <p:cNvSpPr/>
          <p:nvPr/>
        </p:nvSpPr>
        <p:spPr>
          <a:xfrm>
            <a:off x="4846320" y="2011680"/>
            <a:ext cx="1645920" cy="822960"/>
          </a:xfrm>
          <a:prstGeom prst="roundRect">
            <a:avLst>
              <a:gd name="adj" fmla="val 11111"/>
            </a:avLst>
          </a:prstGeom>
          <a:solidFill>
            <a:srgbClr val="0A2540"/>
          </a:solidFill>
          <a:ln w="19050">
            <a:solidFill>
              <a:srgbClr val="8B95A5"/>
            </a:solidFill>
            <a:prstDash val="solid"/>
          </a:ln>
        </p:spPr>
      </p:sp>
      <p:sp>
        <p:nvSpPr>
          <p:cNvPr id="10" name="Text 8"/>
          <p:cNvSpPr/>
          <p:nvPr/>
        </p:nvSpPr>
        <p:spPr>
          <a:xfrm>
            <a:off x="484632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Claude creates</a:t>
            </a:r>
            <a:endParaRPr lang="en-US" sz="1800" dirty="0"/>
          </a:p>
        </p:txBody>
      </p:sp>
      <p:sp>
        <p:nvSpPr>
          <p:cNvPr id="11" name="Text 9"/>
          <p:cNvSpPr/>
          <p:nvPr/>
        </p:nvSpPr>
        <p:spPr>
          <a:xfrm>
            <a:off x="649224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12" name="Shape 10"/>
          <p:cNvSpPr/>
          <p:nvPr/>
        </p:nvSpPr>
        <p:spPr>
          <a:xfrm>
            <a:off x="7040880" y="2011680"/>
            <a:ext cx="1645920" cy="822960"/>
          </a:xfrm>
          <a:prstGeom prst="roundRect">
            <a:avLst>
              <a:gd name="adj" fmla="val 11111"/>
            </a:avLst>
          </a:prstGeom>
          <a:solidFill>
            <a:srgbClr val="635BFF"/>
          </a:solidFill>
          <a:ln/>
        </p:spPr>
      </p:sp>
      <p:sp>
        <p:nvSpPr>
          <p:cNvPr id="13" name="Text 11"/>
          <p:cNvSpPr/>
          <p:nvPr/>
        </p:nvSpPr>
        <p:spPr>
          <a:xfrm>
            <a:off x="704088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You review</a:t>
            </a:r>
            <a:endParaRPr lang="en-US" sz="1800" dirty="0"/>
          </a:p>
        </p:txBody>
      </p:sp>
      <p:sp>
        <p:nvSpPr>
          <p:cNvPr id="14" name="Text 12"/>
          <p:cNvSpPr/>
          <p:nvPr/>
        </p:nvSpPr>
        <p:spPr>
          <a:xfrm>
            <a:off x="914400" y="3291840"/>
            <a:ext cx="7315200" cy="548640"/>
          </a:xfrm>
          <a:prstGeom prst="rect">
            <a:avLst/>
          </a:prstGeom>
          <a:noFill/>
          <a:ln/>
        </p:spPr>
        <p:txBody>
          <a:bodyPr wrap="square" lIns="0" tIns="0" rIns="0" bIns="0" rtlCol="0" anchor="ctr"/>
          <a:lstStyle/>
          <a:p>
            <a:pPr algn="ctr" indent="0" marL="0">
              <a:buNone/>
            </a:pPr>
            <a:r>
              <a:rPr lang="en-US" sz="2400" i="1" dirty="0">
                <a:solidFill>
                  <a:srgbClr val="8B95A5"/>
                </a:solidFill>
                <a:latin typeface="Verdana" pitchFamily="34" charset="0"/>
                <a:ea typeface="Verdana" pitchFamily="34" charset="-122"/>
                <a:cs typeface="Verdana" pitchFamily="34" charset="-120"/>
              </a:rPr>
              <a:t>Same four steps. You only appear at step 4.</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pic>
        <p:nvPicPr>
          <p:cNvPr id="3" name="Image 0" descr="/Users/michaelengland/Developer/michaelengland/ai-best-practices/decks/ai-best-practices/icons/globeW.png">    </p:cNvPr>
          <p:cNvPicPr>
            <a:picLocks noChangeAspect="1"/>
          </p:cNvPicPr>
          <p:nvPr/>
        </p:nvPicPr>
        <p:blipFill>
          <a:blip r:embed="rId1"/>
          <a:stretch>
            <a:fillRect/>
          </a:stretch>
        </p:blipFill>
        <p:spPr>
          <a:xfrm>
            <a:off x="1005840" y="1645920"/>
            <a:ext cx="731520" cy="731520"/>
          </a:xfrm>
          <a:prstGeom prst="rect">
            <a:avLst/>
          </a:prstGeom>
        </p:spPr>
      </p:pic>
      <p:sp>
        <p:nvSpPr>
          <p:cNvPr id="4" name="Text 1"/>
          <p:cNvSpPr/>
          <p:nvPr/>
        </p:nvSpPr>
        <p:spPr>
          <a:xfrm>
            <a:off x="73152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Web</a:t>
            </a:r>
            <a:endParaRPr lang="en-US" sz="2000" dirty="0"/>
          </a:p>
        </p:txBody>
      </p:sp>
      <p:pic>
        <p:nvPicPr>
          <p:cNvPr id="5" name="Image 1" descr="/Users/michaelengland/Developer/michaelengland/ai-best-practices/decks/ai-best-practices/icons/envelopeW.png">    </p:cNvPr>
          <p:cNvPicPr>
            <a:picLocks noChangeAspect="1"/>
          </p:cNvPicPr>
          <p:nvPr/>
        </p:nvPicPr>
        <p:blipFill>
          <a:blip r:embed="rId2"/>
          <a:stretch>
            <a:fillRect/>
          </a:stretch>
        </p:blipFill>
        <p:spPr>
          <a:xfrm>
            <a:off x="2286000" y="1645920"/>
            <a:ext cx="731520" cy="731520"/>
          </a:xfrm>
          <a:prstGeom prst="rect">
            <a:avLst/>
          </a:prstGeom>
        </p:spPr>
      </p:pic>
      <p:sp>
        <p:nvSpPr>
          <p:cNvPr id="6" name="Text 2"/>
          <p:cNvSpPr/>
          <p:nvPr/>
        </p:nvSpPr>
        <p:spPr>
          <a:xfrm>
            <a:off x="201168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Email</a:t>
            </a:r>
            <a:endParaRPr lang="en-US" sz="2000" dirty="0"/>
          </a:p>
        </p:txBody>
      </p:sp>
      <p:pic>
        <p:nvPicPr>
          <p:cNvPr id="7" name="Image 2" descr="/Users/michaelengland/Developer/michaelengland/ai-best-practices/decks/ai-best-practices/icons/puzzleW.png">    </p:cNvPr>
          <p:cNvPicPr>
            <a:picLocks noChangeAspect="1"/>
          </p:cNvPicPr>
          <p:nvPr/>
        </p:nvPicPr>
        <p:blipFill>
          <a:blip r:embed="rId3"/>
          <a:stretch>
            <a:fillRect/>
          </a:stretch>
        </p:blipFill>
        <p:spPr>
          <a:xfrm>
            <a:off x="3566160" y="1645920"/>
            <a:ext cx="731520" cy="731520"/>
          </a:xfrm>
          <a:prstGeom prst="rect">
            <a:avLst/>
          </a:prstGeom>
        </p:spPr>
      </p:pic>
      <p:sp>
        <p:nvSpPr>
          <p:cNvPr id="8" name="Text 3"/>
          <p:cNvSpPr/>
          <p:nvPr/>
        </p:nvSpPr>
        <p:spPr>
          <a:xfrm>
            <a:off x="329184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Docs</a:t>
            </a:r>
            <a:endParaRPr lang="en-US" sz="2000" dirty="0"/>
          </a:p>
        </p:txBody>
      </p:sp>
      <p:pic>
        <p:nvPicPr>
          <p:cNvPr id="9" name="Image 3" descr="/Users/michaelengland/Developer/michaelengland/ai-best-practices/decks/ai-best-practices/icons/databaseW.png">    </p:cNvPr>
          <p:cNvPicPr>
            <a:picLocks noChangeAspect="1"/>
          </p:cNvPicPr>
          <p:nvPr/>
        </p:nvPicPr>
        <p:blipFill>
          <a:blip r:embed="rId4"/>
          <a:stretch>
            <a:fillRect/>
          </a:stretch>
        </p:blipFill>
        <p:spPr>
          <a:xfrm>
            <a:off x="4846320" y="1645920"/>
            <a:ext cx="731520" cy="731520"/>
          </a:xfrm>
          <a:prstGeom prst="rect">
            <a:avLst/>
          </a:prstGeom>
        </p:spPr>
      </p:pic>
      <p:sp>
        <p:nvSpPr>
          <p:cNvPr id="10" name="Text 4"/>
          <p:cNvSpPr/>
          <p:nvPr/>
        </p:nvSpPr>
        <p:spPr>
          <a:xfrm>
            <a:off x="457200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Data</a:t>
            </a:r>
            <a:endParaRPr lang="en-US" sz="2000" dirty="0"/>
          </a:p>
        </p:txBody>
      </p:sp>
      <p:pic>
        <p:nvPicPr>
          <p:cNvPr id="11" name="Image 4" descr="/Users/michaelengland/Developer/michaelengland/ai-best-practices/decks/ai-best-practices/icons/calendarW.png">    </p:cNvPr>
          <p:cNvPicPr>
            <a:picLocks noChangeAspect="1"/>
          </p:cNvPicPr>
          <p:nvPr/>
        </p:nvPicPr>
        <p:blipFill>
          <a:blip r:embed="rId5"/>
          <a:stretch>
            <a:fillRect/>
          </a:stretch>
        </p:blipFill>
        <p:spPr>
          <a:xfrm>
            <a:off x="6126480" y="1645920"/>
            <a:ext cx="731520" cy="731520"/>
          </a:xfrm>
          <a:prstGeom prst="rect">
            <a:avLst/>
          </a:prstGeom>
        </p:spPr>
      </p:pic>
      <p:sp>
        <p:nvSpPr>
          <p:cNvPr id="12" name="Text 5"/>
          <p:cNvSpPr/>
          <p:nvPr/>
        </p:nvSpPr>
        <p:spPr>
          <a:xfrm>
            <a:off x="585216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Calendar</a:t>
            </a:r>
            <a:endParaRPr lang="en-US" sz="2000" dirty="0"/>
          </a:p>
        </p:txBody>
      </p:sp>
      <p:pic>
        <p:nvPicPr>
          <p:cNvPr id="13" name="Image 5" descr="/Users/michaelengland/Developer/michaelengland/ai-best-practices/decks/ai-best-practices/icons/arrowW.png">    </p:cNvPr>
          <p:cNvPicPr>
            <a:picLocks noChangeAspect="1"/>
          </p:cNvPicPr>
          <p:nvPr/>
        </p:nvPicPr>
        <p:blipFill>
          <a:blip r:embed="rId6"/>
          <a:stretch>
            <a:fillRect/>
          </a:stretch>
        </p:blipFill>
        <p:spPr>
          <a:xfrm>
            <a:off x="7406640" y="1645920"/>
            <a:ext cx="731520" cy="731520"/>
          </a:xfrm>
          <a:prstGeom prst="rect">
            <a:avLst/>
          </a:prstGeom>
        </p:spPr>
      </p:pic>
      <p:sp>
        <p:nvSpPr>
          <p:cNvPr id="14" name="Text 6"/>
          <p:cNvSpPr/>
          <p:nvPr/>
        </p:nvSpPr>
        <p:spPr>
          <a:xfrm>
            <a:off x="7132320" y="2560320"/>
            <a:ext cx="1280160" cy="548640"/>
          </a:xfrm>
          <a:prstGeom prst="rect">
            <a:avLst/>
          </a:prstGeom>
          <a:noFill/>
          <a:ln/>
        </p:spPr>
        <p:txBody>
          <a:bodyPr wrap="square" lIns="0" tIns="0" rIns="0" bIns="0" rtlCol="0" anchor="t"/>
          <a:lstStyle/>
          <a:p>
            <a:pPr algn="ctr" indent="0" marL="0">
              <a:buNone/>
            </a:pPr>
            <a:r>
              <a:rPr lang="en-US" sz="2000" dirty="0">
                <a:solidFill>
                  <a:srgbClr val="8B95A5"/>
                </a:solidFill>
                <a:latin typeface="Verdana" pitchFamily="34" charset="0"/>
                <a:ea typeface="Verdana" pitchFamily="34" charset="-122"/>
                <a:cs typeface="Verdana" pitchFamily="34" charset="-120"/>
              </a:rPr>
              <a:t>Custom</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457200"/>
            <a:ext cx="768096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Connect Gmail to Claude</a:t>
            </a:r>
            <a:endParaRPr lang="en-US" sz="3600" dirty="0"/>
          </a:p>
        </p:txBody>
      </p:sp>
      <p:sp>
        <p:nvSpPr>
          <p:cNvPr id="4" name="Text 2"/>
          <p:cNvSpPr/>
          <p:nvPr/>
        </p:nvSpPr>
        <p:spPr>
          <a:xfrm>
            <a:off x="1828800" y="1645920"/>
            <a:ext cx="548640" cy="45720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1</a:t>
            </a:r>
            <a:endParaRPr lang="en-US" sz="2400" dirty="0"/>
          </a:p>
        </p:txBody>
      </p:sp>
      <p:sp>
        <p:nvSpPr>
          <p:cNvPr id="5" name="Text 3"/>
          <p:cNvSpPr/>
          <p:nvPr/>
        </p:nvSpPr>
        <p:spPr>
          <a:xfrm>
            <a:off x="2560320" y="1645920"/>
            <a:ext cx="4572000" cy="45720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Click  +  in the chat input</a:t>
            </a:r>
            <a:endParaRPr lang="en-US" sz="2200" dirty="0"/>
          </a:p>
        </p:txBody>
      </p:sp>
      <p:sp>
        <p:nvSpPr>
          <p:cNvPr id="6" name="Text 4"/>
          <p:cNvSpPr/>
          <p:nvPr/>
        </p:nvSpPr>
        <p:spPr>
          <a:xfrm>
            <a:off x="1828800" y="2286000"/>
            <a:ext cx="548640" cy="45720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2</a:t>
            </a:r>
            <a:endParaRPr lang="en-US" sz="2400" dirty="0"/>
          </a:p>
        </p:txBody>
      </p:sp>
      <p:sp>
        <p:nvSpPr>
          <p:cNvPr id="7" name="Text 5"/>
          <p:cNvSpPr/>
          <p:nvPr/>
        </p:nvSpPr>
        <p:spPr>
          <a:xfrm>
            <a:off x="2560320" y="2286000"/>
            <a:ext cx="4572000" cy="45720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Hover Connectors</a:t>
            </a:r>
            <a:endParaRPr lang="en-US" sz="2200" dirty="0"/>
          </a:p>
        </p:txBody>
      </p:sp>
      <p:sp>
        <p:nvSpPr>
          <p:cNvPr id="8" name="Text 6"/>
          <p:cNvSpPr/>
          <p:nvPr/>
        </p:nvSpPr>
        <p:spPr>
          <a:xfrm>
            <a:off x="1828800" y="2926080"/>
            <a:ext cx="548640" cy="45720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3</a:t>
            </a:r>
            <a:endParaRPr lang="en-US" sz="2400" dirty="0"/>
          </a:p>
        </p:txBody>
      </p:sp>
      <p:sp>
        <p:nvSpPr>
          <p:cNvPr id="9" name="Text 7"/>
          <p:cNvSpPr/>
          <p:nvPr/>
        </p:nvSpPr>
        <p:spPr>
          <a:xfrm>
            <a:off x="2560320" y="2926080"/>
            <a:ext cx="4572000" cy="45720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Toggle Gmail on</a:t>
            </a:r>
            <a:endParaRPr lang="en-US" sz="2200" dirty="0"/>
          </a:p>
        </p:txBody>
      </p:sp>
      <p:sp>
        <p:nvSpPr>
          <p:cNvPr id="10" name="Text 8"/>
          <p:cNvSpPr/>
          <p:nvPr/>
        </p:nvSpPr>
        <p:spPr>
          <a:xfrm>
            <a:off x="1828800" y="3566160"/>
            <a:ext cx="548640" cy="45720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4</a:t>
            </a:r>
            <a:endParaRPr lang="en-US" sz="2400" dirty="0"/>
          </a:p>
        </p:txBody>
      </p:sp>
      <p:sp>
        <p:nvSpPr>
          <p:cNvPr id="11" name="Text 9"/>
          <p:cNvSpPr/>
          <p:nvPr/>
        </p:nvSpPr>
        <p:spPr>
          <a:xfrm>
            <a:off x="2560320" y="3566160"/>
            <a:ext cx="4572000" cy="45720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Authenticate with Google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3600" b="1" dirty="0">
                <a:solidFill>
                  <a:srgbClr val="635BFF"/>
                </a:solidFill>
                <a:latin typeface="Georgia" pitchFamily="34" charset="0"/>
                <a:ea typeface="Georgia" pitchFamily="34" charset="-122"/>
                <a:cs typeface="Georgia" pitchFamily="34" charset="-120"/>
              </a:rPr>
              <a:t>"Summarise my latest unread email"</a:t>
            </a:r>
            <a:endParaRPr lang="en-US" sz="3600" dirty="0"/>
          </a:p>
          <a:p>
            <a:pPr algn="ctr" indent="0" marL="0">
              <a:buNone/>
            </a:pPr>
            <a:r>
              <a:rPr lang="en-US" sz="2200" i="1" dirty="0">
                <a:solidFill>
                  <a:srgbClr val="8B95A5"/>
                </a:solidFill>
                <a:latin typeface="Verdana" pitchFamily="34" charset="0"/>
                <a:ea typeface="Verdana" pitchFamily="34" charset="-122"/>
                <a:cs typeface="Verdana" pitchFamily="34" charset="-120"/>
              </a:rPr>
              <a:t>then</a:t>
            </a:r>
            <a:endParaRPr lang="en-US" sz="3600" dirty="0"/>
          </a:p>
          <a:p>
            <a:pPr algn="ctr" indent="0" marL="0">
              <a:buNone/>
            </a:pPr>
            <a:r>
              <a:rPr lang="en-US" sz="3600" b="1" dirty="0">
                <a:solidFill>
                  <a:srgbClr val="635BFF"/>
                </a:solidFill>
                <a:latin typeface="Georgia" pitchFamily="34" charset="0"/>
                <a:ea typeface="Georgia" pitchFamily="34" charset="-122"/>
                <a:cs typeface="Georgia" pitchFamily="34" charset="-120"/>
              </a:rPr>
              <a:t>"Search the web for more on this"</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You didn't open Gmail.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You didn't open Google.</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You just asked.</a:t>
            </a:r>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365760"/>
            <a:ext cx="768096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Your most powerful source</a:t>
            </a:r>
            <a:endParaRPr lang="en-US" sz="3600" dirty="0"/>
          </a:p>
        </p:txBody>
      </p:sp>
      <p:sp>
        <p:nvSpPr>
          <p:cNvPr id="4" name="Text 2"/>
          <p:cNvSpPr/>
          <p:nvPr/>
        </p:nvSpPr>
        <p:spPr>
          <a:xfrm>
            <a:off x="731520" y="1097280"/>
            <a:ext cx="7680960" cy="731520"/>
          </a:xfrm>
          <a:prstGeom prst="rect">
            <a:avLst/>
          </a:prstGeom>
          <a:noFill/>
          <a:ln/>
        </p:spPr>
        <p:txBody>
          <a:bodyPr wrap="square" lIns="0" tIns="0" rIns="0" bIns="0" rtlCol="0" anchor="ctr"/>
          <a:lstStyle/>
          <a:p>
            <a:pPr algn="ctr" indent="0" marL="0">
              <a:buNone/>
            </a:pPr>
            <a:r>
              <a:rPr lang="en-US" sz="4400" b="1" dirty="0">
                <a:solidFill>
                  <a:srgbClr val="635BFF"/>
                </a:solidFill>
                <a:latin typeface="Georgia" pitchFamily="34" charset="0"/>
                <a:ea typeface="Georgia" pitchFamily="34" charset="-122"/>
                <a:cs typeface="Georgia" pitchFamily="34" charset="-120"/>
              </a:rPr>
              <a:t>Your files.</a:t>
            </a:r>
            <a:endParaRPr lang="en-US" sz="4400" dirty="0"/>
          </a:p>
        </p:txBody>
      </p:sp>
      <p:sp>
        <p:nvSpPr>
          <p:cNvPr id="5" name="Text 3"/>
          <p:cNvSpPr/>
          <p:nvPr/>
        </p:nvSpPr>
        <p:spPr>
          <a:xfrm>
            <a:off x="1828800" y="2194560"/>
            <a:ext cx="548640" cy="457200"/>
          </a:xfrm>
          <a:prstGeom prst="rect">
            <a:avLst/>
          </a:prstGeom>
          <a:noFill/>
          <a:ln/>
        </p:spPr>
        <p:txBody>
          <a:bodyPr wrap="square" lIns="0" tIns="0" rIns="0" bIns="0" rtlCol="0" anchor="ctr"/>
          <a:lstStyle/>
          <a:p>
            <a:pPr algn="ctr" indent="0" marL="0">
              <a:buNone/>
            </a:pPr>
            <a:r>
              <a:rPr lang="en-US" sz="2200" b="1" dirty="0">
                <a:solidFill>
                  <a:srgbClr val="635B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2560320" y="2194560"/>
            <a:ext cx="4572000" cy="457200"/>
          </a:xfrm>
          <a:prstGeom prst="rect">
            <a:avLst/>
          </a:prstGeom>
          <a:noFill/>
          <a:ln/>
        </p:spPr>
        <p:txBody>
          <a:bodyPr wrap="square" lIns="0" tIns="0" rIns="0" bIns="0" rtlCol="0" anchor="ctr"/>
          <a:lstStyle/>
          <a:p>
            <a:pPr algn="l" indent="0" marL="0">
              <a:buNone/>
            </a:pPr>
            <a:r>
              <a:rPr lang="en-US" sz="2000" dirty="0">
                <a:solidFill>
                  <a:srgbClr val="EDEDED"/>
                </a:solidFill>
                <a:latin typeface="Verdana" pitchFamily="34" charset="0"/>
                <a:ea typeface="Verdana" pitchFamily="34" charset="-122"/>
                <a:cs typeface="Verdana" pitchFamily="34" charset="-120"/>
              </a:rPr>
              <a:t>Open the Cowork tab</a:t>
            </a:r>
            <a:endParaRPr lang="en-US" sz="2000" dirty="0"/>
          </a:p>
        </p:txBody>
      </p:sp>
      <p:sp>
        <p:nvSpPr>
          <p:cNvPr id="7" name="Text 5"/>
          <p:cNvSpPr/>
          <p:nvPr/>
        </p:nvSpPr>
        <p:spPr>
          <a:xfrm>
            <a:off x="1828800" y="2788920"/>
            <a:ext cx="548640" cy="457200"/>
          </a:xfrm>
          <a:prstGeom prst="rect">
            <a:avLst/>
          </a:prstGeom>
          <a:noFill/>
          <a:ln/>
        </p:spPr>
        <p:txBody>
          <a:bodyPr wrap="square" lIns="0" tIns="0" rIns="0" bIns="0" rtlCol="0" anchor="ctr"/>
          <a:lstStyle/>
          <a:p>
            <a:pPr algn="ctr" indent="0" marL="0">
              <a:buNone/>
            </a:pPr>
            <a:r>
              <a:rPr lang="en-US" sz="2200" b="1" dirty="0">
                <a:solidFill>
                  <a:srgbClr val="635BFF"/>
                </a:solidFill>
                <a:latin typeface="Georgia" pitchFamily="34" charset="0"/>
                <a:ea typeface="Georgia" pitchFamily="34" charset="-122"/>
                <a:cs typeface="Georgia" pitchFamily="34" charset="-120"/>
              </a:rPr>
              <a:t>2</a:t>
            </a:r>
            <a:endParaRPr lang="en-US" sz="2200" dirty="0"/>
          </a:p>
        </p:txBody>
      </p:sp>
      <p:sp>
        <p:nvSpPr>
          <p:cNvPr id="8" name="Text 6"/>
          <p:cNvSpPr/>
          <p:nvPr/>
        </p:nvSpPr>
        <p:spPr>
          <a:xfrm>
            <a:off x="2560320" y="2788920"/>
            <a:ext cx="4572000" cy="457200"/>
          </a:xfrm>
          <a:prstGeom prst="rect">
            <a:avLst/>
          </a:prstGeom>
          <a:noFill/>
          <a:ln/>
        </p:spPr>
        <p:txBody>
          <a:bodyPr wrap="square" lIns="0" tIns="0" rIns="0" bIns="0" rtlCol="0" anchor="ctr"/>
          <a:lstStyle/>
          <a:p>
            <a:pPr algn="l" indent="0" marL="0">
              <a:buNone/>
            </a:pPr>
            <a:r>
              <a:rPr lang="en-US" sz="2000" dirty="0">
                <a:solidFill>
                  <a:srgbClr val="EDEDED"/>
                </a:solidFill>
                <a:latin typeface="Verdana" pitchFamily="34" charset="0"/>
                <a:ea typeface="Verdana" pitchFamily="34" charset="-122"/>
                <a:cs typeface="Verdana" pitchFamily="34" charset="-120"/>
              </a:rPr>
              <a:t>Check "Work in a Folder"</a:t>
            </a:r>
            <a:endParaRPr lang="en-US" sz="2000" dirty="0"/>
          </a:p>
        </p:txBody>
      </p:sp>
      <p:sp>
        <p:nvSpPr>
          <p:cNvPr id="9" name="Text 7"/>
          <p:cNvSpPr/>
          <p:nvPr/>
        </p:nvSpPr>
        <p:spPr>
          <a:xfrm>
            <a:off x="1828800" y="3383280"/>
            <a:ext cx="548640" cy="457200"/>
          </a:xfrm>
          <a:prstGeom prst="rect">
            <a:avLst/>
          </a:prstGeom>
          <a:noFill/>
          <a:ln/>
        </p:spPr>
        <p:txBody>
          <a:bodyPr wrap="square" lIns="0" tIns="0" rIns="0" bIns="0" rtlCol="0" anchor="ctr"/>
          <a:lstStyle/>
          <a:p>
            <a:pPr algn="ctr" indent="0" marL="0">
              <a:buNone/>
            </a:pPr>
            <a:r>
              <a:rPr lang="en-US" sz="2200" b="1" dirty="0">
                <a:solidFill>
                  <a:srgbClr val="635BFF"/>
                </a:solidFill>
                <a:latin typeface="Georgia" pitchFamily="34" charset="0"/>
                <a:ea typeface="Georgia" pitchFamily="34" charset="-122"/>
                <a:cs typeface="Georgia" pitchFamily="34" charset="-120"/>
              </a:rPr>
              <a:t>3</a:t>
            </a:r>
            <a:endParaRPr lang="en-US" sz="2200" dirty="0"/>
          </a:p>
        </p:txBody>
      </p:sp>
      <p:sp>
        <p:nvSpPr>
          <p:cNvPr id="10" name="Text 8"/>
          <p:cNvSpPr/>
          <p:nvPr/>
        </p:nvSpPr>
        <p:spPr>
          <a:xfrm>
            <a:off x="2560320" y="3383280"/>
            <a:ext cx="4572000" cy="457200"/>
          </a:xfrm>
          <a:prstGeom prst="rect">
            <a:avLst/>
          </a:prstGeom>
          <a:noFill/>
          <a:ln/>
        </p:spPr>
        <p:txBody>
          <a:bodyPr wrap="square" lIns="0" tIns="0" rIns="0" bIns="0" rtlCol="0" anchor="ctr"/>
          <a:lstStyle/>
          <a:p>
            <a:pPr algn="l" indent="0" marL="0">
              <a:buNone/>
            </a:pPr>
            <a:r>
              <a:rPr lang="en-US" sz="2000" dirty="0">
                <a:solidFill>
                  <a:srgbClr val="EDEDED"/>
                </a:solidFill>
                <a:latin typeface="Verdana" pitchFamily="34" charset="0"/>
                <a:ea typeface="Verdana" pitchFamily="34" charset="-122"/>
                <a:cs typeface="Verdana" pitchFamily="34" charset="-120"/>
              </a:rPr>
              <a:t>Select a folder on your Mac</a:t>
            </a:r>
            <a:endParaRPr lang="en-US" sz="2000" dirty="0"/>
          </a:p>
        </p:txBody>
      </p:sp>
      <p:sp>
        <p:nvSpPr>
          <p:cNvPr id="11" name="Text 9"/>
          <p:cNvSpPr/>
          <p:nvPr/>
        </p:nvSpPr>
        <p:spPr>
          <a:xfrm>
            <a:off x="1828800" y="3977640"/>
            <a:ext cx="548640" cy="457200"/>
          </a:xfrm>
          <a:prstGeom prst="rect">
            <a:avLst/>
          </a:prstGeom>
          <a:noFill/>
          <a:ln/>
        </p:spPr>
        <p:txBody>
          <a:bodyPr wrap="square" lIns="0" tIns="0" rIns="0" bIns="0" rtlCol="0" anchor="ctr"/>
          <a:lstStyle/>
          <a:p>
            <a:pPr algn="ctr" indent="0" marL="0">
              <a:buNone/>
            </a:pPr>
            <a:r>
              <a:rPr lang="en-US" sz="2200" b="1" dirty="0">
                <a:solidFill>
                  <a:srgbClr val="635BFF"/>
                </a:solidFill>
                <a:latin typeface="Georgia" pitchFamily="34" charset="0"/>
                <a:ea typeface="Georgia" pitchFamily="34" charset="-122"/>
                <a:cs typeface="Georgia" pitchFamily="34" charset="-120"/>
              </a:rPr>
              <a:t>4</a:t>
            </a:r>
            <a:endParaRPr lang="en-US" sz="2200" dirty="0"/>
          </a:p>
        </p:txBody>
      </p:sp>
      <p:sp>
        <p:nvSpPr>
          <p:cNvPr id="12" name="Text 10"/>
          <p:cNvSpPr/>
          <p:nvPr/>
        </p:nvSpPr>
        <p:spPr>
          <a:xfrm>
            <a:off x="2560320" y="3977640"/>
            <a:ext cx="4572000" cy="457200"/>
          </a:xfrm>
          <a:prstGeom prst="rect">
            <a:avLst/>
          </a:prstGeom>
          <a:noFill/>
          <a:ln/>
        </p:spPr>
        <p:txBody>
          <a:bodyPr wrap="square" lIns="0" tIns="0" rIns="0" bIns="0" rtlCol="0" anchor="ctr"/>
          <a:lstStyle/>
          <a:p>
            <a:pPr algn="l" indent="0" marL="0">
              <a:buNone/>
            </a:pPr>
            <a:r>
              <a:rPr lang="en-US" sz="2000" dirty="0">
                <a:solidFill>
                  <a:srgbClr val="EDEDED"/>
                </a:solidFill>
                <a:latin typeface="Verdana" pitchFamily="34" charset="0"/>
                <a:ea typeface="Verdana" pitchFamily="34" charset="-122"/>
                <a:cs typeface="Verdana" pitchFamily="34" charset="-120"/>
              </a:rPr>
              <a:t>Grant access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In Cowork, try:</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"Read everything in this folder</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and write me a one-page</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executive summary"</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You didn't open a single file.</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365760"/>
            <a:ext cx="768096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Give Claude the source.</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Stop being the courier.</a:t>
            </a:r>
            <a:endParaRPr lang="en-US" sz="3600" dirty="0"/>
          </a:p>
        </p:txBody>
      </p:sp>
      <p:sp>
        <p:nvSpPr>
          <p:cNvPr id="4" name="Text 2"/>
          <p:cNvSpPr/>
          <p:nvPr/>
        </p:nvSpPr>
        <p:spPr>
          <a:xfrm>
            <a:off x="731520" y="1828800"/>
            <a:ext cx="2377440" cy="640080"/>
          </a:xfrm>
          <a:prstGeom prst="rect">
            <a:avLst/>
          </a:prstGeom>
          <a:noFill/>
          <a:ln/>
        </p:spPr>
        <p:txBody>
          <a:bodyPr wrap="square" lIns="0" tIns="0" rIns="0" bIns="0" rtlCol="0" anchor="b"/>
          <a:lstStyle/>
          <a:p>
            <a:pPr algn="ctr" indent="0" marL="0">
              <a:buNone/>
            </a:pPr>
            <a:r>
              <a:rPr lang="en-US" sz="2600" b="1" dirty="0">
                <a:solidFill>
                  <a:srgbClr val="FFFFFF"/>
                </a:solidFill>
                <a:latin typeface="Georgia" pitchFamily="34" charset="0"/>
                <a:ea typeface="Georgia" pitchFamily="34" charset="-122"/>
                <a:cs typeface="Georgia" pitchFamily="34" charset="-120"/>
              </a:rPr>
              <a:t>Your email</a:t>
            </a:r>
            <a:endParaRPr lang="en-US" sz="2600" dirty="0"/>
          </a:p>
        </p:txBody>
      </p:sp>
      <p:sp>
        <p:nvSpPr>
          <p:cNvPr id="5" name="Shape 3"/>
          <p:cNvSpPr/>
          <p:nvPr/>
        </p:nvSpPr>
        <p:spPr>
          <a:xfrm>
            <a:off x="1325880" y="2606040"/>
            <a:ext cx="1188720" cy="36576"/>
          </a:xfrm>
          <a:prstGeom prst="rect">
            <a:avLst/>
          </a:prstGeom>
          <a:solidFill>
            <a:srgbClr val="635BFF"/>
          </a:solidFill>
          <a:ln/>
        </p:spPr>
      </p:sp>
      <p:sp>
        <p:nvSpPr>
          <p:cNvPr id="6" name="Text 4"/>
          <p:cNvSpPr/>
          <p:nvPr/>
        </p:nvSpPr>
        <p:spPr>
          <a:xfrm>
            <a:off x="731520" y="2788920"/>
            <a:ext cx="2377440" cy="457200"/>
          </a:xfrm>
          <a:prstGeom prst="rect">
            <a:avLst/>
          </a:prstGeom>
          <a:noFill/>
          <a:ln/>
        </p:spPr>
        <p:txBody>
          <a:bodyPr wrap="square" lIns="0" tIns="0" rIns="0" bIns="0" rtlCol="0" anchor="t"/>
          <a:lstStyle/>
          <a:p>
            <a:pPr algn="ctr" indent="0" marL="0">
              <a:buNone/>
            </a:pPr>
            <a:r>
              <a:rPr lang="en-US" sz="1800" i="1" dirty="0">
                <a:solidFill>
                  <a:srgbClr val="8B95A5"/>
                </a:solidFill>
                <a:latin typeface="Verdana" pitchFamily="34" charset="0"/>
                <a:ea typeface="Verdana" pitchFamily="34" charset="-122"/>
                <a:cs typeface="Verdana" pitchFamily="34" charset="-120"/>
              </a:rPr>
              <a:t>Gmail connector</a:t>
            </a:r>
            <a:endParaRPr lang="en-US" sz="1800" dirty="0"/>
          </a:p>
        </p:txBody>
      </p:sp>
      <p:sp>
        <p:nvSpPr>
          <p:cNvPr id="7" name="Text 5"/>
          <p:cNvSpPr/>
          <p:nvPr/>
        </p:nvSpPr>
        <p:spPr>
          <a:xfrm>
            <a:off x="3383280" y="1828800"/>
            <a:ext cx="2377440" cy="640080"/>
          </a:xfrm>
          <a:prstGeom prst="rect">
            <a:avLst/>
          </a:prstGeom>
          <a:noFill/>
          <a:ln/>
        </p:spPr>
        <p:txBody>
          <a:bodyPr wrap="square" lIns="0" tIns="0" rIns="0" bIns="0" rtlCol="0" anchor="b"/>
          <a:lstStyle/>
          <a:p>
            <a:pPr algn="ctr" indent="0" marL="0">
              <a:buNone/>
            </a:pPr>
            <a:r>
              <a:rPr lang="en-US" sz="2600" b="1" dirty="0">
                <a:solidFill>
                  <a:srgbClr val="FFFFFF"/>
                </a:solidFill>
                <a:latin typeface="Georgia" pitchFamily="34" charset="0"/>
                <a:ea typeface="Georgia" pitchFamily="34" charset="-122"/>
                <a:cs typeface="Georgia" pitchFamily="34" charset="-120"/>
              </a:rPr>
              <a:t>The web</a:t>
            </a:r>
            <a:endParaRPr lang="en-US" sz="2600" dirty="0"/>
          </a:p>
        </p:txBody>
      </p:sp>
      <p:sp>
        <p:nvSpPr>
          <p:cNvPr id="8" name="Shape 6"/>
          <p:cNvSpPr/>
          <p:nvPr/>
        </p:nvSpPr>
        <p:spPr>
          <a:xfrm>
            <a:off x="3977640" y="2606040"/>
            <a:ext cx="1188720" cy="36576"/>
          </a:xfrm>
          <a:prstGeom prst="rect">
            <a:avLst/>
          </a:prstGeom>
          <a:solidFill>
            <a:srgbClr val="635BFF"/>
          </a:solidFill>
          <a:ln/>
        </p:spPr>
      </p:sp>
      <p:sp>
        <p:nvSpPr>
          <p:cNvPr id="9" name="Text 7"/>
          <p:cNvSpPr/>
          <p:nvPr/>
        </p:nvSpPr>
        <p:spPr>
          <a:xfrm>
            <a:off x="3383280" y="2788920"/>
            <a:ext cx="2377440" cy="457200"/>
          </a:xfrm>
          <a:prstGeom prst="rect">
            <a:avLst/>
          </a:prstGeom>
          <a:noFill/>
          <a:ln/>
        </p:spPr>
        <p:txBody>
          <a:bodyPr wrap="square" lIns="0" tIns="0" rIns="0" bIns="0" rtlCol="0" anchor="t"/>
          <a:lstStyle/>
          <a:p>
            <a:pPr algn="ctr" indent="0" marL="0">
              <a:buNone/>
            </a:pPr>
            <a:r>
              <a:rPr lang="en-US" sz="1800" i="1" dirty="0">
                <a:solidFill>
                  <a:srgbClr val="8B95A5"/>
                </a:solidFill>
                <a:latin typeface="Verdana" pitchFamily="34" charset="0"/>
                <a:ea typeface="Verdana" pitchFamily="34" charset="-122"/>
                <a:cs typeface="Verdana" pitchFamily="34" charset="-120"/>
              </a:rPr>
              <a:t>Built-in search</a:t>
            </a:r>
            <a:endParaRPr lang="en-US" sz="1800" dirty="0"/>
          </a:p>
        </p:txBody>
      </p:sp>
      <p:sp>
        <p:nvSpPr>
          <p:cNvPr id="10" name="Text 8"/>
          <p:cNvSpPr/>
          <p:nvPr/>
        </p:nvSpPr>
        <p:spPr>
          <a:xfrm>
            <a:off x="6035040" y="1828800"/>
            <a:ext cx="2377440" cy="640080"/>
          </a:xfrm>
          <a:prstGeom prst="rect">
            <a:avLst/>
          </a:prstGeom>
          <a:noFill/>
          <a:ln/>
        </p:spPr>
        <p:txBody>
          <a:bodyPr wrap="square" lIns="0" tIns="0" rIns="0" bIns="0" rtlCol="0" anchor="b"/>
          <a:lstStyle/>
          <a:p>
            <a:pPr algn="ctr" indent="0" marL="0">
              <a:buNone/>
            </a:pPr>
            <a:r>
              <a:rPr lang="en-US" sz="2600" b="1" dirty="0">
                <a:solidFill>
                  <a:srgbClr val="FFFFFF"/>
                </a:solidFill>
                <a:latin typeface="Georgia" pitchFamily="34" charset="0"/>
                <a:ea typeface="Georgia" pitchFamily="34" charset="-122"/>
                <a:cs typeface="Georgia" pitchFamily="34" charset="-120"/>
              </a:rPr>
              <a:t>Your files</a:t>
            </a:r>
            <a:endParaRPr lang="en-US" sz="2600" dirty="0"/>
          </a:p>
        </p:txBody>
      </p:sp>
      <p:sp>
        <p:nvSpPr>
          <p:cNvPr id="11" name="Shape 9"/>
          <p:cNvSpPr/>
          <p:nvPr/>
        </p:nvSpPr>
        <p:spPr>
          <a:xfrm>
            <a:off x="6629400" y="2606040"/>
            <a:ext cx="1188720" cy="36576"/>
          </a:xfrm>
          <a:prstGeom prst="rect">
            <a:avLst/>
          </a:prstGeom>
          <a:solidFill>
            <a:srgbClr val="635BFF"/>
          </a:solidFill>
          <a:ln/>
        </p:spPr>
      </p:sp>
      <p:sp>
        <p:nvSpPr>
          <p:cNvPr id="12" name="Text 10"/>
          <p:cNvSpPr/>
          <p:nvPr/>
        </p:nvSpPr>
        <p:spPr>
          <a:xfrm>
            <a:off x="6035040" y="2788920"/>
            <a:ext cx="2377440" cy="457200"/>
          </a:xfrm>
          <a:prstGeom prst="rect">
            <a:avLst/>
          </a:prstGeom>
          <a:noFill/>
          <a:ln/>
        </p:spPr>
        <p:txBody>
          <a:bodyPr wrap="square" lIns="0" tIns="0" rIns="0" bIns="0" rtlCol="0" anchor="t"/>
          <a:lstStyle/>
          <a:p>
            <a:pPr algn="ctr" indent="0" marL="0">
              <a:buNone/>
            </a:pPr>
            <a:r>
              <a:rPr lang="en-US" sz="1800" i="1" dirty="0">
                <a:solidFill>
                  <a:srgbClr val="8B95A5"/>
                </a:solidFill>
                <a:latin typeface="Verdana" pitchFamily="34" charset="0"/>
                <a:ea typeface="Verdana" pitchFamily="34" charset="-122"/>
                <a:cs typeface="Verdana" pitchFamily="34" charset="-120"/>
              </a:rPr>
              <a:t>Cowork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731520" y="457200"/>
            <a:ext cx="7680960" cy="731520"/>
          </a:xfrm>
          <a:prstGeom prst="rect">
            <a:avLst/>
          </a:prstGeom>
          <a:noFill/>
          <a:ln/>
        </p:spPr>
        <p:txBody>
          <a:bodyPr wrap="square" lIns="0" tIns="0" rIns="0" bIns="0"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You just handed AI the keys</a:t>
            </a:r>
            <a:endParaRPr lang="en-US" sz="3600" dirty="0"/>
          </a:p>
        </p:txBody>
      </p:sp>
      <p:sp>
        <p:nvSpPr>
          <p:cNvPr id="4" name="Text 2"/>
          <p:cNvSpPr/>
          <p:nvPr/>
        </p:nvSpPr>
        <p:spPr>
          <a:xfrm>
            <a:off x="914400" y="1463040"/>
            <a:ext cx="7315200" cy="50292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Never trust numbers you didn't provide</a:t>
            </a:r>
            <a:endParaRPr lang="en-US" sz="2200" dirty="0"/>
          </a:p>
        </p:txBody>
      </p:sp>
      <p:sp>
        <p:nvSpPr>
          <p:cNvPr id="5" name="Shape 3"/>
          <p:cNvSpPr/>
          <p:nvPr/>
        </p:nvSpPr>
        <p:spPr>
          <a:xfrm>
            <a:off x="548640" y="1572768"/>
            <a:ext cx="182880" cy="182880"/>
          </a:xfrm>
          <a:prstGeom prst="rect">
            <a:avLst/>
          </a:prstGeom>
          <a:solidFill>
            <a:srgbClr val="635BFF"/>
          </a:solidFill>
          <a:ln/>
        </p:spPr>
      </p:sp>
      <p:sp>
        <p:nvSpPr>
          <p:cNvPr id="6" name="Text 4"/>
          <p:cNvSpPr/>
          <p:nvPr/>
        </p:nvSpPr>
        <p:spPr>
          <a:xfrm>
            <a:off x="914400" y="2057400"/>
            <a:ext cx="7315200" cy="50292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Verify claims against sources</a:t>
            </a:r>
            <a:endParaRPr lang="en-US" sz="2200" dirty="0"/>
          </a:p>
        </p:txBody>
      </p:sp>
      <p:sp>
        <p:nvSpPr>
          <p:cNvPr id="7" name="Shape 5"/>
          <p:cNvSpPr/>
          <p:nvPr/>
        </p:nvSpPr>
        <p:spPr>
          <a:xfrm>
            <a:off x="548640" y="2167128"/>
            <a:ext cx="182880" cy="182880"/>
          </a:xfrm>
          <a:prstGeom prst="rect">
            <a:avLst/>
          </a:prstGeom>
          <a:solidFill>
            <a:srgbClr val="635BFF"/>
          </a:solidFill>
          <a:ln/>
        </p:spPr>
      </p:sp>
      <p:sp>
        <p:nvSpPr>
          <p:cNvPr id="8" name="Text 6"/>
          <p:cNvSpPr/>
          <p:nvPr/>
        </p:nvSpPr>
        <p:spPr>
          <a:xfrm>
            <a:off x="914400" y="2651760"/>
            <a:ext cx="7315200" cy="50292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Use AI for drafts, not decisions</a:t>
            </a:r>
            <a:endParaRPr lang="en-US" sz="2200" dirty="0"/>
          </a:p>
        </p:txBody>
      </p:sp>
      <p:sp>
        <p:nvSpPr>
          <p:cNvPr id="9" name="Shape 7"/>
          <p:cNvSpPr/>
          <p:nvPr/>
        </p:nvSpPr>
        <p:spPr>
          <a:xfrm>
            <a:off x="548640" y="2761488"/>
            <a:ext cx="182880" cy="182880"/>
          </a:xfrm>
          <a:prstGeom prst="rect">
            <a:avLst/>
          </a:prstGeom>
          <a:solidFill>
            <a:srgbClr val="635BFF"/>
          </a:solidFill>
          <a:ln/>
        </p:spPr>
      </p:sp>
      <p:sp>
        <p:nvSpPr>
          <p:cNvPr id="10" name="Text 8"/>
          <p:cNvSpPr/>
          <p:nvPr/>
        </p:nvSpPr>
        <p:spPr>
          <a:xfrm>
            <a:off x="914400" y="3246120"/>
            <a:ext cx="7315200" cy="502920"/>
          </a:xfrm>
          <a:prstGeom prst="rect">
            <a:avLst/>
          </a:prstGeom>
          <a:noFill/>
          <a:ln/>
        </p:spPr>
        <p:txBody>
          <a:bodyPr wrap="square" lIns="0" tIns="0" rIns="0" bIns="0" rtlCol="0" anchor="ctr"/>
          <a:lstStyle/>
          <a:p>
            <a:pPr algn="l" indent="0" marL="0">
              <a:buNone/>
            </a:pPr>
            <a:r>
              <a:rPr lang="en-US" sz="2200" dirty="0">
                <a:solidFill>
                  <a:srgbClr val="EDEDED"/>
                </a:solidFill>
                <a:latin typeface="Verdana" pitchFamily="34" charset="0"/>
                <a:ea typeface="Verdana" pitchFamily="34" charset="-122"/>
                <a:cs typeface="Verdana" pitchFamily="34" charset="-120"/>
              </a:rPr>
              <a:t>Privacy ≠ accuracy</a:t>
            </a:r>
            <a:endParaRPr lang="en-US" sz="2200" dirty="0"/>
          </a:p>
        </p:txBody>
      </p:sp>
      <p:sp>
        <p:nvSpPr>
          <p:cNvPr id="11" name="Shape 9"/>
          <p:cNvSpPr/>
          <p:nvPr/>
        </p:nvSpPr>
        <p:spPr>
          <a:xfrm>
            <a:off x="548640" y="3355848"/>
            <a:ext cx="182880" cy="182880"/>
          </a:xfrm>
          <a:prstGeom prst="rect">
            <a:avLst/>
          </a:prstGeom>
          <a:solidFill>
            <a:srgbClr val="635BF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Pick one claim or number</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from Claude's output</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Verify it manually</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Was it accurate? Did anything "feel right" but turn out wrong?</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2194560"/>
          </a:xfrm>
          <a:prstGeom prst="rect">
            <a:avLst/>
          </a:prstGeom>
          <a:noFill/>
          <a:ln/>
        </p:spPr>
        <p:txBody>
          <a:bodyPr wrap="square" lIns="0" tIns="0" rIns="0" bIns="0" rtlCol="0" anchor="ctr"/>
          <a:lstStyle/>
          <a:p>
            <a:pPr algn="ctr" indent="0" marL="0">
              <a:buNone/>
            </a:pPr>
            <a:r>
              <a:rPr lang="en-US" sz="4000" b="1" i="1" dirty="0">
                <a:solidFill>
                  <a:srgbClr val="FFFFFF"/>
                </a:solidFill>
                <a:latin typeface="Georgia" pitchFamily="34" charset="0"/>
                <a:ea typeface="Georgia" pitchFamily="34" charset="-122"/>
                <a:cs typeface="Georgia" pitchFamily="34" charset="-120"/>
              </a:rPr>
              <a:t>"I destroyed months of work</a:t>
            </a:r>
            <a:endParaRPr lang="en-US" sz="4000" dirty="0"/>
          </a:p>
          <a:p>
            <a:pPr algn="ctr" indent="0" marL="0">
              <a:buNone/>
            </a:pPr>
            <a:r>
              <a:rPr lang="en-US" sz="4000" b="1" i="1" dirty="0">
                <a:solidFill>
                  <a:srgbClr val="FFFFFF"/>
                </a:solidFill>
                <a:latin typeface="Georgia" pitchFamily="34" charset="0"/>
                <a:ea typeface="Georgia" pitchFamily="34" charset="-122"/>
                <a:cs typeface="Georgia" pitchFamily="34" charset="-120"/>
              </a:rPr>
              <a:t>in seconds"</a:t>
            </a:r>
            <a:endParaRPr lang="en-US" sz="4000" dirty="0"/>
          </a:p>
        </p:txBody>
      </p:sp>
      <p:sp>
        <p:nvSpPr>
          <p:cNvPr id="4" name="Text 2"/>
          <p:cNvSpPr/>
          <p:nvPr/>
        </p:nvSpPr>
        <p:spPr>
          <a:xfrm>
            <a:off x="1371600" y="3291840"/>
            <a:ext cx="6400800" cy="457200"/>
          </a:xfrm>
          <a:prstGeom prst="rect">
            <a:avLst/>
          </a:prstGeom>
          <a:noFill/>
          <a:ln/>
        </p:spPr>
        <p:txBody>
          <a:bodyPr wrap="square" lIns="0" tIns="0" rIns="0" bIns="0" rtlCol="0" anchor="t"/>
          <a:lstStyle/>
          <a:p>
            <a:pPr algn="ctr" indent="0" marL="0">
              <a:buNone/>
            </a:pPr>
            <a:r>
              <a:rPr lang="en-US" sz="1800" u="sng" dirty="0">
                <a:solidFill>
                  <a:srgbClr val="8B95A5"/>
                </a:solidFill>
                <a:latin typeface="Verdana" pitchFamily="34" charset="0"/>
                <a:ea typeface="Verdana" pitchFamily="34" charset="-122"/>
                <a:cs typeface="Verdana" pitchFamily="34" charset="-120"/>
                <a:hlinkClick r:id="rId1" invalidUrl="" action="" tgtFrame="" tooltip="" history="1" highlightClick="0" endSnd="0">
                  <a:extLst>
                    <a:ext uri="{A12FA001-AC4F-418D-AE19-62706E023703}">
                      <ahyp:hlinkClr xmlns:ahyp="http://schemas.microsoft.com/office/drawing/2018/hyperlinkcolor" val="tx"/>
                    </a:ext>
                  </a:extLst>
                </a:hlinkClick>
              </a:rPr>
              <a:t>— Replit AI agent incident, July 2025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AI is a power tool</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not autopilot</a:t>
            </a: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635BFF"/>
          </a:solidFill>
          <a:ln w="19050">
            <a:solidFill>
              <a:srgbClr val="635BFF"/>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635BFF"/>
          </a:solidFill>
          <a:ln w="19050">
            <a:solidFill>
              <a:srgbClr val="635BFF"/>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trick isn't making</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one AI smarter</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635BFF"/>
                </a:solidFill>
                <a:latin typeface="Verdana" pitchFamily="34" charset="0"/>
                <a:ea typeface="Verdana" pitchFamily="34" charset="-122"/>
                <a:cs typeface="Verdana" pitchFamily="34" charset="-120"/>
              </a:rPr>
              <a:t>It's making many work together</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What are the phases of this task?</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What does each phase produce?</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What does the next phase need</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from the previous one?</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457200" y="2011680"/>
            <a:ext cx="1645920" cy="822960"/>
          </a:xfrm>
          <a:prstGeom prst="roundRect">
            <a:avLst>
              <a:gd name="adj" fmla="val 11111"/>
            </a:avLst>
          </a:prstGeom>
          <a:solidFill>
            <a:srgbClr val="0A2540"/>
          </a:solidFill>
          <a:ln w="19050">
            <a:solidFill>
              <a:srgbClr val="8B95A5"/>
            </a:solidFill>
            <a:prstDash val="solid"/>
          </a:ln>
        </p:spPr>
      </p:sp>
      <p:sp>
        <p:nvSpPr>
          <p:cNvPr id="4" name="Text 2"/>
          <p:cNvSpPr/>
          <p:nvPr/>
        </p:nvSpPr>
        <p:spPr>
          <a:xfrm>
            <a:off x="45720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Research</a:t>
            </a:r>
            <a:endParaRPr lang="en-US" sz="1800" dirty="0"/>
          </a:p>
        </p:txBody>
      </p:sp>
      <p:sp>
        <p:nvSpPr>
          <p:cNvPr id="5" name="Text 3"/>
          <p:cNvSpPr/>
          <p:nvPr/>
        </p:nvSpPr>
        <p:spPr>
          <a:xfrm>
            <a:off x="210312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6" name="Shape 4"/>
          <p:cNvSpPr/>
          <p:nvPr/>
        </p:nvSpPr>
        <p:spPr>
          <a:xfrm>
            <a:off x="2651760" y="2011680"/>
            <a:ext cx="1645920" cy="822960"/>
          </a:xfrm>
          <a:prstGeom prst="roundRect">
            <a:avLst>
              <a:gd name="adj" fmla="val 11111"/>
            </a:avLst>
          </a:prstGeom>
          <a:solidFill>
            <a:srgbClr val="0A2540"/>
          </a:solidFill>
          <a:ln w="19050">
            <a:solidFill>
              <a:srgbClr val="8B95A5"/>
            </a:solidFill>
            <a:prstDash val="solid"/>
          </a:ln>
        </p:spPr>
      </p:sp>
      <p:sp>
        <p:nvSpPr>
          <p:cNvPr id="7" name="Text 5"/>
          <p:cNvSpPr/>
          <p:nvPr/>
        </p:nvSpPr>
        <p:spPr>
          <a:xfrm>
            <a:off x="265176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Draft</a:t>
            </a:r>
            <a:endParaRPr lang="en-US" sz="1800" dirty="0"/>
          </a:p>
        </p:txBody>
      </p:sp>
      <p:sp>
        <p:nvSpPr>
          <p:cNvPr id="8" name="Text 6"/>
          <p:cNvSpPr/>
          <p:nvPr/>
        </p:nvSpPr>
        <p:spPr>
          <a:xfrm>
            <a:off x="429768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9" name="Shape 7"/>
          <p:cNvSpPr/>
          <p:nvPr/>
        </p:nvSpPr>
        <p:spPr>
          <a:xfrm>
            <a:off x="4846320" y="2011680"/>
            <a:ext cx="1645920" cy="822960"/>
          </a:xfrm>
          <a:prstGeom prst="roundRect">
            <a:avLst>
              <a:gd name="adj" fmla="val 11111"/>
            </a:avLst>
          </a:prstGeom>
          <a:solidFill>
            <a:srgbClr val="0A2540"/>
          </a:solidFill>
          <a:ln w="19050">
            <a:solidFill>
              <a:srgbClr val="8B95A5"/>
            </a:solidFill>
            <a:prstDash val="solid"/>
          </a:ln>
        </p:spPr>
      </p:sp>
      <p:sp>
        <p:nvSpPr>
          <p:cNvPr id="10" name="Text 8"/>
          <p:cNvSpPr/>
          <p:nvPr/>
        </p:nvSpPr>
        <p:spPr>
          <a:xfrm>
            <a:off x="4846320" y="2011680"/>
            <a:ext cx="1645920" cy="822960"/>
          </a:xfrm>
          <a:prstGeom prst="rect">
            <a:avLst/>
          </a:prstGeom>
          <a:noFill/>
          <a:ln/>
        </p:spPr>
        <p:txBody>
          <a:bodyPr wrap="square" lIns="0" tIns="0" rIns="0" bIns="0" rtlCol="0" anchor="ctr"/>
          <a:lstStyle/>
          <a:p>
            <a:pPr algn="ctr" indent="0" marL="0">
              <a:buNone/>
            </a:pPr>
            <a:r>
              <a:rPr lang="en-US" sz="1800" b="1" dirty="0">
                <a:solidFill>
                  <a:srgbClr val="EDEDED"/>
                </a:solidFill>
                <a:latin typeface="Verdana" pitchFamily="34" charset="0"/>
                <a:ea typeface="Verdana" pitchFamily="34" charset="-122"/>
                <a:cs typeface="Verdana" pitchFamily="34" charset="-120"/>
              </a:rPr>
              <a:t>Review</a:t>
            </a:r>
            <a:endParaRPr lang="en-US" sz="1800" dirty="0"/>
          </a:p>
        </p:txBody>
      </p:sp>
      <p:sp>
        <p:nvSpPr>
          <p:cNvPr id="11" name="Text 9"/>
          <p:cNvSpPr/>
          <p:nvPr/>
        </p:nvSpPr>
        <p:spPr>
          <a:xfrm>
            <a:off x="6492240" y="2011680"/>
            <a:ext cx="548640" cy="822960"/>
          </a:xfrm>
          <a:prstGeom prst="rect">
            <a:avLst/>
          </a:prstGeom>
          <a:noFill/>
          <a:ln/>
        </p:spPr>
        <p:txBody>
          <a:bodyPr wrap="square" lIns="0" tIns="0" rIns="0" bIns="0" rtlCol="0" anchor="ctr">
            <a:normAutofit/>
          </a:bodyPr>
          <a:lstStyle/>
          <a:p>
            <a:pPr algn="ctr" indent="0" marL="0">
              <a:buNone/>
            </a:pPr>
            <a:r>
              <a:rPr lang="en-US" sz="2800" b="1" dirty="0">
                <a:solidFill>
                  <a:srgbClr val="635BFF"/>
                </a:solidFill>
                <a:latin typeface="Verdana" pitchFamily="34" charset="0"/>
                <a:ea typeface="Verdana" pitchFamily="34" charset="-122"/>
                <a:cs typeface="Verdana" pitchFamily="34" charset="-120"/>
              </a:rPr>
              <a:t>→</a:t>
            </a:r>
            <a:endParaRPr lang="en-US" sz="2800" dirty="0"/>
          </a:p>
        </p:txBody>
      </p:sp>
      <p:sp>
        <p:nvSpPr>
          <p:cNvPr id="12" name="Shape 10"/>
          <p:cNvSpPr/>
          <p:nvPr/>
        </p:nvSpPr>
        <p:spPr>
          <a:xfrm>
            <a:off x="7040880" y="2011680"/>
            <a:ext cx="1645920" cy="822960"/>
          </a:xfrm>
          <a:prstGeom prst="roundRect">
            <a:avLst>
              <a:gd name="adj" fmla="val 11111"/>
            </a:avLst>
          </a:prstGeom>
          <a:solidFill>
            <a:srgbClr val="635BFF"/>
          </a:solidFill>
          <a:ln/>
        </p:spPr>
      </p:sp>
      <p:sp>
        <p:nvSpPr>
          <p:cNvPr id="13" name="Text 11"/>
          <p:cNvSpPr/>
          <p:nvPr/>
        </p:nvSpPr>
        <p:spPr>
          <a:xfrm>
            <a:off x="7040880" y="2011680"/>
            <a:ext cx="164592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Verdana" pitchFamily="34" charset="0"/>
                <a:ea typeface="Verdana" pitchFamily="34" charset="-122"/>
                <a:cs typeface="Verdana" pitchFamily="34" charset="-120"/>
              </a:rPr>
              <a:t>You</a:t>
            </a:r>
            <a:endParaRPr lang="en-US" sz="1800" dirty="0"/>
          </a:p>
        </p:txBody>
      </p:sp>
      <p:sp>
        <p:nvSpPr>
          <p:cNvPr id="14" name="Text 12"/>
          <p:cNvSpPr/>
          <p:nvPr/>
        </p:nvSpPr>
        <p:spPr>
          <a:xfrm>
            <a:off x="914400" y="3291840"/>
            <a:ext cx="7315200" cy="548640"/>
          </a:xfrm>
          <a:prstGeom prst="rect">
            <a:avLst/>
          </a:prstGeom>
          <a:noFill/>
          <a:ln/>
        </p:spPr>
        <p:txBody>
          <a:bodyPr wrap="square" lIns="0" tIns="0" rIns="0" bIns="0" rtlCol="0" anchor="ctr"/>
          <a:lstStyle/>
          <a:p>
            <a:pPr algn="ctr" indent="0" marL="0">
              <a:buNone/>
            </a:pPr>
            <a:r>
              <a:rPr lang="en-US" sz="2400" i="1" dirty="0">
                <a:solidFill>
                  <a:srgbClr val="8B95A5"/>
                </a:solidFill>
                <a:latin typeface="Verdana" pitchFamily="34" charset="0"/>
                <a:ea typeface="Verdana" pitchFamily="34" charset="-122"/>
                <a:cs typeface="Verdana" pitchFamily="34" charset="-120"/>
              </a:rPr>
              <a:t>Each Skill does one thing. The chain does everything.</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Demo</a:t>
            </a:r>
            <a:endParaRPr lang="en-US" sz="54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800" i="1" dirty="0">
                <a:solidFill>
                  <a:srgbClr val="635BFF"/>
                </a:solidFill>
                <a:latin typeface="Verdana" pitchFamily="34" charset="0"/>
                <a:ea typeface="Verdana" pitchFamily="34" charset="-122"/>
                <a:cs typeface="Verdana" pitchFamily="34" charset="-120"/>
              </a:rPr>
              <a:t>Watch a 3-phase chain run live</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Phase 1: New conversation</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 give it your task → save output</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Phase 2: New conversation</a:t>
            </a:r>
            <a:endParaRPr lang="en-US" sz="2800" dirty="0"/>
          </a:p>
          <a:p>
            <a:pPr algn="ctr" indent="0" marL="0">
              <a:buNone/>
            </a:pPr>
            <a:r>
              <a:rPr lang="en-US" sz="2800" b="1" dirty="0">
                <a:solidFill>
                  <a:srgbClr val="635BFF"/>
                </a:solidFill>
                <a:latin typeface="Georgia" pitchFamily="34" charset="0"/>
                <a:ea typeface="Georgia" pitchFamily="34" charset="-122"/>
                <a:cs typeface="Georgia" pitchFamily="34" charset="-120"/>
              </a:rPr>
              <a:t>→ paste Phase 1's output → draft</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How does this compare to one</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conversation doing everything?</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1097280"/>
            <a:ext cx="3840480" cy="731520"/>
          </a:xfrm>
          <a:prstGeom prst="rect">
            <a:avLst/>
          </a:prstGeom>
          <a:noFill/>
          <a:ln/>
        </p:spPr>
        <p:txBody>
          <a:bodyPr wrap="square" lIns="0" tIns="0" rIns="0" bIns="0" rtlCol="0" anchor="b"/>
          <a:lstStyle/>
          <a:p>
            <a:pPr algn="ctr" indent="0" marL="0">
              <a:buNone/>
            </a:pPr>
            <a:r>
              <a:rPr lang="en-US" sz="2800" b="1" dirty="0">
                <a:solidFill>
                  <a:srgbClr val="8B95A5"/>
                </a:solidFill>
                <a:latin typeface="Georgia" pitchFamily="34" charset="0"/>
                <a:ea typeface="Georgia" pitchFamily="34" charset="-122"/>
                <a:cs typeface="Georgia" pitchFamily="34" charset="-120"/>
              </a:rPr>
              <a:t>Workshop 1</a:t>
            </a:r>
            <a:endParaRPr lang="en-US" sz="2800" dirty="0"/>
          </a:p>
        </p:txBody>
      </p:sp>
      <p:sp>
        <p:nvSpPr>
          <p:cNvPr id="4" name="Text 2"/>
          <p:cNvSpPr/>
          <p:nvPr/>
        </p:nvSpPr>
        <p:spPr>
          <a:xfrm>
            <a:off x="457200" y="2011680"/>
            <a:ext cx="3840480" cy="548640"/>
          </a:xfrm>
          <a:prstGeom prst="rect">
            <a:avLst/>
          </a:prstGeom>
          <a:noFill/>
          <a:ln/>
        </p:spPr>
        <p:txBody>
          <a:bodyPr wrap="square" lIns="0" tIns="0" rIns="0" bIns="0" rtlCol="0" anchor="t"/>
          <a:lstStyle/>
          <a:p>
            <a:pPr algn="ctr" indent="0" marL="0">
              <a:buNone/>
            </a:pPr>
            <a:r>
              <a:rPr lang="en-US" sz="2000" i="1" dirty="0">
                <a:solidFill>
                  <a:srgbClr val="8B95A5"/>
                </a:solidFill>
                <a:latin typeface="Verdana" pitchFamily="34" charset="0"/>
                <a:ea typeface="Verdana" pitchFamily="34" charset="-122"/>
                <a:cs typeface="Verdana" pitchFamily="34" charset="-120"/>
              </a:rPr>
              <a:t>Your rules + Skills</a:t>
            </a:r>
            <a:endParaRPr lang="en-US" sz="2000" dirty="0"/>
          </a:p>
        </p:txBody>
      </p:sp>
      <p:sp>
        <p:nvSpPr>
          <p:cNvPr id="5" name="Shape 3"/>
          <p:cNvSpPr/>
          <p:nvPr/>
        </p:nvSpPr>
        <p:spPr>
          <a:xfrm>
            <a:off x="4572000" y="914400"/>
            <a:ext cx="0" cy="2377440"/>
          </a:xfrm>
          <a:prstGeom prst="line">
            <a:avLst/>
          </a:prstGeom>
          <a:noFill/>
          <a:ln w="25400">
            <a:solidFill>
              <a:srgbClr val="635BFF"/>
            </a:solidFill>
            <a:prstDash val="solid"/>
          </a:ln>
        </p:spPr>
      </p:sp>
      <p:sp>
        <p:nvSpPr>
          <p:cNvPr id="6" name="Text 4"/>
          <p:cNvSpPr/>
          <p:nvPr/>
        </p:nvSpPr>
        <p:spPr>
          <a:xfrm>
            <a:off x="4846320" y="1097280"/>
            <a:ext cx="3840480" cy="731520"/>
          </a:xfrm>
          <a:prstGeom prst="rect">
            <a:avLst/>
          </a:prstGeom>
          <a:noFill/>
          <a:ln/>
        </p:spPr>
        <p:txBody>
          <a:bodyPr wrap="square" lIns="0" tIns="0" rIns="0" bIns="0" rtlCol="0" anchor="b"/>
          <a:lstStyle/>
          <a:p>
            <a:pPr algn="ctr" indent="0" marL="0">
              <a:buNone/>
            </a:pPr>
            <a:r>
              <a:rPr lang="en-US" sz="2800" b="1" dirty="0">
                <a:solidFill>
                  <a:srgbClr val="FFFFFF"/>
                </a:solidFill>
                <a:latin typeface="Georgia" pitchFamily="34" charset="0"/>
                <a:ea typeface="Georgia" pitchFamily="34" charset="-122"/>
                <a:cs typeface="Georgia" pitchFamily="34" charset="-120"/>
              </a:rPr>
              <a:t>Workshop 2</a:t>
            </a:r>
            <a:endParaRPr lang="en-US" sz="2800" dirty="0"/>
          </a:p>
        </p:txBody>
      </p:sp>
      <p:sp>
        <p:nvSpPr>
          <p:cNvPr id="7" name="Text 5"/>
          <p:cNvSpPr/>
          <p:nvPr/>
        </p:nvSpPr>
        <p:spPr>
          <a:xfrm>
            <a:off x="4846320" y="2011680"/>
            <a:ext cx="3840480" cy="548640"/>
          </a:xfrm>
          <a:prstGeom prst="rect">
            <a:avLst/>
          </a:prstGeom>
          <a:noFill/>
          <a:ln/>
        </p:spPr>
        <p:txBody>
          <a:bodyPr wrap="square" lIns="0" tIns="0" rIns="0" bIns="0" rtlCol="0" anchor="t"/>
          <a:lstStyle/>
          <a:p>
            <a:pPr algn="ctr" indent="0" marL="0">
              <a:buNone/>
            </a:pPr>
            <a:r>
              <a:rPr lang="en-US" sz="2000" i="1" dirty="0">
                <a:solidFill>
                  <a:srgbClr val="635BFF"/>
                </a:solidFill>
                <a:latin typeface="Verdana" pitchFamily="34" charset="0"/>
                <a:ea typeface="Verdana" pitchFamily="34" charset="-122"/>
                <a:cs typeface="Verdana" pitchFamily="34" charset="-120"/>
              </a:rPr>
              <a:t>Each step gets its own Skill</a:t>
            </a:r>
            <a:endParaRPr lang="en-US" sz="2000" dirty="0"/>
          </a:p>
        </p:txBody>
      </p:sp>
      <p:sp>
        <p:nvSpPr>
          <p:cNvPr id="8" name="Text 6"/>
          <p:cNvSpPr/>
          <p:nvPr/>
        </p:nvSpPr>
        <p:spPr>
          <a:xfrm>
            <a:off x="914400" y="3474720"/>
            <a:ext cx="7315200" cy="548640"/>
          </a:xfrm>
          <a:prstGeom prst="rect">
            <a:avLst/>
          </a:prstGeom>
          <a:noFill/>
          <a:ln/>
        </p:spPr>
        <p:txBody>
          <a:bodyPr wrap="square" lIns="0" tIns="0" rIns="0" bIns="0" rtlCol="0" anchor="ctr"/>
          <a:lstStyle/>
          <a:p>
            <a:pPr algn="ctr" indent="0" marL="0">
              <a:buNone/>
            </a:pPr>
            <a:r>
              <a:rPr lang="en-US" sz="2000" i="1" dirty="0">
                <a:solidFill>
                  <a:srgbClr val="8B95A5"/>
                </a:solidFill>
                <a:latin typeface="Verdana" pitchFamily="34" charset="0"/>
                <a:ea typeface="Verdana" pitchFamily="34" charset="-122"/>
                <a:cs typeface="Verdana" pitchFamily="34" charset="-120"/>
              </a:rPr>
              <a:t>Same concept. Now each agent in the chain gets its own playbook.</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914400"/>
            <a:ext cx="7315200" cy="3291840"/>
          </a:xfrm>
          <a:prstGeom prst="rect">
            <a:avLst/>
          </a:prstGeom>
          <a:noFill/>
          <a:ln/>
        </p:spPr>
        <p:txBody>
          <a:bodyPr wrap="square" lIns="0" tIns="0" rIns="0" bIns="0" rtlCol="0" anchor="ctr"/>
          <a:lstStyle/>
          <a:p>
            <a:pPr algn="ctr" indent="0" marL="0">
              <a:buNone/>
            </a:pPr>
            <a:r>
              <a:rPr lang="en-US" sz="2800" b="1" dirty="0">
                <a:solidFill>
                  <a:srgbClr val="635BFF"/>
                </a:solidFill>
                <a:latin typeface="Georgia" pitchFamily="34" charset="0"/>
                <a:ea typeface="Georgia" pitchFamily="34" charset="-122"/>
                <a:cs typeface="Georgia" pitchFamily="34" charset="-120"/>
              </a:rPr>
              <a:t>Go to Customize → Skills</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Click the Research Skill</a:t>
            </a:r>
            <a:endParaRPr lang="en-US" sz="2800" dirty="0"/>
          </a:p>
          <a:p>
            <a:pPr algn="ctr" indent="0" marL="0">
              <a:buNone/>
            </a:pPr>
            <a:r>
              <a:rPr lang="en-US" sz="2200" i="1" dirty="0">
                <a:solidFill>
                  <a:srgbClr val="8B95A5"/>
                </a:solidFill>
                <a:latin typeface="Verdana" pitchFamily="34" charset="0"/>
                <a:ea typeface="Verdana" pitchFamily="34" charset="-122"/>
                <a:cs typeface="Verdana" pitchFamily="34" charset="-120"/>
              </a:rPr>
              <a:t>→ view its SKILL.md</a:t>
            </a:r>
            <a:endParaRPr lang="en-US" sz="2800" dirty="0"/>
          </a:p>
          <a:p>
            <a:pPr algn="ctr" indent="0" marL="0">
              <a:buNone/>
            </a:pPr>
            <a:r>
              <a:rPr lang="en-US" sz="3600" b="1" dirty="0">
                <a:solidFill>
                  <a:srgbClr val="635BFF"/>
                </a:solidFill>
                <a:latin typeface="Georgia" pitchFamily="34" charset="0"/>
                <a:ea typeface="Georgia" pitchFamily="34" charset="-122"/>
                <a:cs typeface="Georgia" pitchFamily="34" charset="-120"/>
              </a:rPr>
              <a:t>What would you add or change?</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Claude won't remember.</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But the Skill will.</a:t>
            </a:r>
            <a:endParaRPr lang="en-US" sz="4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6B8A"/>
                </a:solidFill>
                <a:latin typeface="Georgia" pitchFamily="34" charset="0"/>
                <a:ea typeface="Georgia" pitchFamily="34" charset="-122"/>
                <a:cs typeface="Georgia" pitchFamily="34" charset="-120"/>
              </a:rPr>
              <a:t>1.5 hrs</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you being the bottleneck</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09825D"/>
                </a:solidFill>
                <a:latin typeface="Georgia" pitchFamily="34" charset="0"/>
                <a:ea typeface="Georgia" pitchFamily="34" charset="-122"/>
                <a:cs typeface="Georgia" pitchFamily="34" charset="-120"/>
              </a:rPr>
              <a:t>15 min</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8B95A5"/>
                </a:solidFill>
                <a:latin typeface="Verdana" pitchFamily="34" charset="0"/>
                <a:ea typeface="Verdana" pitchFamily="34" charset="-122"/>
                <a:cs typeface="Verdana" pitchFamily="34" charset="-120"/>
              </a:rPr>
              <a:t>of judgment — the part only humans can do</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Shape 1"/>
          <p:cNvSpPr/>
          <p:nvPr/>
        </p:nvSpPr>
        <p:spPr>
          <a:xfrm>
            <a:off x="192024" y="2011680"/>
            <a:ext cx="1188720" cy="640080"/>
          </a:xfrm>
          <a:prstGeom prst="roundRect">
            <a:avLst>
              <a:gd name="adj" fmla="val 11429"/>
            </a:avLst>
          </a:prstGeom>
          <a:solidFill>
            <a:srgbClr val="0A2540">
              <a:alpha val="50000"/>
            </a:srgbClr>
          </a:solidFill>
          <a:ln w="19050">
            <a:solidFill>
              <a:srgbClr val="8B95A5"/>
            </a:solidFill>
            <a:prstDash val="solid"/>
          </a:ln>
        </p:spPr>
      </p:sp>
      <p:sp>
        <p:nvSpPr>
          <p:cNvPr id="4" name="Text 2"/>
          <p:cNvSpPr/>
          <p:nvPr/>
        </p:nvSpPr>
        <p:spPr>
          <a:xfrm>
            <a:off x="19202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Skeptic</a:t>
            </a:r>
            <a:endParaRPr lang="en-US" sz="1100" dirty="0"/>
          </a:p>
        </p:txBody>
      </p:sp>
      <p:sp>
        <p:nvSpPr>
          <p:cNvPr id="5" name="Text 3"/>
          <p:cNvSpPr/>
          <p:nvPr/>
        </p:nvSpPr>
        <p:spPr>
          <a:xfrm>
            <a:off x="138074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6" name="Shape 4"/>
          <p:cNvSpPr/>
          <p:nvPr/>
        </p:nvSpPr>
        <p:spPr>
          <a:xfrm>
            <a:off x="1453896" y="2011680"/>
            <a:ext cx="1188720" cy="640080"/>
          </a:xfrm>
          <a:prstGeom prst="roundRect">
            <a:avLst>
              <a:gd name="adj" fmla="val 11429"/>
            </a:avLst>
          </a:prstGeom>
          <a:solidFill>
            <a:srgbClr val="635BFF"/>
          </a:solidFill>
          <a:ln w="19050">
            <a:solidFill>
              <a:srgbClr val="635BFF"/>
            </a:solidFill>
            <a:prstDash val="solid"/>
          </a:ln>
        </p:spPr>
      </p:sp>
      <p:sp>
        <p:nvSpPr>
          <p:cNvPr id="7" name="Text 5"/>
          <p:cNvSpPr/>
          <p:nvPr/>
        </p:nvSpPr>
        <p:spPr>
          <a:xfrm>
            <a:off x="145389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Explorer</a:t>
            </a:r>
            <a:endParaRPr lang="en-US" sz="1100" dirty="0"/>
          </a:p>
        </p:txBody>
      </p:sp>
      <p:sp>
        <p:nvSpPr>
          <p:cNvPr id="8" name="Text 6"/>
          <p:cNvSpPr/>
          <p:nvPr/>
        </p:nvSpPr>
        <p:spPr>
          <a:xfrm>
            <a:off x="2642616"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9" name="Shape 7"/>
          <p:cNvSpPr/>
          <p:nvPr/>
        </p:nvSpPr>
        <p:spPr>
          <a:xfrm>
            <a:off x="2715768" y="2011680"/>
            <a:ext cx="1188720" cy="640080"/>
          </a:xfrm>
          <a:prstGeom prst="roundRect">
            <a:avLst>
              <a:gd name="adj" fmla="val 11429"/>
            </a:avLst>
          </a:prstGeom>
          <a:solidFill>
            <a:srgbClr val="635BFF"/>
          </a:solidFill>
          <a:ln w="19050">
            <a:solidFill>
              <a:srgbClr val="635BFF"/>
            </a:solidFill>
            <a:prstDash val="solid"/>
          </a:ln>
        </p:spPr>
      </p:sp>
      <p:sp>
        <p:nvSpPr>
          <p:cNvPr id="10" name="Text 8"/>
          <p:cNvSpPr/>
          <p:nvPr/>
        </p:nvSpPr>
        <p:spPr>
          <a:xfrm>
            <a:off x="2715768"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Whisperer</a:t>
            </a:r>
            <a:endParaRPr lang="en-US" sz="1100" dirty="0"/>
          </a:p>
        </p:txBody>
      </p:sp>
      <p:sp>
        <p:nvSpPr>
          <p:cNvPr id="11" name="Text 9"/>
          <p:cNvSpPr/>
          <p:nvPr/>
        </p:nvSpPr>
        <p:spPr>
          <a:xfrm>
            <a:off x="3904488"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2" name="Shape 10"/>
          <p:cNvSpPr/>
          <p:nvPr/>
        </p:nvSpPr>
        <p:spPr>
          <a:xfrm>
            <a:off x="3977640" y="2011680"/>
            <a:ext cx="1188720" cy="640080"/>
          </a:xfrm>
          <a:prstGeom prst="roundRect">
            <a:avLst>
              <a:gd name="adj" fmla="val 11429"/>
            </a:avLst>
          </a:prstGeom>
          <a:solidFill>
            <a:srgbClr val="635BFF"/>
          </a:solidFill>
          <a:ln w="19050">
            <a:solidFill>
              <a:srgbClr val="635BFF"/>
            </a:solidFill>
            <a:prstDash val="solid"/>
          </a:ln>
        </p:spPr>
      </p:sp>
      <p:sp>
        <p:nvSpPr>
          <p:cNvPr id="13" name="Text 11"/>
          <p:cNvSpPr/>
          <p:nvPr/>
        </p:nvSpPr>
        <p:spPr>
          <a:xfrm>
            <a:off x="3977640"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Strategist</a:t>
            </a:r>
            <a:endParaRPr lang="en-US" sz="1100" dirty="0"/>
          </a:p>
        </p:txBody>
      </p:sp>
      <p:sp>
        <p:nvSpPr>
          <p:cNvPr id="14" name="Text 12"/>
          <p:cNvSpPr/>
          <p:nvPr/>
        </p:nvSpPr>
        <p:spPr>
          <a:xfrm>
            <a:off x="5166360"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5" name="Shape 13"/>
          <p:cNvSpPr/>
          <p:nvPr/>
        </p:nvSpPr>
        <p:spPr>
          <a:xfrm>
            <a:off x="5239512" y="2011680"/>
            <a:ext cx="1188720" cy="640080"/>
          </a:xfrm>
          <a:prstGeom prst="roundRect">
            <a:avLst>
              <a:gd name="adj" fmla="val 11429"/>
            </a:avLst>
          </a:prstGeom>
          <a:solidFill>
            <a:srgbClr val="635BFF"/>
          </a:solidFill>
          <a:ln w="19050">
            <a:solidFill>
              <a:srgbClr val="635BFF"/>
            </a:solidFill>
            <a:prstDash val="solid"/>
          </a:ln>
        </p:spPr>
      </p:sp>
      <p:sp>
        <p:nvSpPr>
          <p:cNvPr id="16" name="Text 14"/>
          <p:cNvSpPr/>
          <p:nvPr/>
        </p:nvSpPr>
        <p:spPr>
          <a:xfrm>
            <a:off x="5239512"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Operator</a:t>
            </a:r>
            <a:endParaRPr lang="en-US" sz="1100" dirty="0"/>
          </a:p>
        </p:txBody>
      </p:sp>
      <p:sp>
        <p:nvSpPr>
          <p:cNvPr id="17" name="Text 15"/>
          <p:cNvSpPr/>
          <p:nvPr/>
        </p:nvSpPr>
        <p:spPr>
          <a:xfrm>
            <a:off x="6428232"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18" name="Shape 16"/>
          <p:cNvSpPr/>
          <p:nvPr/>
        </p:nvSpPr>
        <p:spPr>
          <a:xfrm>
            <a:off x="6501384" y="2011680"/>
            <a:ext cx="1188720" cy="640080"/>
          </a:xfrm>
          <a:prstGeom prst="roundRect">
            <a:avLst>
              <a:gd name="adj" fmla="val 11429"/>
            </a:avLst>
          </a:prstGeom>
          <a:solidFill>
            <a:srgbClr val="635BFF"/>
          </a:solidFill>
          <a:ln w="19050">
            <a:solidFill>
              <a:srgbClr val="635BFF"/>
            </a:solidFill>
            <a:prstDash val="solid"/>
          </a:ln>
        </p:spPr>
      </p:sp>
      <p:sp>
        <p:nvSpPr>
          <p:cNvPr id="19" name="Text 17"/>
          <p:cNvSpPr/>
          <p:nvPr/>
        </p:nvSpPr>
        <p:spPr>
          <a:xfrm>
            <a:off x="6501384"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Verdana" pitchFamily="34" charset="0"/>
                <a:ea typeface="Verdana" pitchFamily="34" charset="-122"/>
                <a:cs typeface="Verdana" pitchFamily="34" charset="-120"/>
              </a:rPr>
              <a:t>Orchestrator</a:t>
            </a:r>
            <a:endParaRPr lang="en-US" sz="1100" dirty="0"/>
          </a:p>
        </p:txBody>
      </p:sp>
      <p:sp>
        <p:nvSpPr>
          <p:cNvPr id="20" name="Text 18"/>
          <p:cNvSpPr/>
          <p:nvPr/>
        </p:nvSpPr>
        <p:spPr>
          <a:xfrm>
            <a:off x="7690104" y="2011680"/>
            <a:ext cx="73152" cy="640080"/>
          </a:xfrm>
          <a:prstGeom prst="rect">
            <a:avLst/>
          </a:prstGeom>
          <a:noFill/>
          <a:ln/>
        </p:spPr>
        <p:txBody>
          <a:bodyPr wrap="square" lIns="0" tIns="0" rIns="0" bIns="0" rtlCol="0" anchor="ctr"/>
          <a:lstStyle/>
          <a:p>
            <a:pPr algn="ctr" indent="0" marL="0">
              <a:buNone/>
            </a:pPr>
            <a:r>
              <a:rPr lang="en-US" sz="1100" dirty="0">
                <a:solidFill>
                  <a:srgbClr val="8B95A5"/>
                </a:solidFill>
                <a:latin typeface="Verdana" pitchFamily="34" charset="0"/>
                <a:ea typeface="Verdana" pitchFamily="34" charset="-122"/>
                <a:cs typeface="Verdana" pitchFamily="34" charset="-120"/>
              </a:rPr>
              <a:t>→</a:t>
            </a:r>
            <a:endParaRPr lang="en-US" sz="1100" dirty="0"/>
          </a:p>
        </p:txBody>
      </p:sp>
      <p:sp>
        <p:nvSpPr>
          <p:cNvPr id="21" name="Shape 19"/>
          <p:cNvSpPr/>
          <p:nvPr/>
        </p:nvSpPr>
        <p:spPr>
          <a:xfrm>
            <a:off x="7763256" y="2011680"/>
            <a:ext cx="1188720" cy="640080"/>
          </a:xfrm>
          <a:prstGeom prst="roundRect">
            <a:avLst>
              <a:gd name="adj" fmla="val 11429"/>
            </a:avLst>
          </a:prstGeom>
          <a:solidFill>
            <a:srgbClr val="0A2540">
              <a:alpha val="50000"/>
            </a:srgbClr>
          </a:solidFill>
          <a:ln w="19050">
            <a:solidFill>
              <a:srgbClr val="8B95A5"/>
            </a:solidFill>
            <a:prstDash val="dash"/>
          </a:ln>
        </p:spPr>
      </p:sp>
      <p:sp>
        <p:nvSpPr>
          <p:cNvPr id="22" name="Text 20"/>
          <p:cNvSpPr/>
          <p:nvPr/>
        </p:nvSpPr>
        <p:spPr>
          <a:xfrm>
            <a:off x="7763256" y="2011680"/>
            <a:ext cx="1188720" cy="640080"/>
          </a:xfrm>
          <a:prstGeom prst="rect">
            <a:avLst/>
          </a:prstGeom>
          <a:noFill/>
          <a:ln/>
        </p:spPr>
        <p:txBody>
          <a:bodyPr wrap="square" lIns="0" tIns="0" rIns="0" bIns="0" rtlCol="0" anchor="ctr">
            <a:normAutofit/>
          </a:bodyPr>
          <a:lstStyle/>
          <a:p>
            <a:pPr algn="ctr" indent="0" marL="0">
              <a:buNone/>
            </a:pPr>
            <a:r>
              <a:rPr lang="en-US" sz="1100" b="1" dirty="0">
                <a:solidFill>
                  <a:srgbClr val="8B95A5"/>
                </a:solidFill>
                <a:latin typeface="Verdana" pitchFamily="34" charset="0"/>
                <a:ea typeface="Verdana" pitchFamily="34" charset="-122"/>
                <a:cs typeface="Verdana" pitchFamily="34" charset="-120"/>
              </a:rPr>
              <a:t>Builder</a:t>
            </a:r>
            <a:endParaRPr lang="en-US" sz="1100" dirty="0"/>
          </a:p>
        </p:txBody>
      </p:sp>
      <p:sp>
        <p:nvSpPr>
          <p:cNvPr id="23" name="Text 21"/>
          <p:cNvSpPr/>
          <p:nvPr/>
        </p:nvSpPr>
        <p:spPr>
          <a:xfrm>
            <a:off x="914400" y="3108960"/>
            <a:ext cx="7315200" cy="548640"/>
          </a:xfrm>
          <a:prstGeom prst="rect">
            <a:avLst/>
          </a:prstGeom>
          <a:noFill/>
          <a:ln/>
        </p:spPr>
        <p:txBody>
          <a:bodyPr wrap="square" lIns="0" tIns="0" rIns="0" bIns="0" rtlCol="0" anchor="ctr"/>
          <a:lstStyle/>
          <a:p>
            <a:pPr algn="ctr" indent="0" marL="0">
              <a:buNone/>
            </a:pPr>
            <a:r>
              <a:rPr lang="en-US" sz="2400" b="1" dirty="0">
                <a:solidFill>
                  <a:srgbClr val="635BFF"/>
                </a:solidFill>
                <a:latin typeface="Georgia" pitchFamily="34" charset="0"/>
                <a:ea typeface="Georgia" pitchFamily="34" charset="-122"/>
                <a:cs typeface="Georgia" pitchFamily="34" charset="-120"/>
              </a:rPr>
              <a:t>You started as an Explorer.</a:t>
            </a:r>
            <a:endParaRPr lang="en-US" sz="2400" dirty="0"/>
          </a:p>
          <a:p>
            <a:pPr algn="ctr" indent="0" marL="0">
              <a:buNone/>
            </a:pPr>
            <a:r>
              <a:rPr lang="en-US" sz="2400" b="1" dirty="0">
                <a:solidFill>
                  <a:srgbClr val="635BFF"/>
                </a:solidFill>
                <a:latin typeface="Georgia" pitchFamily="34" charset="0"/>
                <a:ea typeface="Georgia" pitchFamily="34" charset="-122"/>
                <a:cs typeface="Georgia" pitchFamily="34" charset="-120"/>
              </a:rPr>
              <a:t>You’re now an Orchestrator.</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635BFF">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The secret was never in the AI.</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One task. This week.</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Strategist → Orchestrator</dc:title>
  <dc:subject>PptxGenJS Presentation</dc:subject>
  <dc:creator>AI Academy</dc:creator>
  <cp:lastModifiedBy>AI Academy</cp:lastModifiedBy>
  <cp:revision>1</cp:revision>
  <dcterms:created xsi:type="dcterms:W3CDTF">2026-03-08T23:32:09Z</dcterms:created>
  <dcterms:modified xsi:type="dcterms:W3CDTF">2026-03-08T23:32:09Z</dcterms:modified>
</cp:coreProperties>
</file>