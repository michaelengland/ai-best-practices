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self-serve reference deck for decision makers who are responsible for AI tooling choices but are not compliance or technical experts. Provider policies change frequently — always check current documentation before making decisions. Nothing in this deck constitutes legal advice; it is intended to help companies ask the right questions and make informed choices. Consult qualified legal counsel before implementing any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adoption isn’t a future initiative — it’s already happening. Employees are using free ChatGPT, personal Claude accounts, and whatever tools they find. The company may think it’s “not doing AI yet.”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scenarios are problems. The first has no visibility — employees are using free tools with no DPA, data potentially entering training pipelines. The second embraced AI aggressively but nobody coordinated: engineering has Claude Code, marketing uses ChatGPT Plus, finance runs analysis in Claude, ops evaluates insurance claims in ChatGPT. Neither scenario has a deliberate AI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Claude Code, Codex, Copilot. Finance: ChatGPT or Claude Code for analysis. Marketing: content generation, copy assistance. Operations: evaluating claims, processing requests. Everyone: email drafting, research, summarisation. “Vibe coding” isn’t just for engineers anymore — non-technical staff are using Claude Code to build analysis tools, internal scripts, and automations without engineering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The audience understands the situation — AI is everywhere. Now flip it. What happens when it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Samsung, 2023. Engineers pasted proprietary source code and confidential meeting notes into free ChatGPT. The data entered OpenAI’s training pipeline. Samsung banned ChatGPT company-wide. The leak wasn’t a hack or a breach — it was an employee pasting code into a free tool. Source: Business Insider.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 App, 2025. A dating safety app built with rapid AI-assisted development. Promised users their government ID photos would be deleted immediately after verification. Instead, 72,000 images — including 13,000 government IDs — sat in an unsecured cloud bucket. Leaked to 4chan. Class action lawsuit filed. Three fundamentals were skipped: no data inventory, no data minimisation, no follow-through on their own policies. Source: Lawfare.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Italy’s Garante fined OpenAI EUR 15 million in December 2024 for processing EU users’ data for model training without a lawful basis, insufficient transparency, and no age verification for minors. This was the first GDPR enforcement action specifically targeting a generative AI company. The EDPB ChatGPT Taskforce investigation remains ongoing across multiple EU member states. Source: Reuters.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thread across all three incidents: no hacking, no breach, no sophisticated attack. Samsung was an employee pasting code. The Tea App was skipped fundamentals. The fine was a policy failure. These were all failures of deliberate choice — the absence of a deliberate AI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audience has seen what can go wrong. Now give them the knowledge to prevent it. These five rules are a simplified summary for non-experts — not exhaustive legal guidance. Consult qualified counsel for specific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1: “Processing” under GDPR means any operation on personal data. Every prompt with a customer name is a processing event. Rule 2: The “data controller” carries primary legal liability — that’s your company, not OpenAI or Anthropic. Rule 3: Enterprise tiers have DPAs, no-training guarantees, and compliance controls. Free/consumer tiers have none of this. Same tool, completely different legal 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4: EU personal data sent to US servers needs legal cover — Standard Contractual Clauses (SCCs) are valid but carry residual Schrems-style risk. EU data residency (data never leaves the EU) is the stronger posture. A DPA alone does not solve this. Rule 5: EU AI Act Article 4 requires AI literacy training for all staff using AI tools — this is enforceable now, not a future requirement. Fines can reach 4% of global annual turnover under GDPR (Article 83) or 7% under the EU AI Act for prohibited practices (Article 99). This is a simplified summary — consult legal counsel for your specific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common misconception. Decision makers assume “we’re paying for Claude Pro / ChatGPT Plus, so we’re covered.” They’re not. The terms, DPA, and compliance controls depend entirely on which tier you’re on — not whether you’re paying.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 tiers: Claude Free / Pro / Max, ChatGPT Free / Plus, GitHub Copilot Free. Enterprise tiers: Claude Team / Enterprise / API, ChatGPT Business / Enterprise, GitHub Copilot Business+. Claude Pro ($20/month) is under Anthropic’s Consumer Terms — training IS allowed (with opt-out), no DPA applies. Only Team/Enterprise/API are under Commercial Terms. Same at OpenAI: Plus trains by default. Same at GitHub: Free tier allows training on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provider comparison — the core reference section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providers dominate. Each offers both general-use assistants and coding tools. The no-training guarantee is available from all four — but only at enterprise tiers. OpenAI rebranded “Team” to “Business” in 2025. Codex is now a full cloud-based agentic platform (GPT-5.3-Codex, Feb 2026), not just a coding tool. Gemini Code Assist comes in Standard and Enterprise editions. M365 Copilot is a paid add-on (~$30/user/month), not included with M365 subscriptions. Provider policies change frequently — verify current terms before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data residency varies dramatically. Google: native across 10+ EU regions on Vertex AI with contractual data location commitments. OpenAI: added EU residency for Enterprise/Edu (storage at rest since Feb 2025, inference residency since Jan 2026). ChatGPT Business does NOT yet have EU residency. Microsoft: EU Data Boundary applies for M365 Copilot EU users, but Anthropic model calls and Bing web search queries are excluded (as of Jan 2026). Azure OpenAI offers EU residency via Standard/DataZone deployment. Anthropic: no direct EU residency, but Claude models available on Vertex AI and Bedrock in EU regions. Transfer mechanisms: OpenAI uses SCCs and is notably NOT DPF-certified. Anthropic uses SCCs via Anthropic Ireland Limited. Google uses its CDPA. Microsoft uses DPA + EU Data Boundary. Certification highlights: Anthropic has the broadest pure-play AI certification matrix (SOC 2 Type II, ISO 27001, ISO 42001, HIPAA, CSA STAR, NIST 800-171, FedRAMP High). All four hold ISO 42001.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DPA (Data Processing Agreement) says: “you won’t train on my data” and “you’ll help me with deletion requests.” It does NOT control where data is physically processed. It’s a governance document, not a geography document. This distinction matters because most decision makers assume “we signed a DPA, we’re compliant.” A DPA is necessary but not sufficient for full compliance posture.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DPA + SCCs is the standard practice for EU companies using US SaaS — legally valid, widely used, same posture as Microsoft 365 or Salesforce. The residual risk: SCCs have been invalidated before (Schrems I in 2015, Schrems II in 2020) and AI tools are under heightened regulatory scrutiny (EUR 15M OpenAI fine, EDPB ChatGPT Taskforce). EU data residency removes this risk entirely — data never leaves the EU, no Chapter V transfer to justify. Both are GDPR-legal. The difference is risk profile under supervisory authority scrutiny and whether your sector requires actual data localisation.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Cyberhaven research found that 11% of what employees copy and paste into ChatGPT is sensitive data — customer names, financial information, proprietary content. This is not malice; it’s muscle memory. Someone drafts a customer email, pastes the thread for context, and now a real name + email + complaint details are on US servers. You cannot policy your way around human behaviour at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starting point for EU companies: you cannot prevent PII from entering AI tools. A customer name in an email draft, a real account number in a data analysis, a client’s project details in a brainstorm. Instead of relying on unenforceable “don’t paste PII” policies, make the default path safe enough that accidental PII exposure is already covered. This means EU data residency as the default for EU companies, not a secondary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on GCP: CLAUDE_CODE_USE_VERTEX=1 with EU region. Google’s CDPA. 10+ EU regions (Belgium, Netherlands, Frankfurt, Zurich, Paris, Milan, Finland, Warsaw, Madrid, London). Full model lineup: Opus 4.6, Sonnet 4.6, Haiku 4.5. Claude Code on AWS: CLAUDE_CODE_USE_BEDROCK=1 with EU region (Ireland, Frankfurt). Azure OpenAI (Microsoft Foundry): Standard or DataZone deployment in EU — avoid Global deployment. M365 Copilot: EU Data Boundary automatic for EU users, but Anthropic model calls and Bing web search queries currently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two-path split only works where the data boundary is enforceable — and that’s coding. For everyday use (email drafting, research, analysis), PII will enter regardless: customer names in email threads, real account numbers in analysis, client details in brainstorms. You cannot policy your way around this. For coding, the boundary is enforceable: test data vs production data is a clear technical distinction. Engineering coding new features with test data doesn’t need EU residency. Debugging a production issue with real customer data does. For EU companies: default everyday use tools to EU-resident. Only coding has a practical two-path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one of these four scenarios has an enforceable PII boundary: engineering coding with test data. In every other case, PII will enter the tool — customer names in marketing emails, real account details in ops claims, production customer data in debugging. The two-path split is a coding architecture decision, not a company-wide policy. For everything else, assume PII enters and choose your tools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audience has the landscape, the rules, the comparison, and the architecture. Now give them the decision framework and the concrete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data touches the tool? PII = enterprise tier minimum. Sensitive + EU = EU residency. 2. Where are your customers? EU customers = GDPR applies. Consider residency, not just SCCs. 3. Engineering vs everyone else? Different departments = different risk profiles. 4. How many tools can you manage? Every tool = a DPA, a policy, training. Sweet spot: 2–3. 5. What’s your compliance maturity? No DPO? Pick the simplest path. Question 1 is the most important — it determines minimum tier and whether EU residency matters. Question 4 is the most underestimated. Question 5 is about honesty: startups with no compliance function should pick one enterprise-tier tool with a signed DPA and keep it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provides an opinionated starting point for both EU and non-EU companies. These are informed suggestions based on the research in this deck — not legal advice. Have your legal team review before implementing.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recommendation: the two-path split only applies to coding — general use tools will inevitably handle PII (customer names in emails, real data in analysis), so default to EU-resident for everything non-coding. Google Workspace Gemini is the strongest default: native EU data handling under the CDPA, no training, ISO 42001. Alternatives: M365 Copilot (EU Data Boundary, ~$30/user/month add-on — note Anthropic model calls excluded from EU Boundary), or ChatGPT Enterprise (EU residency for storage + inference). Claude Team is viable via SCCs but weaker posture — no direct EU residency. For coding: Claude Code via Vertex AI (EU region) for any work that touches production data or could encounter PII. General coding with test data can use Claude Code directly on Team/Enterprise/API plan. GitHub Copilot Business is an alternative for coding (no training, no prompt retention). Non-EU companies: Claude Team or ChatGPT Business with a signed DPA. If already paying for M365, evaluate Copilot before adding another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highest-impact policy decision: free and consumer tiers of ANY provider are not approved for work use. This includes: free ChatGPT, Claude Free/Pro/Max (Consumer Terms — training allowed), ChatGPT Plus (trains by default), GitHub Copilot Free (training allowed), consumer Copilot without M365 login. No DPA, potential training on your data, no way to honour deletion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starting point, not an exhaustive policy. Have your legal team review and adapt it. Templates: GDPR Local offers a free AI literacy policy template, FRSecure has an AI acceptable use policy template. The most overlooked component is incident reporting — employees need to know what to do if they accidentally paste PII into an unapproved tool. Treat it as a potential data breach (72-hour GDPR notification requirement). AI literacy training is enforceable under EU AI Act Article 4 — not optional. Make it clear: the company is liable (not individual employees), but individuals must follow the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the closing. The audience has the framework, the comparison, the recommendation, and the policy checklist. Now tie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The deck has given the reader everything they need. This closing reframes the entire deck as an empowering choice, not a restrictive burden.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line. The audience should leave feeling confident that they can make this decision — not that they need to hire a compliance consultancy first (though legal review of the final policy is always recommended). Callback to the opening: “Just ChatGPT” and “Wild West” both stem from the same gap — the absence of a deliberate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businessinsider.com/samsung-chatgpt-leak-2023-4"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lawfaremedia.org/article/when-the-vibe-are-off--the-security-risks-of-ai-generated-code"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reuters.com/technology/italy-fines-openai-15-million-euros-over-privacy-rules-breach-2024-12-20/"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cyberhaven.com/blog/4-2-of-workers-have-pasted-company-data-into-chatgpt/"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286000"/>
          </a:xfrm>
          <a:prstGeom prst="rect">
            <a:avLst/>
          </a:prstGeom>
          <a:noFill/>
          <a:ln/>
        </p:spPr>
        <p:txBody>
          <a:bodyPr wrap="square" lIns="0" tIns="0" rIns="0" bIns="0" rtlCol="0" anchor="ctr"/>
          <a:lstStyle/>
          <a:p>
            <a:pPr algn="ctr" indent="0" marL="0">
              <a:buNone/>
            </a:pPr>
            <a:r>
              <a:rPr lang="en-US" sz="6400" b="1" dirty="0">
                <a:solidFill>
                  <a:srgbClr val="FFFFFF"/>
                </a:solidFill>
                <a:latin typeface="Georgia" pitchFamily="34" charset="0"/>
                <a:ea typeface="Georgia" pitchFamily="34" charset="-122"/>
                <a:cs typeface="Georgia" pitchFamily="34" charset="-120"/>
              </a:rPr>
              <a:t>AI Tools &amp; Your Business</a:t>
            </a:r>
            <a:endParaRPr lang="en-US" sz="6400" dirty="0"/>
          </a:p>
        </p:txBody>
      </p:sp>
      <p:sp>
        <p:nvSpPr>
          <p:cNvPr id="4" name="Text 2"/>
          <p:cNvSpPr/>
          <p:nvPr/>
        </p:nvSpPr>
        <p:spPr>
          <a:xfrm>
            <a:off x="1371600" y="3017520"/>
            <a:ext cx="6400800" cy="548640"/>
          </a:xfrm>
          <a:prstGeom prst="rect">
            <a:avLst/>
          </a:prstGeom>
          <a:noFill/>
          <a:ln/>
        </p:spPr>
        <p:txBody>
          <a:bodyPr wrap="square" lIns="0" tIns="0" rIns="0" bIns="0" rtlCol="0" anchor="ctr"/>
          <a:lstStyle/>
          <a:p>
            <a:pPr algn="ctr" indent="0" marL="0">
              <a:buNone/>
            </a:pPr>
            <a:r>
              <a:rPr lang="en-US" sz="2200" i="1" dirty="0">
                <a:solidFill>
                  <a:srgbClr val="8B95A5"/>
                </a:solidFill>
                <a:latin typeface="Verdana" pitchFamily="34" charset="0"/>
                <a:ea typeface="Verdana" pitchFamily="34" charset="-122"/>
                <a:cs typeface="Verdana" pitchFamily="34" charset="-120"/>
              </a:rPr>
              <a:t>A guide to choosing the right AI setup for your company</a:t>
            </a:r>
            <a:endParaRPr lang="en-US" sz="2200" dirty="0"/>
          </a:p>
        </p:txBody>
      </p:sp>
      <p:sp>
        <p:nvSpPr>
          <p:cNvPr id="5" name="Text 3"/>
          <p:cNvSpPr/>
          <p:nvPr/>
        </p:nvSpPr>
        <p:spPr>
          <a:xfrm>
            <a:off x="1371600" y="3840480"/>
            <a:ext cx="6400800" cy="365760"/>
          </a:xfrm>
          <a:prstGeom prst="rect">
            <a:avLst/>
          </a:prstGeom>
          <a:noFill/>
          <a:ln/>
        </p:spPr>
        <p:txBody>
          <a:bodyPr wrap="square" lIns="0" tIns="0" rIns="0" bIns="0" rtlCol="0" anchor="ctr"/>
          <a:lstStyle/>
          <a:p>
            <a:pPr algn="ctr" indent="0" marL="0">
              <a:buNone/>
            </a:pPr>
            <a:r>
              <a:rPr lang="en-US" sz="1400" dirty="0">
                <a:solidFill>
                  <a:srgbClr val="8B95A5"/>
                </a:solidFill>
                <a:latin typeface="Verdana" pitchFamily="34" charset="0"/>
                <a:ea typeface="Verdana" pitchFamily="34" charset="-122"/>
                <a:cs typeface="Verdana" pitchFamily="34" charset="-120"/>
              </a:rPr>
              <a:t>For informational purposes only — not legal advice</a:t>
            </a:r>
            <a:endParaRPr lang="en-US" sz="1400" dirty="0"/>
          </a:p>
        </p:txBody>
      </p:sp>
      <p:sp>
        <p:nvSpPr>
          <p:cNvPr id="6" name="Text 4"/>
          <p:cNvSpPr/>
          <p:nvPr/>
        </p:nvSpPr>
        <p:spPr>
          <a:xfrm>
            <a:off x="1371600" y="4297680"/>
            <a:ext cx="6400800" cy="36576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Last verified: February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Your team is already using AI.</a:t>
            </a:r>
            <a:endParaRPr lang="en-US" sz="5400" dirty="0"/>
          </a:p>
        </p:txBody>
      </p:sp>
      <p:sp>
        <p:nvSpPr>
          <p:cNvPr id="4" name="Text 2"/>
          <p:cNvSpPr/>
          <p:nvPr/>
        </p:nvSpPr>
        <p:spPr>
          <a:xfrm>
            <a:off x="1371600" y="3840480"/>
            <a:ext cx="6400800" cy="731520"/>
          </a:xfrm>
          <a:prstGeom prst="rect">
            <a:avLst/>
          </a:prstGeom>
          <a:noFill/>
          <a:ln/>
        </p:spPr>
        <p:txBody>
          <a:bodyPr wrap="square" lIns="0" tIns="0" rIns="0" bIns="0" rtlCol="0" anchor="t"/>
          <a:lstStyle/>
          <a:p>
            <a:pPr algn="ctr" indent="0" marL="0">
              <a:buNone/>
            </a:pPr>
            <a:r>
              <a:rPr lang="en-US" sz="2400" dirty="0">
                <a:solidFill>
                  <a:srgbClr val="8B95A5"/>
                </a:solidFill>
                <a:latin typeface="Verdana" pitchFamily="34" charset="0"/>
                <a:ea typeface="Verdana" pitchFamily="34" charset="-122"/>
                <a:cs typeface="Verdana" pitchFamily="34" charset="-120"/>
              </a:rPr>
              <a:t>The question is whether you know how.</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Just ChatGPT</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No official tools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Employees use free tiers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 policy, no oversight</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You think you’re not doing AI</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Wild West</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Too many tools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Every team picked their own</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 coordination</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Nobody checked the data policies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Engineering. Finance.</a:t>
            </a:r>
            <a:endParaRPr lang="en-US" sz="4200" dirty="0"/>
          </a:p>
          <a:p>
            <a:pPr algn="ctr" indent="0" marL="0">
              <a:buNone/>
            </a:pPr>
            <a:r>
              <a:rPr lang="en-US" sz="4200" b="1" dirty="0">
                <a:solidFill>
                  <a:srgbClr val="FFFFFF"/>
                </a:solidFill>
                <a:latin typeface="Georgia" pitchFamily="34" charset="0"/>
                <a:ea typeface="Georgia" pitchFamily="34" charset="-122"/>
                <a:cs typeface="Georgia" pitchFamily="34" charset="-120"/>
              </a:rPr>
              <a:t>Marketing. Operations.</a:t>
            </a:r>
            <a:endParaRPr lang="en-US" sz="4200" dirty="0"/>
          </a:p>
          <a:p>
            <a:pPr algn="ctr" indent="0" marL="0">
              <a:buNone/>
            </a:pPr>
            <a:r>
              <a:rPr lang="en-US" sz="4200" b="1" dirty="0">
                <a:solidFill>
                  <a:srgbClr val="FFFFFF"/>
                </a:solidFill>
                <a:latin typeface="Georgia" pitchFamily="34" charset="0"/>
                <a:ea typeface="Georgia" pitchFamily="34" charset="-122"/>
                <a:cs typeface="Georgia" pitchFamily="34" charset="-120"/>
              </a:rPr>
              <a:t>Everyone.</a:t>
            </a:r>
            <a:endParaRPr lang="en-US" sz="4200" dirty="0"/>
          </a:p>
        </p:txBody>
      </p:sp>
      <p:sp>
        <p:nvSpPr>
          <p:cNvPr id="4" name="Text 2"/>
          <p:cNvSpPr/>
          <p:nvPr/>
        </p:nvSpPr>
        <p:spPr>
          <a:xfrm>
            <a:off x="1371600" y="3840480"/>
            <a:ext cx="6400800" cy="731520"/>
          </a:xfrm>
          <a:prstGeom prst="rect">
            <a:avLst/>
          </a:prstGeom>
          <a:noFill/>
          <a:ln/>
        </p:spPr>
        <p:txBody>
          <a:bodyPr wrap="square" lIns="0" tIns="0" rIns="0" bIns="0" rtlCol="0" anchor="t"/>
          <a:lstStyle/>
          <a:p>
            <a:pPr algn="ctr" indent="0" marL="0">
              <a:buNone/>
            </a:pPr>
            <a:r>
              <a:rPr lang="en-US" sz="2400" dirty="0">
                <a:solidFill>
                  <a:srgbClr val="8B95A5"/>
                </a:solidFill>
                <a:latin typeface="Verdana" pitchFamily="34" charset="0"/>
                <a:ea typeface="Verdana" pitchFamily="34" charset="-122"/>
                <a:cs typeface="Verdana" pitchFamily="34" charset="-120"/>
              </a:rPr>
              <a:t>AI is every department’s problem now.</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So what’s the risk?</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219456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Samsung engineers pasted</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proprietary code into ChatGPT.</a:t>
            </a:r>
            <a:endParaRPr lang="en-US" sz="4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Company-wide ban followed.</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Business Insider, 2023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4400" b="1" dirty="0">
                <a:solidFill>
                  <a:srgbClr val="FF6B8A"/>
                </a:solidFill>
                <a:latin typeface="Georgia" pitchFamily="34" charset="0"/>
                <a:ea typeface="Georgia" pitchFamily="34" charset="-122"/>
                <a:cs typeface="Georgia" pitchFamily="34" charset="-120"/>
              </a:rPr>
              <a:t>72,000 photos.</a:t>
            </a:r>
            <a:endParaRPr lang="en-US" sz="4400" dirty="0"/>
          </a:p>
          <a:p>
            <a:pPr algn="ctr" indent="0" marL="0">
              <a:buNone/>
            </a:pPr>
            <a:r>
              <a:rPr lang="en-US" sz="4400" b="1" dirty="0">
                <a:solidFill>
                  <a:srgbClr val="FF6B8A"/>
                </a:solidFill>
                <a:latin typeface="Georgia" pitchFamily="34" charset="0"/>
                <a:ea typeface="Georgia" pitchFamily="34" charset="-122"/>
                <a:cs typeface="Georgia" pitchFamily="34" charset="-120"/>
              </a:rPr>
              <a:t>13,000 government IDs.</a:t>
            </a:r>
            <a:endParaRPr lang="en-US" sz="4400" dirty="0"/>
          </a:p>
          <a:p>
            <a:pPr algn="ctr" indent="0" marL="0">
              <a:buNone/>
            </a:pPr>
            <a:r>
              <a:rPr lang="en-US" sz="4400" b="1" dirty="0">
                <a:solidFill>
                  <a:srgbClr val="FF6B8A"/>
                </a:solidFill>
                <a:latin typeface="Georgia" pitchFamily="34" charset="0"/>
                <a:ea typeface="Georgia" pitchFamily="34" charset="-122"/>
                <a:cs typeface="Georgia" pitchFamily="34" charset="-120"/>
              </a:rPr>
              <a:t>Leaked to 4chan.</a:t>
            </a:r>
            <a:endParaRPr lang="en-US" sz="4400" dirty="0"/>
          </a:p>
        </p:txBody>
      </p:sp>
      <p:sp>
        <p:nvSpPr>
          <p:cNvPr id="4" name="Text 2"/>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Lawfare, 2025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6B8A"/>
                </a:solidFill>
                <a:latin typeface="Georgia" pitchFamily="34" charset="0"/>
                <a:ea typeface="Georgia" pitchFamily="34" charset="-122"/>
                <a:cs typeface="Georgia" pitchFamily="34" charset="-120"/>
              </a:rPr>
              <a:t>€15M</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first GDPR fine targeting</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a generative AI company</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Reuters, Dec 2024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None required</a:t>
            </a:r>
            <a:endParaRPr lang="en-US" sz="5400" dirty="0"/>
          </a:p>
          <a:p>
            <a:pPr algn="ctr" indent="0" marL="0">
              <a:buNone/>
            </a:pPr>
            <a:r>
              <a:rPr lang="en-US" sz="5400" b="1" dirty="0">
                <a:solidFill>
                  <a:srgbClr val="FFFFFF"/>
                </a:solidFill>
                <a:latin typeface="Georgia" pitchFamily="34" charset="0"/>
                <a:ea typeface="Georgia" pitchFamily="34" charset="-122"/>
                <a:cs typeface="Georgia" pitchFamily="34" charset="-120"/>
              </a:rPr>
              <a:t>a sophisticated attack.</a:t>
            </a:r>
            <a:endParaRPr lang="en-US" sz="5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Five rules every decision maker</a:t>
            </a:r>
            <a:endParaRPr lang="en-US" sz="2800" dirty="0"/>
          </a:p>
          <a:p>
            <a:pPr algn="ctr" indent="0" marL="0">
              <a:buNone/>
            </a:pPr>
            <a:r>
              <a:rPr lang="en-US" sz="2800" i="1" dirty="0">
                <a:solidFill>
                  <a:srgbClr val="635BFF"/>
                </a:solidFill>
                <a:latin typeface="Georgia" pitchFamily="34" charset="0"/>
                <a:ea typeface="Georgia" pitchFamily="34" charset="-122"/>
                <a:cs typeface="Georgia" pitchFamily="34" charset="-120"/>
              </a:rPr>
              <a:t>needs to know.</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27432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The rules that matter</a:t>
            </a:r>
            <a:endParaRPr lang="en-US" sz="4000" dirty="0"/>
          </a:p>
        </p:txBody>
      </p:sp>
      <p:sp>
        <p:nvSpPr>
          <p:cNvPr id="4" name="Text 2"/>
          <p:cNvSpPr/>
          <p:nvPr/>
        </p:nvSpPr>
        <p:spPr>
          <a:xfrm>
            <a:off x="640080" y="1280160"/>
            <a:ext cx="7863840" cy="3474720"/>
          </a:xfrm>
          <a:prstGeom prst="rect">
            <a:avLst/>
          </a:prstGeom>
          <a:noFill/>
          <a:ln/>
        </p:spPr>
        <p:txBody>
          <a:bodyPr wrap="square" lIns="0" tIns="0" rIns="0" bIns="0" rtlCol="0" anchor="t"/>
          <a:lstStyle/>
          <a:p>
            <a:pPr indent="0" marL="0">
              <a:buNone/>
            </a:pPr>
            <a:r>
              <a:rPr lang="en-US" sz="2400" b="1" dirty="0">
                <a:solidFill>
                  <a:srgbClr val="635BFF"/>
                </a:solidFill>
                <a:latin typeface="Verdana" pitchFamily="34" charset="0"/>
                <a:ea typeface="Verdana" pitchFamily="34" charset="-122"/>
                <a:cs typeface="Verdana" pitchFamily="34" charset="-120"/>
              </a:rPr>
              <a:t>1  </a:t>
            </a:r>
            <a:pPr indent="0" marL="0">
              <a:buNone/>
            </a:pPr>
            <a:r>
              <a:rPr lang="en-US" sz="2200" b="1" dirty="0">
                <a:solidFill>
                  <a:srgbClr val="FFFFFF"/>
                </a:solidFill>
                <a:latin typeface="Verdana" pitchFamily="34" charset="0"/>
                <a:ea typeface="Verdana" pitchFamily="34" charset="-122"/>
                <a:cs typeface="Verdana" pitchFamily="34" charset="-120"/>
              </a:rPr>
              <a:t>Typing data into an AI tool = processing it</a:t>
            </a:r>
            <a:endParaRPr lang="en-US" sz="2400" dirty="0"/>
          </a:p>
          <a:p>
            <a:pPr indent="0" marL="0">
              <a:buNone/>
            </a:pPr>
            <a:r>
              <a:rPr lang="en-US" sz="2000" dirty="0">
                <a:solidFill>
                  <a:srgbClr val="8B95A5"/>
                </a:solidFill>
                <a:latin typeface="Verdana" pitchFamily="34" charset="0"/>
                <a:ea typeface="Verdana" pitchFamily="34" charset="-122"/>
                <a:cs typeface="Verdana" pitchFamily="34" charset="-120"/>
              </a:rPr>
              <a:t>     GDPR applies the moment personal data enters a prompt</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2  </a:t>
            </a:r>
            <a:pPr indent="0" marL="0">
              <a:buNone/>
            </a:pPr>
            <a:r>
              <a:rPr lang="en-US" sz="2200" b="1" dirty="0">
                <a:solidFill>
                  <a:srgbClr val="FFFFFF"/>
                </a:solidFill>
                <a:latin typeface="Verdana" pitchFamily="34" charset="0"/>
                <a:ea typeface="Verdana" pitchFamily="34" charset="-122"/>
                <a:cs typeface="Verdana" pitchFamily="34" charset="-120"/>
              </a:rPr>
              <a:t>Your company is liable, not the tool</a:t>
            </a:r>
            <a:endParaRPr lang="en-US" sz="2400" dirty="0"/>
          </a:p>
          <a:p>
            <a:pPr indent="0" marL="0">
              <a:buNone/>
            </a:pPr>
            <a:r>
              <a:rPr lang="en-US" sz="2000" dirty="0">
                <a:solidFill>
                  <a:srgbClr val="8B95A5"/>
                </a:solidFill>
                <a:latin typeface="Verdana" pitchFamily="34" charset="0"/>
                <a:ea typeface="Verdana" pitchFamily="34" charset="-122"/>
                <a:cs typeface="Verdana" pitchFamily="34" charset="-120"/>
              </a:rPr>
              <a:t>     You’re the data controller. The AI provider is the processor.</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3  </a:t>
            </a:r>
            <a:pPr indent="0" marL="0">
              <a:buNone/>
            </a:pPr>
            <a:r>
              <a:rPr lang="en-US" sz="2200" b="1" dirty="0">
                <a:solidFill>
                  <a:srgbClr val="FFFFFF"/>
                </a:solidFill>
                <a:latin typeface="Verdana" pitchFamily="34" charset="0"/>
                <a:ea typeface="Verdana" pitchFamily="34" charset="-122"/>
                <a:cs typeface="Verdana" pitchFamily="34" charset="-120"/>
              </a:rPr>
              <a:t>Free tiers are a different legal world</a:t>
            </a:r>
            <a:endParaRPr lang="en-US" sz="2400" dirty="0"/>
          </a:p>
          <a:p>
            <a:pPr indent="0" marL="0">
              <a:buNone/>
            </a:pPr>
            <a:r>
              <a:rPr lang="en-US" sz="2000" dirty="0">
                <a:solidFill>
                  <a:srgbClr val="8B95A5"/>
                </a:solidFill>
                <a:latin typeface="Verdana" pitchFamily="34" charset="0"/>
                <a:ea typeface="Verdana" pitchFamily="34" charset="-122"/>
                <a:cs typeface="Verdana" pitchFamily="34" charset="-120"/>
              </a:rPr>
              <a:t>     No DPA, may train on your data, no deletion controls</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640080" y="457200"/>
            <a:ext cx="7863840" cy="2560320"/>
          </a:xfrm>
          <a:prstGeom prst="rect">
            <a:avLst/>
          </a:prstGeom>
          <a:noFill/>
          <a:ln/>
        </p:spPr>
        <p:txBody>
          <a:bodyPr wrap="square" lIns="0" tIns="0" rIns="0" bIns="0" rtlCol="0" anchor="t"/>
          <a:lstStyle/>
          <a:p>
            <a:pPr indent="0" marL="0">
              <a:buNone/>
            </a:pPr>
            <a:r>
              <a:rPr lang="en-US" sz="2400" b="1" dirty="0">
                <a:solidFill>
                  <a:srgbClr val="635BFF"/>
                </a:solidFill>
                <a:latin typeface="Verdana" pitchFamily="34" charset="0"/>
                <a:ea typeface="Verdana" pitchFamily="34" charset="-122"/>
                <a:cs typeface="Verdana" pitchFamily="34" charset="-120"/>
              </a:rPr>
              <a:t>4  </a:t>
            </a:r>
            <a:pPr indent="0" marL="0">
              <a:buNone/>
            </a:pPr>
            <a:r>
              <a:rPr lang="en-US" sz="2200" b="1" dirty="0">
                <a:solidFill>
                  <a:srgbClr val="FFFFFF"/>
                </a:solidFill>
                <a:latin typeface="Verdana" pitchFamily="34" charset="0"/>
                <a:ea typeface="Verdana" pitchFamily="34" charset="-122"/>
                <a:cs typeface="Verdana" pitchFamily="34" charset="-120"/>
              </a:rPr>
              <a:t>Data has to stay protected when it crosses borders</a:t>
            </a:r>
            <a:endParaRPr lang="en-US" sz="2400" dirty="0"/>
          </a:p>
          <a:p>
            <a:pPr indent="0" marL="0">
              <a:buNone/>
            </a:pPr>
            <a:r>
              <a:rPr lang="en-US" sz="2000" dirty="0">
                <a:solidFill>
                  <a:srgbClr val="8B95A5"/>
                </a:solidFill>
                <a:latin typeface="Verdana" pitchFamily="34" charset="0"/>
                <a:ea typeface="Verdana" pitchFamily="34" charset="-122"/>
                <a:cs typeface="Verdana" pitchFamily="34" charset="-120"/>
              </a:rPr>
              <a:t>     A DPA governs the relationship. It doesn’t control geography.</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5  </a:t>
            </a:r>
            <a:pPr indent="0" marL="0">
              <a:buNone/>
            </a:pPr>
            <a:r>
              <a:rPr lang="en-US" sz="2200" b="1" dirty="0">
                <a:solidFill>
                  <a:srgbClr val="FFFFFF"/>
                </a:solidFill>
                <a:latin typeface="Verdana" pitchFamily="34" charset="0"/>
                <a:ea typeface="Verdana" pitchFamily="34" charset="-122"/>
                <a:cs typeface="Verdana" pitchFamily="34" charset="-120"/>
              </a:rPr>
              <a:t>AI literacy training is now law</a:t>
            </a:r>
            <a:endParaRPr lang="en-US" sz="2400" dirty="0"/>
          </a:p>
          <a:p>
            <a:pPr indent="0" marL="0">
              <a:buNone/>
            </a:pPr>
            <a:r>
              <a:rPr lang="en-US" sz="2000" dirty="0">
                <a:solidFill>
                  <a:srgbClr val="8B95A5"/>
                </a:solidFill>
                <a:latin typeface="Verdana" pitchFamily="34" charset="0"/>
                <a:ea typeface="Verdana" pitchFamily="34" charset="-122"/>
                <a:cs typeface="Verdana" pitchFamily="34" charset="-120"/>
              </a:rPr>
              <a:t>     EU AI Act Article 4. Enforceable now. Not a suggestion.</a:t>
            </a:r>
            <a:endParaRPr lang="en-US" sz="2400" dirty="0"/>
          </a:p>
        </p:txBody>
      </p:sp>
      <p:sp>
        <p:nvSpPr>
          <p:cNvPr id="4" name="Text 2"/>
          <p:cNvSpPr/>
          <p:nvPr/>
        </p:nvSpPr>
        <p:spPr>
          <a:xfrm>
            <a:off x="640080" y="3474720"/>
            <a:ext cx="7863840" cy="640080"/>
          </a:xfrm>
          <a:prstGeom prst="rect">
            <a:avLst/>
          </a:prstGeom>
          <a:noFill/>
          <a:ln/>
        </p:spPr>
        <p:txBody>
          <a:bodyPr wrap="square" lIns="0" tIns="0" rIns="0" bIns="0" rtlCol="0" anchor="ctr"/>
          <a:lstStyle/>
          <a:p>
            <a:pPr indent="0" marL="0">
              <a:buNone/>
            </a:pPr>
            <a:r>
              <a:rPr lang="en-US" sz="1800" b="1" dirty="0">
                <a:solidFill>
                  <a:srgbClr val="FF6B8A"/>
                </a:solidFill>
                <a:latin typeface="Verdana" pitchFamily="34" charset="0"/>
                <a:ea typeface="Verdana" pitchFamily="34" charset="-122"/>
                <a:cs typeface="Verdana" pitchFamily="34" charset="-120"/>
              </a:rPr>
              <a:t>Fines: up to 4% global turnover (GDPR) or 7% (EU AI Act)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5400" b="1" dirty="0">
                <a:solidFill>
                  <a:srgbClr val="635BFF"/>
                </a:solidFill>
                <a:latin typeface="Georgia" pitchFamily="34" charset="0"/>
                <a:ea typeface="Georgia" pitchFamily="34" charset="-122"/>
                <a:cs typeface="Georgia" pitchFamily="34" charset="-120"/>
              </a:rPr>
              <a:t>Paying ≠ protected.</a:t>
            </a:r>
            <a:endParaRPr lang="en-US" sz="5400" dirty="0"/>
          </a:p>
        </p:txBody>
      </p:sp>
      <p:sp>
        <p:nvSpPr>
          <p:cNvPr id="4" name="Text 2"/>
          <p:cNvSpPr/>
          <p:nvPr/>
        </p:nvSpPr>
        <p:spPr>
          <a:xfrm>
            <a:off x="1371600" y="3840480"/>
            <a:ext cx="6400800" cy="731520"/>
          </a:xfrm>
          <a:prstGeom prst="rect">
            <a:avLst/>
          </a:prstGeom>
          <a:noFill/>
          <a:ln/>
        </p:spPr>
        <p:txBody>
          <a:bodyPr wrap="square" lIns="0" tIns="0" rIns="0" bIns="0" rtlCol="0" anchor="t"/>
          <a:lstStyle/>
          <a:p>
            <a:pPr algn="ctr" indent="0" marL="0">
              <a:buNone/>
            </a:pPr>
            <a:r>
              <a:rPr lang="en-US" sz="2400" dirty="0">
                <a:solidFill>
                  <a:srgbClr val="8B95A5"/>
                </a:solidFill>
                <a:latin typeface="Verdana" pitchFamily="34" charset="0"/>
                <a:ea typeface="Verdana" pitchFamily="34" charset="-122"/>
                <a:cs typeface="Verdana" pitchFamily="34" charset="-120"/>
              </a:rPr>
              <a:t>The tier matters. Not the price tag.</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FF6B8A"/>
                </a:solidFill>
                <a:latin typeface="Georgia" pitchFamily="34" charset="0"/>
                <a:ea typeface="Georgia" pitchFamily="34" charset="-122"/>
                <a:cs typeface="Georgia" pitchFamily="34" charset="-120"/>
              </a:rPr>
              <a:t>Consumer Tiers</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Training allowed</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 DPA</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 deletion controls</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09825D"/>
                </a:solidFill>
                <a:latin typeface="Georgia" pitchFamily="34" charset="0"/>
                <a:ea typeface="Georgia" pitchFamily="34" charset="-122"/>
                <a:cs typeface="Georgia" pitchFamily="34" charset="-120"/>
              </a:rPr>
              <a:t>Enterprise Tiers</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No training (contractual)</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DPA with EU SCCs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Compliance controls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So which tiers,</a:t>
            </a:r>
            <a:endParaRPr lang="en-US" sz="2800" dirty="0"/>
          </a:p>
          <a:p>
            <a:pPr algn="ctr" indent="0" marL="0">
              <a:buNone/>
            </a:pPr>
            <a:r>
              <a:rPr lang="en-US" sz="2800" i="1" dirty="0">
                <a:solidFill>
                  <a:srgbClr val="635BFF"/>
                </a:solidFill>
                <a:latin typeface="Georgia" pitchFamily="34" charset="0"/>
                <a:ea typeface="Georgia" pitchFamily="34" charset="-122"/>
                <a:cs typeface="Georgia" pitchFamily="34" charset="-120"/>
              </a:rPr>
              <a:t>from which providers?</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6400800" cy="731520"/>
          </a:xfrm>
          <a:prstGeom prst="rect">
            <a:avLst/>
          </a:prstGeom>
          <a:noFill/>
          <a:ln/>
        </p:spPr>
        <p:txBody>
          <a:bodyPr wrap="square" lIns="0" tIns="0" rIns="0" bIns="0" rtlCol="0" anchor="ctr"/>
          <a:lstStyle/>
          <a:p>
            <a:pPr indent="0" marL="0">
              <a:buNone/>
            </a:pPr>
            <a:r>
              <a:rPr lang="en-US" sz="4000" b="1" dirty="0">
                <a:solidFill>
                  <a:srgbClr val="1A1F36"/>
                </a:solidFill>
                <a:latin typeface="Georgia" pitchFamily="34" charset="0"/>
                <a:ea typeface="Georgia" pitchFamily="34" charset="-122"/>
                <a:cs typeface="Georgia" pitchFamily="34" charset="-120"/>
              </a:rPr>
              <a:t>The provider landscape</a:t>
            </a:r>
            <a:endParaRPr lang="en-US" sz="4000" dirty="0"/>
          </a:p>
        </p:txBody>
      </p:sp>
      <p:sp>
        <p:nvSpPr>
          <p:cNvPr id="3" name="Text 1"/>
          <p:cNvSpPr/>
          <p:nvPr/>
        </p:nvSpPr>
        <p:spPr>
          <a:xfrm>
            <a:off x="457200" y="822960"/>
            <a:ext cx="6400800" cy="365760"/>
          </a:xfrm>
          <a:prstGeom prst="rect">
            <a:avLst/>
          </a:prstGeom>
          <a:noFill/>
          <a:ln/>
        </p:spPr>
        <p:txBody>
          <a:bodyPr wrap="square" lIns="0" tIns="0" rIns="0" bIns="0" rtlCol="0" anchor="ctr"/>
          <a:lstStyle/>
          <a:p>
            <a:pPr indent="0" marL="0">
              <a:buNone/>
            </a:pPr>
            <a:r>
              <a:rPr lang="en-US" sz="1400" i="1" dirty="0">
                <a:solidFill>
                  <a:srgbClr val="635BFF"/>
                </a:solidFill>
                <a:latin typeface="Verdana" pitchFamily="34" charset="0"/>
                <a:ea typeface="Verdana" pitchFamily="34" charset="-122"/>
                <a:cs typeface="Verdana" pitchFamily="34" charset="-120"/>
              </a:rPr>
              <a:t>Last verified: February 2026</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8595360" cy="914400"/>
        </p:xfrm>
        <a:graphic>
          <a:graphicData uri="http://schemas.openxmlformats.org/drawingml/2006/table">
            <a:tbl>
              <a:tblPr/>
              <a:tblGrid>
                <a:gridCol w="1463040"/>
                <a:gridCol w="1737360"/>
                <a:gridCol w="1737360"/>
                <a:gridCol w="1737360"/>
                <a:gridCol w="1920240"/>
              </a:tblGrid>
              <a:tr h="457200">
                <a:tc>
                  <a:txBody>
                    <a:bodyPr/>
                    <a:lstStyle/>
                    <a:p>
                      <a:pPr indent="0" marL="0">
                        <a:buNone/>
                      </a:pP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OpenAI</a:t>
                      </a: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Anthropic</a:t>
                      </a: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Google</a:t>
                      </a: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Microsoft</a:t>
                      </a: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r>
              <a:tr h="502920">
                <a:tc>
                  <a:txBody>
                    <a:bodyPr/>
                    <a:lstStyle/>
                    <a:p>
                      <a:pPr indent="0" marL="0">
                        <a:buNone/>
                      </a:pPr>
                      <a:r>
                        <a:rPr lang="en-US" sz="1600" b="1" dirty="0">
                          <a:solidFill>
                            <a:srgbClr val="1A1F36"/>
                          </a:solidFill>
                          <a:latin typeface="Verdana" pitchFamily="34" charset="0"/>
                          <a:ea typeface="Verdana" pitchFamily="34" charset="-122"/>
                          <a:cs typeface="Verdana" pitchFamily="34" charset="-120"/>
                        </a:rPr>
                        <a:t>General use</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ChatGPT</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Claude.ai</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Gemini</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Copilot</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r>
              <a:tr h="502920">
                <a:tc>
                  <a:txBody>
                    <a:bodyPr/>
                    <a:lstStyle/>
                    <a:p>
                      <a:pPr indent="0" marL="0">
                        <a:buNone/>
                      </a:pPr>
                      <a:r>
                        <a:rPr lang="en-US" sz="1600" b="1" dirty="0">
                          <a:solidFill>
                            <a:srgbClr val="1A1F36"/>
                          </a:solidFill>
                          <a:latin typeface="Verdana" pitchFamily="34" charset="0"/>
                          <a:ea typeface="Verdana" pitchFamily="34" charset="-122"/>
                          <a:cs typeface="Verdana" pitchFamily="34" charset="-120"/>
                        </a:rPr>
                        <a:t>Coding</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Codex</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Claude Code</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Code Assist</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GitHub Copilot</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r>
              <a:tr h="685800">
                <a:tc>
                  <a:txBody>
                    <a:bodyPr/>
                    <a:lstStyle/>
                    <a:p>
                      <a:pPr indent="0" marL="0">
                        <a:buNone/>
                      </a:pPr>
                      <a:r>
                        <a:rPr lang="en-US" sz="1600" b="1" dirty="0">
                          <a:solidFill>
                            <a:srgbClr val="1A1F36"/>
                          </a:solidFill>
                          <a:latin typeface="Verdana" pitchFamily="34" charset="0"/>
                          <a:ea typeface="Verdana" pitchFamily="34" charset="-122"/>
                          <a:cs typeface="Verdana" pitchFamily="34" charset="-120"/>
                        </a:rPr>
                        <a:t>No-training tier</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Business /</a:t>
                      </a:r>
                      <a:endParaRPr lang="en-US" sz="1600" dirty="0">
                        <a:latin typeface="Verdana" charset="0"/>
                        <a:ea typeface="Verdana" charset="0"/>
                        <a:cs typeface="Verdana" charset="0"/>
                      </a:endParaRPr>
                    </a:p>
                    <a:p>
                      <a:pPr indent="0" marL="0">
                        <a:buNone/>
                      </a:pPr>
                      <a:r>
                        <a:rPr lang="en-US" sz="1600" dirty="0">
                          <a:solidFill>
                            <a:srgbClr val="1A1F36"/>
                          </a:solidFill>
                          <a:latin typeface="Verdana" pitchFamily="34" charset="0"/>
                          <a:ea typeface="Verdana" pitchFamily="34" charset="-122"/>
                          <a:cs typeface="Verdana" pitchFamily="34" charset="-120"/>
                        </a:rPr>
                        <a:t>Enterprise</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Team /</a:t>
                      </a:r>
                      <a:endParaRPr lang="en-US" sz="1600" dirty="0">
                        <a:latin typeface="Verdana" charset="0"/>
                        <a:ea typeface="Verdana" charset="0"/>
                        <a:cs typeface="Verdana" charset="0"/>
                      </a:endParaRPr>
                    </a:p>
                    <a:p>
                      <a:pPr indent="0" marL="0">
                        <a:buNone/>
                      </a:pPr>
                      <a:r>
                        <a:rPr lang="en-US" sz="1600" dirty="0">
                          <a:solidFill>
                            <a:srgbClr val="1A1F36"/>
                          </a:solidFill>
                          <a:latin typeface="Verdana" pitchFamily="34" charset="0"/>
                          <a:ea typeface="Verdana" pitchFamily="34" charset="-122"/>
                          <a:cs typeface="Verdana" pitchFamily="34" charset="-120"/>
                        </a:rPr>
                        <a:t>Enterprise / API</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Workspace /</a:t>
                      </a:r>
                      <a:endParaRPr lang="en-US" sz="1600" dirty="0">
                        <a:latin typeface="Verdana" charset="0"/>
                        <a:ea typeface="Verdana" charset="0"/>
                        <a:cs typeface="Verdana" charset="0"/>
                      </a:endParaRPr>
                    </a:p>
                    <a:p>
                      <a:pPr indent="0" marL="0">
                        <a:buNone/>
                      </a:pPr>
                      <a:r>
                        <a:rPr lang="en-US" sz="1600" dirty="0">
                          <a:solidFill>
                            <a:srgbClr val="1A1F36"/>
                          </a:solidFill>
                          <a:latin typeface="Verdana" pitchFamily="34" charset="0"/>
                          <a:ea typeface="Verdana" pitchFamily="34" charset="-122"/>
                          <a:cs typeface="Verdana" pitchFamily="34" charset="-120"/>
                        </a:rPr>
                        <a:t>Vertex</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600" dirty="0">
                          <a:solidFill>
                            <a:srgbClr val="1A1F36"/>
                          </a:solidFill>
                          <a:latin typeface="Verdana" pitchFamily="34" charset="0"/>
                          <a:ea typeface="Verdana" pitchFamily="34" charset="-122"/>
                          <a:cs typeface="Verdana" pitchFamily="34" charset="-120"/>
                        </a:rPr>
                        <a:t>M365 / GH</a:t>
                      </a:r>
                      <a:endParaRPr lang="en-US" sz="1600" dirty="0">
                        <a:latin typeface="Verdana" charset="0"/>
                        <a:ea typeface="Verdana" charset="0"/>
                        <a:cs typeface="Verdana" charset="0"/>
                      </a:endParaRPr>
                    </a:p>
                    <a:p>
                      <a:pPr indent="0" marL="0">
                        <a:buNone/>
                      </a:pPr>
                      <a:r>
                        <a:rPr lang="en-US" sz="1600" dirty="0">
                          <a:solidFill>
                            <a:srgbClr val="1A1F36"/>
                          </a:solidFill>
                          <a:latin typeface="Verdana" pitchFamily="34" charset="0"/>
                          <a:ea typeface="Verdana" pitchFamily="34" charset="-122"/>
                          <a:cs typeface="Verdana" pitchFamily="34" charset="-120"/>
                        </a:rPr>
                        <a:t>Business+</a:t>
                      </a:r>
                      <a:endParaRPr lang="en-US" sz="16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731520"/>
          </a:xfrm>
          <a:prstGeom prst="rect">
            <a:avLst/>
          </a:prstGeom>
          <a:noFill/>
          <a:ln/>
        </p:spPr>
        <p:txBody>
          <a:bodyPr wrap="square" lIns="0" tIns="0" rIns="0" bIns="0" rtlCol="0" anchor="ctr"/>
          <a:lstStyle/>
          <a:p>
            <a:pPr indent="0" marL="0">
              <a:buNone/>
            </a:pPr>
            <a:r>
              <a:rPr lang="en-US" sz="4000" b="1" dirty="0">
                <a:solidFill>
                  <a:srgbClr val="1A1F36"/>
                </a:solidFill>
                <a:latin typeface="Georgia" pitchFamily="34" charset="0"/>
                <a:ea typeface="Georgia" pitchFamily="34" charset="-122"/>
                <a:cs typeface="Georgia" pitchFamily="34" charset="-120"/>
              </a:rPr>
              <a:t>Compliance &amp; data residency</a:t>
            </a:r>
            <a:endParaRPr lang="en-US" sz="4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914400"/>
        </p:xfrm>
        <a:graphic>
          <a:graphicData uri="http://schemas.openxmlformats.org/drawingml/2006/table">
            <a:tbl>
              <a:tblPr/>
              <a:tblGrid>
                <a:gridCol w="1463040"/>
                <a:gridCol w="1737360"/>
                <a:gridCol w="1737360"/>
                <a:gridCol w="1737360"/>
                <a:gridCol w="1920240"/>
              </a:tblGrid>
              <a:tr h="457200">
                <a:tc>
                  <a:txBody>
                    <a:bodyPr/>
                    <a:lstStyle/>
                    <a:p>
                      <a:pPr indent="0" marL="0">
                        <a:buNone/>
                      </a:pP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OpenAI</a:t>
                      </a: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Anthropic</a:t>
                      </a: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Google</a:t>
                      </a: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c>
                  <a:txBody>
                    <a:bodyPr/>
                    <a:lstStyle/>
                    <a:p>
                      <a:pPr indent="0" marL="0">
                        <a:buNone/>
                      </a:pPr>
                      <a:r>
                        <a:rPr lang="en-US" sz="1800" b="1" dirty="0">
                          <a:solidFill>
                            <a:srgbClr val="FFFFFF"/>
                          </a:solidFill>
                          <a:latin typeface="Verdana" pitchFamily="34" charset="0"/>
                          <a:ea typeface="Verdana" pitchFamily="34" charset="-122"/>
                          <a:cs typeface="Verdana" pitchFamily="34" charset="-120"/>
                        </a:rPr>
                        <a:t>Microsoft</a:t>
                      </a:r>
                      <a:endParaRPr lang="en-US" sz="18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solidFill>
                      <a:srgbClr val="635BFF"/>
                    </a:solidFill>
                  </a:tcPr>
                </a:tc>
              </a:tr>
              <a:tr h="594360">
                <a:tc>
                  <a:txBody>
                    <a:bodyPr/>
                    <a:lstStyle/>
                    <a:p>
                      <a:pPr indent="0" marL="0">
                        <a:buNone/>
                      </a:pPr>
                      <a:r>
                        <a:rPr lang="en-US" sz="1500" b="1" dirty="0">
                          <a:solidFill>
                            <a:srgbClr val="1A1F36"/>
                          </a:solidFill>
                          <a:latin typeface="Verdana" pitchFamily="34" charset="0"/>
                          <a:ea typeface="Verdana" pitchFamily="34" charset="-122"/>
                          <a:cs typeface="Verdana" pitchFamily="34" charset="-120"/>
                        </a:rPr>
                        <a:t>DPA</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Business /</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Enterprise / API</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Team /</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Enterprise / API</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Workspace /</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Vertex</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M365 / Azure /</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GH Business+</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r>
              <a:tr h="594360">
                <a:tc>
                  <a:txBody>
                    <a:bodyPr/>
                    <a:lstStyle/>
                    <a:p>
                      <a:pPr indent="0" marL="0">
                        <a:buNone/>
                      </a:pPr>
                      <a:r>
                        <a:rPr lang="en-US" sz="1500" b="1" dirty="0">
                          <a:solidFill>
                            <a:srgbClr val="1A1F36"/>
                          </a:solidFill>
                          <a:latin typeface="Verdana" pitchFamily="34" charset="0"/>
                          <a:ea typeface="Verdana" pitchFamily="34" charset="-122"/>
                          <a:cs typeface="Verdana" pitchFamily="34" charset="-120"/>
                        </a:rPr>
                        <a:t>EU residency</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Enterprise /</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Edu + API</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No direct</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(via GCP / AWS)</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Native</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(10+ EU regions)</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EU Boundary</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 Azure</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r>
              <a:tr h="594360">
                <a:tc>
                  <a:txBody>
                    <a:bodyPr/>
                    <a:lstStyle/>
                    <a:p>
                      <a:pPr indent="0" marL="0">
                        <a:buNone/>
                      </a:pPr>
                      <a:r>
                        <a:rPr lang="en-US" sz="1500" b="1" dirty="0">
                          <a:solidFill>
                            <a:srgbClr val="1A1F36"/>
                          </a:solidFill>
                          <a:latin typeface="Verdana" pitchFamily="34" charset="0"/>
                          <a:ea typeface="Verdana" pitchFamily="34" charset="-122"/>
                          <a:cs typeface="Verdana" pitchFamily="34" charset="-120"/>
                        </a:rPr>
                        <a:t>Transfer</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SCCs</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(no DPF)</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SCCs</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(Ireland entity)</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CDPA</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c>
                  <a:txBody>
                    <a:bodyPr/>
                    <a:lstStyle/>
                    <a:p>
                      <a:pPr indent="0" marL="0">
                        <a:buNone/>
                      </a:pPr>
                      <a:r>
                        <a:rPr lang="en-US" sz="1500" dirty="0">
                          <a:solidFill>
                            <a:srgbClr val="1A1F36"/>
                          </a:solidFill>
                          <a:latin typeface="Verdana" pitchFamily="34" charset="0"/>
                          <a:ea typeface="Verdana" pitchFamily="34" charset="-122"/>
                          <a:cs typeface="Verdana" pitchFamily="34" charset="-120"/>
                        </a:rPr>
                        <a:t>DPA +</a:t>
                      </a:r>
                      <a:endParaRPr lang="en-US" sz="1500" dirty="0">
                        <a:latin typeface="Verdana" charset="0"/>
                        <a:ea typeface="Verdana" charset="0"/>
                        <a:cs typeface="Verdana" charset="0"/>
                      </a:endParaRPr>
                    </a:p>
                    <a:p>
                      <a:pPr indent="0" marL="0">
                        <a:buNone/>
                      </a:pPr>
                      <a:r>
                        <a:rPr lang="en-US" sz="1500" dirty="0">
                          <a:solidFill>
                            <a:srgbClr val="1A1F36"/>
                          </a:solidFill>
                          <a:latin typeface="Verdana" pitchFamily="34" charset="0"/>
                          <a:ea typeface="Verdana" pitchFamily="34" charset="-122"/>
                          <a:cs typeface="Verdana" pitchFamily="34" charset="-120"/>
                        </a:rPr>
                        <a:t>EU Boundary</a:t>
                      </a:r>
                      <a:endParaRPr lang="en-US" sz="1500" dirty="0">
                        <a:latin typeface="Verdana" charset="0"/>
                        <a:ea typeface="Verdana" charset="0"/>
                        <a:cs typeface="Verdana" charset="0"/>
                      </a:endParaRPr>
                    </a:p>
                  </a:txBody>
                  <a:tcPr marL="91440" marR="91440" marT="45720" marB="45720">
                    <a:lnL w="12700" cap="flat" cmpd="sng" algn="ctr">
                      <a:solidFill>
                        <a:srgbClr val="8B95A5"/>
                      </a:solidFill>
                      <a:prstDash val="solid"/>
                      <a:round/>
                      <a:headEnd type="none" w="med" len="med"/>
                      <a:tailEnd type="none" w="med" len="med"/>
                    </a:lnL>
                    <a:lnR w="12700" cap="flat" cmpd="sng" algn="ctr">
                      <a:solidFill>
                        <a:srgbClr val="8B95A5"/>
                      </a:solidFill>
                      <a:prstDash val="solid"/>
                      <a:round/>
                      <a:headEnd type="none" w="med" len="med"/>
                      <a:tailEnd type="none" w="med" len="med"/>
                    </a:lnR>
                    <a:lnT w="12700" cap="flat" cmpd="sng" algn="ctr">
                      <a:solidFill>
                        <a:srgbClr val="8B95A5"/>
                      </a:solidFill>
                      <a:prstDash val="solid"/>
                      <a:round/>
                      <a:headEnd type="none" w="med" len="med"/>
                      <a:tailEnd type="none" w="med" len="med"/>
                    </a:lnT>
                    <a:lnB w="12700" cap="flat" cmpd="sng" algn="ctr">
                      <a:solidFill>
                        <a:srgbClr val="8B95A5"/>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A DPA ≠ data residency.</a:t>
            </a:r>
            <a:endParaRPr lang="en-US" sz="5400" dirty="0"/>
          </a:p>
        </p:txBody>
      </p:sp>
      <p:sp>
        <p:nvSpPr>
          <p:cNvPr id="4" name="Text 2"/>
          <p:cNvSpPr/>
          <p:nvPr/>
        </p:nvSpPr>
        <p:spPr>
          <a:xfrm>
            <a:off x="1371600" y="3840480"/>
            <a:ext cx="6400800" cy="731520"/>
          </a:xfrm>
          <a:prstGeom prst="rect">
            <a:avLst/>
          </a:prstGeom>
          <a:noFill/>
          <a:ln/>
        </p:spPr>
        <p:txBody>
          <a:bodyPr wrap="square" lIns="0" tIns="0" rIns="0" bIns="0" rtlCol="0" anchor="t"/>
          <a:lstStyle/>
          <a:p>
            <a:pPr algn="ctr" indent="0" marL="0">
              <a:buNone/>
            </a:pPr>
            <a:r>
              <a:rPr lang="en-US" sz="2400" dirty="0">
                <a:solidFill>
                  <a:srgbClr val="8B95A5"/>
                </a:solidFill>
                <a:latin typeface="Verdana" pitchFamily="34" charset="0"/>
                <a:ea typeface="Verdana" pitchFamily="34" charset="-122"/>
                <a:cs typeface="Verdana" pitchFamily="34" charset="-120"/>
              </a:rPr>
              <a:t>One governs the relationship.</a:t>
            </a:r>
            <a:endParaRPr lang="en-US" sz="2400" dirty="0"/>
          </a:p>
          <a:p>
            <a:pPr algn="ctr" indent="0" marL="0">
              <a:buNone/>
            </a:pPr>
            <a:r>
              <a:rPr lang="en-US" sz="2400" dirty="0">
                <a:solidFill>
                  <a:srgbClr val="8B95A5"/>
                </a:solidFill>
                <a:latin typeface="Verdana" pitchFamily="34" charset="0"/>
                <a:ea typeface="Verdana" pitchFamily="34" charset="-122"/>
                <a:cs typeface="Verdana" pitchFamily="34" charset="-120"/>
              </a:rPr>
              <a:t>The other controls the geography.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DPA + SCCs</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Legally defensible</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Same as Salesforce, M365</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Data goes to US servers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SCCs invalidated twice before</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EU Data Residency</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Data never leaves the EU</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 cross-border transfer</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 Schrems-style risk</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Stronger regulatory posture</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6B8A"/>
                </a:solidFill>
                <a:latin typeface="Georgia" pitchFamily="34" charset="0"/>
                <a:ea typeface="Georgia" pitchFamily="34" charset="-122"/>
                <a:cs typeface="Georgia" pitchFamily="34" charset="-120"/>
              </a:rPr>
              <a:t>11%</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of data pasted into ChatGPT</a:t>
            </a:r>
            <a:endParaRPr lang="en-US" sz="2800" dirty="0"/>
          </a:p>
          <a:p>
            <a:pPr algn="ctr" indent="0" marL="0">
              <a:buNone/>
            </a:pPr>
            <a:r>
              <a:rPr lang="en-US" sz="2800" dirty="0">
                <a:solidFill>
                  <a:srgbClr val="8B95A5"/>
                </a:solidFill>
                <a:latin typeface="Verdana" pitchFamily="34" charset="0"/>
                <a:ea typeface="Verdana" pitchFamily="34" charset="-122"/>
                <a:cs typeface="Verdana" pitchFamily="34" charset="-120"/>
              </a:rPr>
              <a:t>is sensitive</a:t>
            </a:r>
            <a:endParaRPr lang="en-US" sz="2800" dirty="0"/>
          </a:p>
        </p:txBody>
      </p:sp>
      <p:sp>
        <p:nvSpPr>
          <p:cNvPr id="5" name="Text 3"/>
          <p:cNvSpPr/>
          <p:nvPr/>
        </p:nvSpPr>
        <p:spPr>
          <a:xfrm>
            <a:off x="457200" y="4572000"/>
            <a:ext cx="8229600" cy="365760"/>
          </a:xfrm>
          <a:prstGeom prst="rect">
            <a:avLst/>
          </a:prstGeom>
          <a:noFill/>
          <a:ln/>
        </p:spPr>
        <p:txBody>
          <a:bodyPr wrap="square" lIns="0" tIns="0" rIns="0" bIns="0" rtlCol="0" anchor="b"/>
          <a:lstStyle/>
          <a:p>
            <a:pPr algn="r" indent="0" marL="0">
              <a:buNone/>
            </a:pPr>
            <a:r>
              <a:rPr lang="en-US" sz="11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Cyberhaven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5400" b="1" dirty="0">
                <a:solidFill>
                  <a:srgbClr val="635BFF"/>
                </a:solidFill>
                <a:latin typeface="Georgia" pitchFamily="34" charset="0"/>
                <a:ea typeface="Georgia" pitchFamily="34" charset="-122"/>
                <a:cs typeface="Georgia" pitchFamily="34" charset="-120"/>
              </a:rPr>
              <a:t>Assume PII will enter</a:t>
            </a:r>
            <a:endParaRPr lang="en-US" sz="5400" dirty="0"/>
          </a:p>
          <a:p>
            <a:pPr algn="ctr" indent="0" marL="0">
              <a:buNone/>
            </a:pPr>
            <a:r>
              <a:rPr lang="en-US" sz="5400" b="1" dirty="0">
                <a:solidFill>
                  <a:srgbClr val="635BFF"/>
                </a:solidFill>
                <a:latin typeface="Georgia" pitchFamily="34" charset="0"/>
                <a:ea typeface="Georgia" pitchFamily="34" charset="-122"/>
                <a:cs typeface="Georgia" pitchFamily="34" charset="-120"/>
              </a:rPr>
              <a:t>your tools.</a:t>
            </a:r>
            <a:endParaRPr lang="en-US" sz="5400" dirty="0"/>
          </a:p>
        </p:txBody>
      </p:sp>
      <p:sp>
        <p:nvSpPr>
          <p:cNvPr id="4" name="Text 2"/>
          <p:cNvSpPr/>
          <p:nvPr/>
        </p:nvSpPr>
        <p:spPr>
          <a:xfrm>
            <a:off x="1371600" y="3840480"/>
            <a:ext cx="6400800" cy="731520"/>
          </a:xfrm>
          <a:prstGeom prst="rect">
            <a:avLst/>
          </a:prstGeom>
          <a:noFill/>
          <a:ln/>
        </p:spPr>
        <p:txBody>
          <a:bodyPr wrap="square" lIns="0" tIns="0" rIns="0" bIns="0" rtlCol="0" anchor="t"/>
          <a:lstStyle/>
          <a:p>
            <a:pPr algn="ctr" indent="0" marL="0">
              <a:buNone/>
            </a:pPr>
            <a:r>
              <a:rPr lang="en-US" sz="2400" dirty="0">
                <a:solidFill>
                  <a:srgbClr val="8B95A5"/>
                </a:solidFill>
                <a:latin typeface="Verdana" pitchFamily="34" charset="0"/>
                <a:ea typeface="Verdana" pitchFamily="34" charset="-122"/>
                <a:cs typeface="Verdana" pitchFamily="34" charset="-120"/>
              </a:rPr>
              <a:t>Make the default path safe enough</a:t>
            </a:r>
            <a:endParaRPr lang="en-US" sz="2400" dirty="0"/>
          </a:p>
          <a:p>
            <a:pPr algn="ctr" indent="0" marL="0">
              <a:buNone/>
            </a:pPr>
            <a:r>
              <a:rPr lang="en-US" sz="2400" dirty="0">
                <a:solidFill>
                  <a:srgbClr val="8B95A5"/>
                </a:solidFill>
                <a:latin typeface="Verdana" pitchFamily="34" charset="0"/>
                <a:ea typeface="Verdana" pitchFamily="34" charset="-122"/>
                <a:cs typeface="Verdana" pitchFamily="34" charset="-120"/>
              </a:rPr>
              <a:t>that it doesn’t matter.</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Any model, any cloud,</a:t>
            </a:r>
            <a:endParaRPr lang="en-US" sz="5400" dirty="0"/>
          </a:p>
          <a:p>
            <a:pPr algn="ctr" indent="0" marL="0">
              <a:buNone/>
            </a:pPr>
            <a:r>
              <a:rPr lang="en-US" sz="5400" b="1" dirty="0">
                <a:solidFill>
                  <a:srgbClr val="FFFFFF"/>
                </a:solidFill>
                <a:latin typeface="Georgia" pitchFamily="34" charset="0"/>
                <a:ea typeface="Georgia" pitchFamily="34" charset="-122"/>
                <a:cs typeface="Georgia" pitchFamily="34" charset="-120"/>
              </a:rPr>
              <a:t>EU-resident.</a:t>
            </a:r>
            <a:endParaRPr lang="en-US" sz="5400" dirty="0"/>
          </a:p>
        </p:txBody>
      </p:sp>
      <p:sp>
        <p:nvSpPr>
          <p:cNvPr id="4" name="Text 2"/>
          <p:cNvSpPr/>
          <p:nvPr/>
        </p:nvSpPr>
        <p:spPr>
          <a:xfrm>
            <a:off x="1371600" y="3840480"/>
            <a:ext cx="6400800" cy="731520"/>
          </a:xfrm>
          <a:prstGeom prst="rect">
            <a:avLst/>
          </a:prstGeom>
          <a:noFill/>
          <a:ln/>
        </p:spPr>
        <p:txBody>
          <a:bodyPr wrap="square" lIns="0" tIns="0" rIns="0" bIns="0" rtlCol="0" anchor="t"/>
          <a:lstStyle/>
          <a:p>
            <a:pPr algn="ctr" indent="0" marL="0">
              <a:buNone/>
            </a:pPr>
            <a:r>
              <a:rPr lang="en-US" sz="2400" dirty="0">
                <a:solidFill>
                  <a:srgbClr val="8B95A5"/>
                </a:solidFill>
                <a:latin typeface="Verdana" pitchFamily="34" charset="0"/>
                <a:ea typeface="Verdana" pitchFamily="34" charset="-122"/>
                <a:cs typeface="Verdana" pitchFamily="34" charset="-120"/>
              </a:rPr>
              <a:t>Claude on GCP · Claude on AWS · Azure OpenAI · M365 Copilot</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Everyday Use</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Email, research, analysis</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Customer names will enter</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No enforceable boundary</a:t>
            </a:r>
            <a:endParaRPr lang="en-US" sz="2200" dirty="0"/>
          </a:p>
          <a:p>
            <a:pPr algn="ctr" indent="0" marL="0">
              <a:buNone/>
            </a:pP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 Default to EU-resident</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Coding</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You control the data</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Test data → enterprise tier</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Production data → EU-resident</a:t>
            </a:r>
            <a:endParaRPr lang="en-US" sz="2200" dirty="0"/>
          </a:p>
          <a:p>
            <a:pPr algn="ctr" indent="0" marL="0">
              <a:buNone/>
            </a:pP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 Two paths possible</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274320"/>
            <a:ext cx="8229600" cy="82296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boundary only works for code.</a:t>
            </a:r>
            <a:endParaRPr lang="en-US" sz="3600" dirty="0"/>
          </a:p>
        </p:txBody>
      </p:sp>
      <p:sp>
        <p:nvSpPr>
          <p:cNvPr id="4" name="Text 2"/>
          <p:cNvSpPr/>
          <p:nvPr/>
        </p:nvSpPr>
        <p:spPr>
          <a:xfrm>
            <a:off x="640080" y="1371600"/>
            <a:ext cx="7863840" cy="3200400"/>
          </a:xfrm>
          <a:prstGeom prst="rect">
            <a:avLst/>
          </a:prstGeom>
          <a:noFill/>
          <a:ln/>
        </p:spPr>
        <p:txBody>
          <a:bodyPr wrap="square" lIns="0" tIns="0" rIns="0" bIns="0" rtlCol="0" anchor="t"/>
          <a:lstStyle/>
          <a:p>
            <a:pPr indent="0" marL="0">
              <a:buNone/>
            </a:pPr>
            <a:r>
              <a:rPr lang="en-US" sz="2200" dirty="0">
                <a:solidFill>
                  <a:srgbClr val="EDEDED"/>
                </a:solidFill>
                <a:latin typeface="Verdana" pitchFamily="34" charset="0"/>
                <a:ea typeface="Verdana" pitchFamily="34" charset="-122"/>
                <a:cs typeface="Verdana" pitchFamily="34" charset="-120"/>
              </a:rPr>
              <a:t>Marketing drafting a client email</a:t>
            </a:r>
            <a:pPr indent="0" marL="0">
              <a:buNone/>
            </a:pPr>
            <a:r>
              <a:rPr lang="en-US" sz="2200" dirty="0">
                <a:solidFill>
                  <a:srgbClr val="8B95A5"/>
                </a:solidFill>
                <a:latin typeface="Verdana" pitchFamily="34" charset="0"/>
                <a:ea typeface="Verdana" pitchFamily="34" charset="-122"/>
                <a:cs typeface="Verdana" pitchFamily="34" charset="-120"/>
              </a:rPr>
              <a:t>  →  </a:t>
            </a:r>
            <a:pPr indent="0" marL="0">
              <a:buNone/>
            </a:pPr>
            <a:r>
              <a:rPr lang="en-US" sz="2200" b="1" dirty="0">
                <a:solidFill>
                  <a:srgbClr val="FF6B8A"/>
                </a:solidFill>
                <a:latin typeface="Verdana" pitchFamily="34" charset="0"/>
                <a:ea typeface="Verdana" pitchFamily="34" charset="-122"/>
                <a:cs typeface="Verdana" pitchFamily="34" charset="-120"/>
              </a:rPr>
              <a:t>PII enters</a:t>
            </a:r>
            <a:endParaRPr lang="en-US" sz="2200" dirty="0"/>
          </a:p>
          <a:p>
            <a:pPr indent="0" marL="0">
              <a:buNone/>
            </a:pPr>
            <a:endParaRPr lang="en-US" sz="2200" dirty="0"/>
          </a:p>
          <a:p>
            <a:pPr indent="0" marL="0">
              <a:buNone/>
            </a:pPr>
            <a:r>
              <a:rPr lang="en-US" sz="2200" dirty="0">
                <a:solidFill>
                  <a:srgbClr val="EDEDED"/>
                </a:solidFill>
                <a:latin typeface="Verdana" pitchFamily="34" charset="0"/>
                <a:ea typeface="Verdana" pitchFamily="34" charset="-122"/>
                <a:cs typeface="Verdana" pitchFamily="34" charset="-120"/>
              </a:rPr>
              <a:t>Ops evaluating a customer claim</a:t>
            </a:r>
            <a:pPr indent="0" marL="0">
              <a:buNone/>
            </a:pPr>
            <a:r>
              <a:rPr lang="en-US" sz="2200" dirty="0">
                <a:solidFill>
                  <a:srgbClr val="8B95A5"/>
                </a:solidFill>
                <a:latin typeface="Verdana" pitchFamily="34" charset="0"/>
                <a:ea typeface="Verdana" pitchFamily="34" charset="-122"/>
                <a:cs typeface="Verdana" pitchFamily="34" charset="-120"/>
              </a:rPr>
              <a:t>  →  </a:t>
            </a:r>
            <a:pPr indent="0" marL="0">
              <a:buNone/>
            </a:pPr>
            <a:r>
              <a:rPr lang="en-US" sz="2200" b="1" dirty="0">
                <a:solidFill>
                  <a:srgbClr val="FF6B8A"/>
                </a:solidFill>
                <a:latin typeface="Verdana" pitchFamily="34" charset="0"/>
                <a:ea typeface="Verdana" pitchFamily="34" charset="-122"/>
                <a:cs typeface="Verdana" pitchFamily="34" charset="-120"/>
              </a:rPr>
              <a:t>PII enters</a:t>
            </a:r>
            <a:endParaRPr lang="en-US" sz="2200" dirty="0"/>
          </a:p>
          <a:p>
            <a:pPr indent="0" marL="0">
              <a:buNone/>
            </a:pPr>
            <a:endParaRPr lang="en-US" sz="2200" dirty="0"/>
          </a:p>
          <a:p>
            <a:pPr indent="0" marL="0">
              <a:buNone/>
            </a:pPr>
            <a:r>
              <a:rPr lang="en-US" sz="2200" dirty="0">
                <a:solidFill>
                  <a:srgbClr val="EDEDED"/>
                </a:solidFill>
                <a:latin typeface="Verdana" pitchFamily="34" charset="0"/>
                <a:ea typeface="Verdana" pitchFamily="34" charset="-122"/>
                <a:cs typeface="Verdana" pitchFamily="34" charset="-120"/>
              </a:rPr>
              <a:t>Engineering coding with test data</a:t>
            </a:r>
            <a:pPr indent="0" marL="0">
              <a:buNone/>
            </a:pPr>
            <a:r>
              <a:rPr lang="en-US" sz="2200" dirty="0">
                <a:solidFill>
                  <a:srgbClr val="8B95A5"/>
                </a:solidFill>
                <a:latin typeface="Verdana" pitchFamily="34" charset="0"/>
                <a:ea typeface="Verdana" pitchFamily="34" charset="-122"/>
                <a:cs typeface="Verdana" pitchFamily="34" charset="-120"/>
              </a:rPr>
              <a:t>  →  </a:t>
            </a:r>
            <a:pPr indent="0" marL="0">
              <a:buNone/>
            </a:pPr>
            <a:r>
              <a:rPr lang="en-US" sz="2200" b="1" dirty="0">
                <a:solidFill>
                  <a:srgbClr val="09825D"/>
                </a:solidFill>
                <a:latin typeface="Verdana" pitchFamily="34" charset="0"/>
                <a:ea typeface="Verdana" pitchFamily="34" charset="-122"/>
                <a:cs typeface="Verdana" pitchFamily="34" charset="-120"/>
              </a:rPr>
              <a:t>no PII</a:t>
            </a:r>
            <a:endParaRPr lang="en-US" sz="2200" dirty="0"/>
          </a:p>
          <a:p>
            <a:pPr indent="0" marL="0">
              <a:buNone/>
            </a:pPr>
            <a:endParaRPr lang="en-US" sz="2200" dirty="0"/>
          </a:p>
          <a:p>
            <a:pPr indent="0" marL="0">
              <a:buNone/>
            </a:pPr>
            <a:r>
              <a:rPr lang="en-US" sz="2200" dirty="0">
                <a:solidFill>
                  <a:srgbClr val="EDEDED"/>
                </a:solidFill>
                <a:latin typeface="Verdana" pitchFamily="34" charset="0"/>
                <a:ea typeface="Verdana" pitchFamily="34" charset="-122"/>
                <a:cs typeface="Verdana" pitchFamily="34" charset="-120"/>
              </a:rPr>
              <a:t>Engineering debugging production</a:t>
            </a:r>
            <a:pPr indent="0" marL="0">
              <a:buNone/>
            </a:pPr>
            <a:r>
              <a:rPr lang="en-US" sz="2200" dirty="0">
                <a:solidFill>
                  <a:srgbClr val="8B95A5"/>
                </a:solidFill>
                <a:latin typeface="Verdana" pitchFamily="34" charset="0"/>
                <a:ea typeface="Verdana" pitchFamily="34" charset="-122"/>
                <a:cs typeface="Verdana" pitchFamily="34" charset="-120"/>
              </a:rPr>
              <a:t>  →  </a:t>
            </a:r>
            <a:pPr indent="0" marL="0">
              <a:buNone/>
            </a:pPr>
            <a:r>
              <a:rPr lang="en-US" sz="2200" b="1" dirty="0">
                <a:solidFill>
                  <a:srgbClr val="FF6B8A"/>
                </a:solidFill>
                <a:latin typeface="Verdana" pitchFamily="34" charset="0"/>
                <a:ea typeface="Verdana" pitchFamily="34" charset="-122"/>
                <a:cs typeface="Verdana" pitchFamily="34" charset="-120"/>
              </a:rPr>
              <a:t>PII enters</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Time for the actual decision.</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274320"/>
            <a:ext cx="8229600" cy="10058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Five questions to ask</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before any vendor conversation</a:t>
            </a:r>
            <a:endParaRPr lang="en-US" sz="3400" dirty="0"/>
          </a:p>
        </p:txBody>
      </p:sp>
      <p:sp>
        <p:nvSpPr>
          <p:cNvPr id="4" name="Text 2"/>
          <p:cNvSpPr/>
          <p:nvPr/>
        </p:nvSpPr>
        <p:spPr>
          <a:xfrm>
            <a:off x="640080" y="1463040"/>
            <a:ext cx="7863840" cy="3383280"/>
          </a:xfrm>
          <a:prstGeom prst="rect">
            <a:avLst/>
          </a:prstGeom>
          <a:noFill/>
          <a:ln/>
        </p:spPr>
        <p:txBody>
          <a:bodyPr wrap="square" lIns="0" tIns="0" rIns="0" bIns="0" rtlCol="0" anchor="t"/>
          <a:lstStyle/>
          <a:p>
            <a:pPr indent="0" marL="0">
              <a:buNone/>
            </a:pPr>
            <a:r>
              <a:rPr lang="en-US" sz="2400" b="1" dirty="0">
                <a:solidFill>
                  <a:srgbClr val="635BFF"/>
                </a:solidFill>
                <a:latin typeface="Verdana" pitchFamily="34" charset="0"/>
                <a:ea typeface="Verdana" pitchFamily="34" charset="-122"/>
                <a:cs typeface="Verdana" pitchFamily="34" charset="-120"/>
              </a:rPr>
              <a:t>1  </a:t>
            </a:r>
            <a:pPr indent="0" marL="0">
              <a:buNone/>
            </a:pPr>
            <a:r>
              <a:rPr lang="en-US" sz="2400" dirty="0">
                <a:solidFill>
                  <a:srgbClr val="EDEDED"/>
                </a:solidFill>
                <a:latin typeface="Verdana" pitchFamily="34" charset="0"/>
                <a:ea typeface="Verdana" pitchFamily="34" charset="-122"/>
                <a:cs typeface="Verdana" pitchFamily="34" charset="-120"/>
              </a:rPr>
              <a:t>What data touches the tool?</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2  </a:t>
            </a:r>
            <a:pPr indent="0" marL="0">
              <a:buNone/>
            </a:pPr>
            <a:r>
              <a:rPr lang="en-US" sz="2400" dirty="0">
                <a:solidFill>
                  <a:srgbClr val="EDEDED"/>
                </a:solidFill>
                <a:latin typeface="Verdana" pitchFamily="34" charset="0"/>
                <a:ea typeface="Verdana" pitchFamily="34" charset="-122"/>
                <a:cs typeface="Verdana" pitchFamily="34" charset="-120"/>
              </a:rPr>
              <a:t>Where are your customers?</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3  </a:t>
            </a:r>
            <a:pPr indent="0" marL="0">
              <a:buNone/>
            </a:pPr>
            <a:r>
              <a:rPr lang="en-US" sz="2400" dirty="0">
                <a:solidFill>
                  <a:srgbClr val="EDEDED"/>
                </a:solidFill>
                <a:latin typeface="Verdana" pitchFamily="34" charset="0"/>
                <a:ea typeface="Verdana" pitchFamily="34" charset="-122"/>
                <a:cs typeface="Verdana" pitchFamily="34" charset="-120"/>
              </a:rPr>
              <a:t>Engineering vs everyone else?</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4  </a:t>
            </a:r>
            <a:pPr indent="0" marL="0">
              <a:buNone/>
            </a:pPr>
            <a:r>
              <a:rPr lang="en-US" sz="2400" dirty="0">
                <a:solidFill>
                  <a:srgbClr val="EDEDED"/>
                </a:solidFill>
                <a:latin typeface="Verdana" pitchFamily="34" charset="0"/>
                <a:ea typeface="Verdana" pitchFamily="34" charset="-122"/>
                <a:cs typeface="Verdana" pitchFamily="34" charset="-120"/>
              </a:rPr>
              <a:t>How many tools can you manage?</a:t>
            </a:r>
            <a:endParaRPr lang="en-US" sz="2400" dirty="0"/>
          </a:p>
          <a:p>
            <a:pPr indent="0" marL="0">
              <a:buNone/>
            </a:pPr>
            <a:endParaRPr lang="en-US" sz="2400" dirty="0"/>
          </a:p>
          <a:p>
            <a:pPr indent="0" marL="0">
              <a:buNone/>
            </a:pPr>
            <a:r>
              <a:rPr lang="en-US" sz="2400" b="1" dirty="0">
                <a:solidFill>
                  <a:srgbClr val="635BFF"/>
                </a:solidFill>
                <a:latin typeface="Verdana" pitchFamily="34" charset="0"/>
                <a:ea typeface="Verdana" pitchFamily="34" charset="-122"/>
                <a:cs typeface="Verdana" pitchFamily="34" charset="-120"/>
              </a:rPr>
              <a:t>5  </a:t>
            </a:r>
            <a:pPr indent="0" marL="0">
              <a:buNone/>
            </a:pPr>
            <a:r>
              <a:rPr lang="en-US" sz="2400" dirty="0">
                <a:solidFill>
                  <a:srgbClr val="EDEDED"/>
                </a:solidFill>
                <a:latin typeface="Verdana" pitchFamily="34" charset="0"/>
                <a:ea typeface="Verdana" pitchFamily="34" charset="-122"/>
                <a:cs typeface="Verdana" pitchFamily="34" charset="-120"/>
              </a:rPr>
              <a:t>What’s your compliance maturity?</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463040"/>
            <a:ext cx="822960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The Recommended Setup</a:t>
            </a:r>
            <a:endParaRPr lang="en-US" sz="5400" dirty="0"/>
          </a:p>
        </p:txBody>
      </p:sp>
      <p:sp>
        <p:nvSpPr>
          <p:cNvPr id="4" name="Text 2"/>
          <p:cNvSpPr/>
          <p:nvPr/>
        </p:nvSpPr>
        <p:spPr>
          <a:xfrm>
            <a:off x="914400" y="2651760"/>
            <a:ext cx="7315200" cy="548640"/>
          </a:xfrm>
          <a:prstGeom prst="rect">
            <a:avLst/>
          </a:prstGeom>
          <a:noFill/>
          <a:ln/>
        </p:spPr>
        <p:txBody>
          <a:bodyPr wrap="square" lIns="0" tIns="0" rIns="0" bIns="0" rtlCol="0" anchor="ctr"/>
          <a:lstStyle/>
          <a:p>
            <a:pPr algn="ctr" indent="0" marL="0">
              <a:buNone/>
            </a:pPr>
            <a:r>
              <a:rPr lang="en-US" sz="2800" i="1" dirty="0">
                <a:solidFill>
                  <a:srgbClr val="635BFF"/>
                </a:solidFill>
                <a:latin typeface="Verdana" pitchFamily="34" charset="0"/>
                <a:ea typeface="Verdana" pitchFamily="34" charset="-122"/>
                <a:cs typeface="Verdana" pitchFamily="34" charset="-120"/>
              </a:rPr>
              <a:t>A concrete starting point</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EU Companies</a:t>
            </a:r>
            <a:endParaRPr lang="en-US" sz="3600" dirty="0"/>
          </a:p>
        </p:txBody>
      </p:sp>
      <p:sp>
        <p:nvSpPr>
          <p:cNvPr id="4" name="Text 2"/>
          <p:cNvSpPr/>
          <p:nvPr/>
        </p:nvSpPr>
        <p:spPr>
          <a:xfrm>
            <a:off x="45720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Assume PII will enter.</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Default to EU-resident.</a:t>
            </a:r>
            <a:endParaRPr lang="en-US" sz="2200" dirty="0"/>
          </a:p>
          <a:p>
            <a:pPr algn="ctr" indent="0" marL="0">
              <a:buNone/>
            </a:pP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General use:</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Google Workspace Gemini</a:t>
            </a:r>
            <a:endParaRPr lang="en-US" sz="2200" dirty="0"/>
          </a:p>
          <a:p>
            <a:pPr algn="ctr" indent="0" marL="0">
              <a:buNone/>
            </a:pP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Coding:</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Claude Code via Vertex AI</a:t>
            </a:r>
            <a:endParaRPr lang="en-US" sz="2200" dirty="0"/>
          </a:p>
        </p:txBody>
      </p:sp>
      <p:sp>
        <p:nvSpPr>
          <p:cNvPr id="5" name="Shape 3"/>
          <p:cNvSpPr/>
          <p:nvPr/>
        </p:nvSpPr>
        <p:spPr>
          <a:xfrm>
            <a:off x="4572000" y="731520"/>
            <a:ext cx="0" cy="3291840"/>
          </a:xfrm>
          <a:prstGeom prst="line">
            <a:avLst/>
          </a:prstGeom>
          <a:noFill/>
          <a:ln w="12700">
            <a:solidFill>
              <a:srgbClr val="635BFF"/>
            </a:solidFill>
            <a:prstDash val="solid"/>
          </a:ln>
        </p:spPr>
      </p:sp>
      <p:sp>
        <p:nvSpPr>
          <p:cNvPr id="6" name="Text 4"/>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Non-EU Companies</a:t>
            </a:r>
            <a:endParaRPr lang="en-US" sz="3600" dirty="0"/>
          </a:p>
        </p:txBody>
      </p:sp>
      <p:sp>
        <p:nvSpPr>
          <p:cNvPr id="7" name="Text 5"/>
          <p:cNvSpPr/>
          <p:nvPr/>
        </p:nvSpPr>
        <p:spPr>
          <a:xfrm>
            <a:off x="4846320" y="1737360"/>
            <a:ext cx="3840480" cy="2286000"/>
          </a:xfrm>
          <a:prstGeom prst="rect">
            <a:avLst/>
          </a:prstGeom>
          <a:noFill/>
          <a:ln/>
        </p:spPr>
        <p:txBody>
          <a:bodyPr wrap="square" lIns="0" tIns="0" rIns="0" bIns="0" rtlCol="0" anchor="t"/>
          <a:lstStyle/>
          <a:p>
            <a:pPr algn="ctr" indent="0" marL="0">
              <a:buNone/>
            </a:pPr>
            <a:r>
              <a:rPr lang="en-US" sz="2200" dirty="0">
                <a:solidFill>
                  <a:srgbClr val="8B95A5"/>
                </a:solidFill>
                <a:latin typeface="Verdana" pitchFamily="34" charset="0"/>
                <a:ea typeface="Verdana" pitchFamily="34" charset="-122"/>
                <a:cs typeface="Verdana" pitchFamily="34" charset="-120"/>
              </a:rPr>
              <a:t>Enterprise tier + DPA</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as the baseline.</a:t>
            </a:r>
            <a:endParaRPr lang="en-US" sz="2200" dirty="0"/>
          </a:p>
          <a:p>
            <a:pPr algn="ctr" indent="0" marL="0">
              <a:buNone/>
            </a:pP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General use:</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Claude Team</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or ChatGPT Business</a:t>
            </a:r>
            <a:endParaRPr lang="en-US" sz="2200" dirty="0"/>
          </a:p>
          <a:p>
            <a:pPr algn="ctr" indent="0" marL="0">
              <a:buNone/>
            </a:pP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Coding:</a:t>
            </a:r>
            <a:endParaRPr lang="en-US" sz="2200" dirty="0"/>
          </a:p>
          <a:p>
            <a:pPr algn="ctr" indent="0" marL="0">
              <a:buNone/>
            </a:pPr>
            <a:r>
              <a:rPr lang="en-US" sz="2200" dirty="0">
                <a:solidFill>
                  <a:srgbClr val="8B95A5"/>
                </a:solidFill>
                <a:latin typeface="Verdana" pitchFamily="34" charset="0"/>
                <a:ea typeface="Verdana" pitchFamily="34" charset="-122"/>
                <a:cs typeface="Verdana" pitchFamily="34" charset="-120"/>
              </a:rPr>
              <a:t>Claude Code (Team/API)</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4400" b="1" dirty="0">
                <a:solidFill>
                  <a:srgbClr val="FF6B8A"/>
                </a:solidFill>
                <a:latin typeface="Georgia" pitchFamily="34" charset="0"/>
                <a:ea typeface="Georgia" pitchFamily="34" charset="-122"/>
                <a:cs typeface="Georgia" pitchFamily="34" charset="-120"/>
              </a:rPr>
              <a:t>Free tiers are not approved</a:t>
            </a:r>
            <a:endParaRPr lang="en-US" sz="4400" dirty="0"/>
          </a:p>
          <a:p>
            <a:pPr algn="ctr" indent="0" marL="0">
              <a:buNone/>
            </a:pPr>
            <a:r>
              <a:rPr lang="en-US" sz="4400" b="1" dirty="0">
                <a:solidFill>
                  <a:srgbClr val="FF6B8A"/>
                </a:solidFill>
                <a:latin typeface="Georgia" pitchFamily="34" charset="0"/>
                <a:ea typeface="Georgia" pitchFamily="34" charset="-122"/>
                <a:cs typeface="Georgia" pitchFamily="34" charset="-120"/>
              </a:rPr>
              <a:t>for work. Full stop.</a:t>
            </a:r>
            <a:endParaRPr lang="en-US" sz="4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228600"/>
            <a:ext cx="640080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What your AI policy needs</a:t>
            </a:r>
            <a:endParaRPr lang="en-US" sz="3400" dirty="0"/>
          </a:p>
        </p:txBody>
      </p:sp>
      <p:sp>
        <p:nvSpPr>
          <p:cNvPr id="4" name="Text 2"/>
          <p:cNvSpPr/>
          <p:nvPr/>
        </p:nvSpPr>
        <p:spPr>
          <a:xfrm>
            <a:off x="457200" y="868680"/>
            <a:ext cx="6400800" cy="320040"/>
          </a:xfrm>
          <a:prstGeom prst="rect">
            <a:avLst/>
          </a:prstGeom>
          <a:noFill/>
          <a:ln/>
        </p:spPr>
        <p:txBody>
          <a:bodyPr wrap="square" lIns="0" tIns="0" rIns="0" bIns="0" rtlCol="0" anchor="ctr"/>
          <a:lstStyle/>
          <a:p>
            <a:pPr indent="0" marL="0">
              <a:buNone/>
            </a:pPr>
            <a:r>
              <a:rPr lang="en-US" sz="1400" i="1" dirty="0">
                <a:solidFill>
                  <a:srgbClr val="635BFF"/>
                </a:solidFill>
                <a:latin typeface="Verdana" pitchFamily="34" charset="0"/>
                <a:ea typeface="Verdana" pitchFamily="34" charset="-122"/>
                <a:cs typeface="Verdana" pitchFamily="34" charset="-120"/>
              </a:rPr>
              <a:t>A starting point — adapt with your legal team</a:t>
            </a:r>
            <a:endParaRPr lang="en-US" sz="1400" dirty="0"/>
          </a:p>
        </p:txBody>
      </p:sp>
      <p:sp>
        <p:nvSpPr>
          <p:cNvPr id="5" name="Text 3"/>
          <p:cNvSpPr/>
          <p:nvPr/>
        </p:nvSpPr>
        <p:spPr>
          <a:xfrm>
            <a:off x="640080" y="1280160"/>
            <a:ext cx="7863840" cy="3566160"/>
          </a:xfrm>
          <a:prstGeom prst="rect">
            <a:avLst/>
          </a:prstGeom>
          <a:noFill/>
          <a:ln/>
        </p:spPr>
        <p:txBody>
          <a:bodyPr wrap="square" lIns="0" tIns="0" rIns="0" bIns="0" rtlCol="0" anchor="t"/>
          <a:lstStyle/>
          <a:p>
            <a:pPr indent="0" marL="0">
              <a:buNone/>
            </a:pPr>
            <a:r>
              <a:rPr lang="en-US" sz="1600" b="1" dirty="0">
                <a:solidFill>
                  <a:srgbClr val="635BFF"/>
                </a:solidFill>
                <a:latin typeface="Verdana" pitchFamily="34" charset="0"/>
                <a:ea typeface="Verdana" pitchFamily="34" charset="-122"/>
                <a:cs typeface="Verdana" pitchFamily="34" charset="-120"/>
              </a:rPr>
              <a:t>1  </a:t>
            </a:r>
            <a:pPr indent="0" marL="0">
              <a:buNone/>
            </a:pPr>
            <a:r>
              <a:rPr lang="en-US" sz="1500" b="1" dirty="0">
                <a:solidFill>
                  <a:srgbClr val="FFFFFF"/>
                </a:solidFill>
                <a:latin typeface="Verdana" pitchFamily="34" charset="0"/>
                <a:ea typeface="Verdana" pitchFamily="34" charset="-122"/>
                <a:cs typeface="Verdana" pitchFamily="34" charset="-120"/>
              </a:rPr>
              <a:t>Approved tools list</a:t>
            </a:r>
            <a:pPr indent="0" marL="0">
              <a:buNone/>
            </a:pPr>
            <a:r>
              <a:rPr lang="en-US" sz="1300" dirty="0">
                <a:solidFill>
                  <a:srgbClr val="8B95A5"/>
                </a:solidFill>
                <a:latin typeface="Verdana" pitchFamily="34" charset="0"/>
                <a:ea typeface="Verdana" pitchFamily="34" charset="-122"/>
                <a:cs typeface="Verdana" pitchFamily="34" charset="-120"/>
              </a:rPr>
              <a:t>  Which tools, which tiers. Living document.</a:t>
            </a:r>
            <a:endParaRPr lang="en-US" sz="1600" dirty="0"/>
          </a:p>
          <a:p>
            <a:pPr indent="0" marL="0">
              <a:buNone/>
            </a:pPr>
            <a:endParaRPr lang="en-US" sz="1600" dirty="0"/>
          </a:p>
          <a:p>
            <a:pPr indent="0" marL="0">
              <a:buNone/>
            </a:pPr>
            <a:r>
              <a:rPr lang="en-US" sz="1600" b="1" dirty="0">
                <a:solidFill>
                  <a:srgbClr val="635BFF"/>
                </a:solidFill>
                <a:latin typeface="Verdana" pitchFamily="34" charset="0"/>
                <a:ea typeface="Verdana" pitchFamily="34" charset="-122"/>
                <a:cs typeface="Verdana" pitchFamily="34" charset="-120"/>
              </a:rPr>
              <a:t>2  </a:t>
            </a:r>
            <a:pPr indent="0" marL="0">
              <a:buNone/>
            </a:pPr>
            <a:r>
              <a:rPr lang="en-US" sz="1500" b="1" dirty="0">
                <a:solidFill>
                  <a:srgbClr val="FFFFFF"/>
                </a:solidFill>
                <a:latin typeface="Verdana" pitchFamily="34" charset="0"/>
                <a:ea typeface="Verdana" pitchFamily="34" charset="-122"/>
                <a:cs typeface="Verdana" pitchFamily="34" charset="-120"/>
              </a:rPr>
              <a:t>Data classification</a:t>
            </a:r>
            <a:pPr indent="0" marL="0">
              <a:buNone/>
            </a:pPr>
            <a:r>
              <a:rPr lang="en-US" sz="1300" dirty="0">
                <a:solidFill>
                  <a:srgbClr val="8B95A5"/>
                </a:solidFill>
                <a:latin typeface="Verdana" pitchFamily="34" charset="0"/>
                <a:ea typeface="Verdana" pitchFamily="34" charset="-122"/>
                <a:cs typeface="Verdana" pitchFamily="34" charset="-120"/>
              </a:rPr>
              <a:t>  What can vs cannot go into AI tools.</a:t>
            </a:r>
            <a:endParaRPr lang="en-US" sz="1600" dirty="0"/>
          </a:p>
          <a:p>
            <a:pPr indent="0" marL="0">
              <a:buNone/>
            </a:pPr>
            <a:endParaRPr lang="en-US" sz="1600" dirty="0"/>
          </a:p>
          <a:p>
            <a:pPr indent="0" marL="0">
              <a:buNone/>
            </a:pPr>
            <a:r>
              <a:rPr lang="en-US" sz="1600" b="1" dirty="0">
                <a:solidFill>
                  <a:srgbClr val="635BFF"/>
                </a:solidFill>
                <a:latin typeface="Verdana" pitchFamily="34" charset="0"/>
                <a:ea typeface="Verdana" pitchFamily="34" charset="-122"/>
                <a:cs typeface="Verdana" pitchFamily="34" charset="-120"/>
              </a:rPr>
              <a:t>3  </a:t>
            </a:r>
            <a:pPr indent="0" marL="0">
              <a:buNone/>
            </a:pPr>
            <a:r>
              <a:rPr lang="en-US" sz="1500" b="1" dirty="0">
                <a:solidFill>
                  <a:srgbClr val="FFFFFF"/>
                </a:solidFill>
                <a:latin typeface="Verdana" pitchFamily="34" charset="0"/>
                <a:ea typeface="Verdana" pitchFamily="34" charset="-122"/>
                <a:cs typeface="Verdana" pitchFamily="34" charset="-120"/>
              </a:rPr>
              <a:t>The two-path rule</a:t>
            </a:r>
            <a:pPr indent="0" marL="0">
              <a:buNone/>
            </a:pPr>
            <a:r>
              <a:rPr lang="en-US" sz="1300" dirty="0">
                <a:solidFill>
                  <a:srgbClr val="8B95A5"/>
                </a:solidFill>
                <a:latin typeface="Verdana" pitchFamily="34" charset="0"/>
                <a:ea typeface="Verdana" pitchFamily="34" charset="-122"/>
                <a:cs typeface="Verdana" pitchFamily="34" charset="-120"/>
              </a:rPr>
              <a:t>  General work vs PII-safe setup.</a:t>
            </a:r>
            <a:endParaRPr lang="en-US" sz="1600" dirty="0"/>
          </a:p>
          <a:p>
            <a:pPr indent="0" marL="0">
              <a:buNone/>
            </a:pPr>
            <a:endParaRPr lang="en-US" sz="1600" dirty="0"/>
          </a:p>
          <a:p>
            <a:pPr indent="0" marL="0">
              <a:buNone/>
            </a:pPr>
            <a:r>
              <a:rPr lang="en-US" sz="1600" b="1" dirty="0">
                <a:solidFill>
                  <a:srgbClr val="635BFF"/>
                </a:solidFill>
                <a:latin typeface="Verdana" pitchFamily="34" charset="0"/>
                <a:ea typeface="Verdana" pitchFamily="34" charset="-122"/>
                <a:cs typeface="Verdana" pitchFamily="34" charset="-120"/>
              </a:rPr>
              <a:t>4  </a:t>
            </a:r>
            <a:pPr indent="0" marL="0">
              <a:buNone/>
            </a:pPr>
            <a:r>
              <a:rPr lang="en-US" sz="1500" b="1" dirty="0">
                <a:solidFill>
                  <a:srgbClr val="FFFFFF"/>
                </a:solidFill>
                <a:latin typeface="Verdana" pitchFamily="34" charset="0"/>
                <a:ea typeface="Verdana" pitchFamily="34" charset="-122"/>
                <a:cs typeface="Verdana" pitchFamily="34" charset="-120"/>
              </a:rPr>
              <a:t>Incident reporting</a:t>
            </a:r>
            <a:pPr indent="0" marL="0">
              <a:buNone/>
            </a:pPr>
            <a:r>
              <a:rPr lang="en-US" sz="1300" dirty="0">
                <a:solidFill>
                  <a:srgbClr val="8B95A5"/>
                </a:solidFill>
                <a:latin typeface="Verdana" pitchFamily="34" charset="0"/>
                <a:ea typeface="Verdana" pitchFamily="34" charset="-122"/>
                <a:cs typeface="Verdana" pitchFamily="34" charset="-120"/>
              </a:rPr>
              <a:t>  PII in unapproved tool = potential breach. 72-hour notification.</a:t>
            </a:r>
            <a:endParaRPr lang="en-US" sz="1600" dirty="0"/>
          </a:p>
          <a:p>
            <a:pPr indent="0" marL="0">
              <a:buNone/>
            </a:pPr>
            <a:endParaRPr lang="en-US" sz="1600" dirty="0"/>
          </a:p>
          <a:p>
            <a:pPr indent="0" marL="0">
              <a:buNone/>
            </a:pPr>
            <a:r>
              <a:rPr lang="en-US" sz="1600" b="1" dirty="0">
                <a:solidFill>
                  <a:srgbClr val="635BFF"/>
                </a:solidFill>
                <a:latin typeface="Verdana" pitchFamily="34" charset="0"/>
                <a:ea typeface="Verdana" pitchFamily="34" charset="-122"/>
                <a:cs typeface="Verdana" pitchFamily="34" charset="-120"/>
              </a:rPr>
              <a:t>5  </a:t>
            </a:r>
            <a:pPr indent="0" marL="0">
              <a:buNone/>
            </a:pPr>
            <a:r>
              <a:rPr lang="en-US" sz="1500" b="1" dirty="0">
                <a:solidFill>
                  <a:srgbClr val="FFFFFF"/>
                </a:solidFill>
                <a:latin typeface="Verdana" pitchFamily="34" charset="0"/>
                <a:ea typeface="Verdana" pitchFamily="34" charset="-122"/>
                <a:cs typeface="Verdana" pitchFamily="34" charset="-120"/>
              </a:rPr>
              <a:t>AI literacy training</a:t>
            </a:r>
            <a:pPr indent="0" marL="0">
              <a:buNone/>
            </a:pPr>
            <a:r>
              <a:rPr lang="en-US" sz="1300" dirty="0">
                <a:solidFill>
                  <a:srgbClr val="8B95A5"/>
                </a:solidFill>
                <a:latin typeface="Verdana" pitchFamily="34" charset="0"/>
                <a:ea typeface="Verdana" pitchFamily="34" charset="-122"/>
                <a:cs typeface="Verdana" pitchFamily="34" charset="-120"/>
              </a:rPr>
              <a:t>  EU AI Act Article 4. Legal requirement.</a:t>
            </a:r>
            <a:endParaRPr lang="en-US" sz="1600" dirty="0"/>
          </a:p>
          <a:p>
            <a:pPr indent="0" marL="0">
              <a:buNone/>
            </a:pPr>
            <a:endParaRPr lang="en-US" sz="1600" dirty="0"/>
          </a:p>
          <a:p>
            <a:pPr indent="0" marL="0">
              <a:buNone/>
            </a:pPr>
            <a:r>
              <a:rPr lang="en-US" sz="1600" b="1" dirty="0">
                <a:solidFill>
                  <a:srgbClr val="635BFF"/>
                </a:solidFill>
                <a:latin typeface="Verdana" pitchFamily="34" charset="0"/>
                <a:ea typeface="Verdana" pitchFamily="34" charset="-122"/>
                <a:cs typeface="Verdana" pitchFamily="34" charset="-120"/>
              </a:rPr>
              <a:t>6  </a:t>
            </a:r>
            <a:pPr indent="0" marL="0">
              <a:buNone/>
            </a:pPr>
            <a:r>
              <a:rPr lang="en-US" sz="1500" b="1" dirty="0">
                <a:solidFill>
                  <a:srgbClr val="FFFFFF"/>
                </a:solidFill>
                <a:latin typeface="Verdana" pitchFamily="34" charset="0"/>
                <a:ea typeface="Verdana" pitchFamily="34" charset="-122"/>
                <a:cs typeface="Verdana" pitchFamily="34" charset="-120"/>
              </a:rPr>
              <a:t>Roles &amp; responsibilities</a:t>
            </a:r>
            <a:pPr indent="0" marL="0">
              <a:buNone/>
            </a:pPr>
            <a:r>
              <a:rPr lang="en-US" sz="1300" dirty="0">
                <a:solidFill>
                  <a:srgbClr val="8B95A5"/>
                </a:solidFill>
                <a:latin typeface="Verdana" pitchFamily="34" charset="0"/>
                <a:ea typeface="Verdana" pitchFamily="34" charset="-122"/>
                <a:cs typeface="Verdana" pitchFamily="34" charset="-120"/>
              </a:rPr>
              <a:t>  Who approves, monitors, responds.</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635BFF"/>
                </a:solidFill>
                <a:latin typeface="Georgia" pitchFamily="34" charset="0"/>
                <a:ea typeface="Georgia" pitchFamily="34" charset="-122"/>
                <a:cs typeface="Georgia" pitchFamily="34" charset="-120"/>
              </a:rPr>
              <a:t>And remember...</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The gap between using AI safely</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and using AI recklessly</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isn’t about which model</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is smartest.</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560320"/>
          </a:xfrm>
          <a:prstGeom prst="rect">
            <a:avLst/>
          </a:prstGeom>
          <a:noFill/>
          <a:ln/>
        </p:spPr>
        <p:txBody>
          <a:bodyPr wrap="square" lIns="0" tIns="0" rIns="0" bIns="0" rtlCol="0" anchor="ctr"/>
          <a:lstStyle/>
          <a:p>
            <a:pPr algn="ctr" indent="0" marL="0">
              <a:buNone/>
            </a:pPr>
            <a:r>
              <a:rPr lang="en-US" sz="4400" b="1" dirty="0">
                <a:solidFill>
                  <a:srgbClr val="635BFF"/>
                </a:solidFill>
                <a:latin typeface="Georgia" pitchFamily="34" charset="0"/>
                <a:ea typeface="Georgia" pitchFamily="34" charset="-122"/>
                <a:cs typeface="Georgia" pitchFamily="34" charset="-120"/>
              </a:rPr>
              <a:t>It’s about which setup</a:t>
            </a:r>
            <a:endParaRPr lang="en-US" sz="4400" dirty="0"/>
          </a:p>
          <a:p>
            <a:pPr algn="ctr" indent="0" marL="0">
              <a:buNone/>
            </a:pPr>
            <a:r>
              <a:rPr lang="en-US" sz="4400" b="1" dirty="0">
                <a:solidFill>
                  <a:srgbClr val="635BFF"/>
                </a:solidFill>
                <a:latin typeface="Georgia" pitchFamily="34" charset="0"/>
                <a:ea typeface="Georgia" pitchFamily="34" charset="-122"/>
                <a:cs typeface="Georgia" pitchFamily="34" charset="-120"/>
              </a:rPr>
              <a:t>you choose —</a:t>
            </a:r>
            <a:endParaRPr lang="en-US" sz="4400" dirty="0"/>
          </a:p>
          <a:p>
            <a:pPr algn="ctr" indent="0" marL="0">
              <a:buNone/>
            </a:pPr>
            <a:r>
              <a:rPr lang="en-US" sz="4400" b="1" dirty="0">
                <a:solidFill>
                  <a:srgbClr val="635BFF"/>
                </a:solidFill>
                <a:latin typeface="Georgia" pitchFamily="34" charset="0"/>
                <a:ea typeface="Georgia" pitchFamily="34" charset="-122"/>
                <a:cs typeface="Georgia" pitchFamily="34" charset="-120"/>
              </a:rPr>
              <a:t>and whether you</a:t>
            </a:r>
            <a:endParaRPr lang="en-US" sz="4400" dirty="0"/>
          </a:p>
          <a:p>
            <a:pPr algn="ctr" indent="0" marL="0">
              <a:buNone/>
            </a:pPr>
            <a:r>
              <a:rPr lang="en-US" sz="4400" b="1" dirty="0">
                <a:solidFill>
                  <a:srgbClr val="635BFF"/>
                </a:solidFill>
                <a:latin typeface="Georgia" pitchFamily="34" charset="0"/>
                <a:ea typeface="Georgia" pitchFamily="34" charset="-122"/>
                <a:cs typeface="Georgia" pitchFamily="34" charset="-120"/>
              </a:rPr>
              <a:t>choose at all.</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Tools &amp; Your Business: A Policy Guide</dc:title>
  <dc:subject>PptxGenJS Presentation</dc:subject>
  <dc:creator>AI Best Practices</dc:creator>
  <cp:lastModifiedBy>AI Best Practices</cp:lastModifiedBy>
  <cp:revision>1</cp:revision>
  <dcterms:created xsi:type="dcterms:W3CDTF">2026-02-28T09:14:53Z</dcterms:created>
  <dcterms:modified xsi:type="dcterms:W3CDTF">2026-02-28T09:14:53Z</dcterms:modified>
</cp:coreProperties>
</file>