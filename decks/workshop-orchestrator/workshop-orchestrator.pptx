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Session 4 — final AI Academy session. Uses ChatGPT Org — everyone already has this.
FACILITATOR PRE-REQ: Before this session, create and publish three Custom GPTs to the workspace:
• Research Agent — system prompt: 'You are a research analyst. Your only job is to gather and organise information. Always structure output as: Key Finding | Source | Confidence Level. Use web search. Do not draft or synthesise beyond summarising what you find.'
• Draft Agent — system prompt: 'You are a senior writer. You receive structured research briefs — not raw sources. Turn them into polished proposals. Never go back to source material — work only from what you are given.'
• Review Agent — system prompt: 'You are a critical editor. You receive drafts and the original brief. Flag gaps, unsupported claims, and anything that does not answer the brief. Use a checklist format: ✓ for what works, ✗ for what needs fixing, with a one-line reason for each.'
Publish all three to the workspace so they appear in attendees' ChatGPT sidebar before the session starts.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Operator → Orchestrator. Last time, one agent. Today: a team.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W3. Single agent works but loses focus on multi-step tasks.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kitchen brigade metaphor. One chef vs. a brigade of specialists.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core principle of orchestration.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 a complex task (the onboarding proposal or another multi-step scenario). Group discussion: 5-6 minutes. Write phases on a whiteboard or shared doc. Target: 3-4 phases.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link from phases to agents. Each phase = one focused agent in the chain.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chain: Research → Draft → Review → You. Each agent gets one job. Context is filtered between steps.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distilled principle. Break big tasks into focused steps. Pass results forward.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Facilitator runs a 3-phase chain live using the pre-built Custom GPTs:
• Open Research Agent (Custom GPT) → give it the task → show the structured Key Finding | Source | Confidence output
• Open Draft Agent (Custom GPT) → paste the research brief → show the polished proposal
• Open Review Agent (Custom GPT) → paste the draft + original brief → show the critique checklist
Narrate each step: 'Watch — Draft Agent never saw the original documents. It only got the brief. That is filtered context. Each agent stays focused.'
Show the final output. Compare to what a single ChatGPT conversation would have produced. ~8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10-12 minutes. Attendees choose their own task or use the running example. The Custom GPTs are already in their ChatGPT sidebar — no setup needed.
After both phases: compare the result to giving one plain ChatGPT conversation the whole task at once. Discussion: where did the chain produce better results? Where did the handoff lose something?
Fallback if time is short: facilitator runs Phase 1 live and attendees all do Phase 2 individually.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Bridge from Workshop 2. They set up custom instructions for themselves. Now each agent in the chain gets a focused skill.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4-5 minutes. Facilitator shows where to find the system prompt (click the Custom GPT name in the sidebar → configure). Take 2-3 suggestions from the group and discuss what difference each change would make.
Key point: that system prompt is the skill. Editing it after this session means every future run of that agent gets better. The agent forgets — but the skill doesn't.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Your feedback from this run becomes a better skill next time. The chain improves with every 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manual workflow — search, copy-paste, draft, re-prompt, reformat, review, apply. ~1.5 hours of you being the bottleneck.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chained workflow — agents do 1hr 15min of grunt work. You spend 15 min on judgment.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emotional climax. Skills compound. Even though each agent forgets, the skills persist.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final crossing. They started as Explorers four sessions ago.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full journey. Explorer → Whisperer → Strategist → Operator → Orchestrator. All highlighted. Builder still dimmed as the horizon.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Clean exit. The same CTA as the main deck. One task, this week. They’re Orchestrators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731520"/>
            <a:ext cx="7315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Operator → Orchestrator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371600" y="32004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 AI teams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Skeptic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55448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64592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4592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74320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83464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3464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Whisperer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93192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02336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336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Strategist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12064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21208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0B4D8">
              <a:alpha val="60000"/>
            </a:srgbClr>
          </a:solidFill>
          <a:ln w="25400">
            <a:solidFill>
              <a:srgbClr val="00B4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1208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0936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0B4D8"/>
          </a:solidFill>
          <a:ln w="25400">
            <a:solidFill>
              <a:srgbClr val="00B4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49808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58952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758952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Builder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Operator → Orchestrator</a:t>
            </a:r>
            <a:endParaRPr lang="en-US" sz="3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Last time: one agent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doing everything.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Today: a team.</a:t>
            </a:r>
            <a:endParaRPr lang="en-US" sz="4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chef doing a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10-course dinner alone?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Burnout. Mistakes. Forgotten appetizer.</a:t>
            </a:r>
            <a:endParaRPr lang="en-US" sz="2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trick isn’t making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AI smarter.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It’s making many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together.</a:t>
            </a:r>
            <a:endParaRPr lang="en-US" sz="4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GROUP EXERCISE: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Break a task into phases.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918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are the steps? What does each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produce? What does the next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need from the previous one?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phase becomes one agent.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agent has one job.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011680"/>
            <a:ext cx="1645920" cy="822960"/>
          </a:xfrm>
          <a:prstGeom prst="roundRect">
            <a:avLst>
              <a:gd name="adj" fmla="val 11111"/>
            </a:avLst>
          </a:prstGeom>
          <a:solidFill>
            <a:srgbClr val="00B4D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0116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2103120" y="20116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651760" y="2011680"/>
            <a:ext cx="1645920" cy="822960"/>
          </a:xfrm>
          <a:prstGeom prst="roundRect">
            <a:avLst>
              <a:gd name="adj" fmla="val 11111"/>
            </a:avLst>
          </a:prstGeom>
          <a:solidFill>
            <a:srgbClr val="00B4D8"/>
          </a:solidFill>
          <a:ln/>
        </p:spPr>
      </p:sp>
      <p:sp>
        <p:nvSpPr>
          <p:cNvPr id="7" name="Text 5"/>
          <p:cNvSpPr/>
          <p:nvPr/>
        </p:nvSpPr>
        <p:spPr>
          <a:xfrm>
            <a:off x="2651760" y="20116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297680" y="20116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4846320" y="2011680"/>
            <a:ext cx="1645920" cy="822960"/>
          </a:xfrm>
          <a:prstGeom prst="roundRect">
            <a:avLst>
              <a:gd name="adj" fmla="val 11111"/>
            </a:avLst>
          </a:prstGeom>
          <a:solidFill>
            <a:srgbClr val="00B4D8"/>
          </a:solidFill>
          <a:ln/>
        </p:spPr>
      </p:sp>
      <p:sp>
        <p:nvSpPr>
          <p:cNvPr id="10" name="Text 8"/>
          <p:cNvSpPr/>
          <p:nvPr/>
        </p:nvSpPr>
        <p:spPr>
          <a:xfrm>
            <a:off x="4846320" y="20116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492240" y="20116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7040880" y="2011680"/>
            <a:ext cx="1645920" cy="822960"/>
          </a:xfrm>
          <a:prstGeom prst="roundRect">
            <a:avLst>
              <a:gd name="adj" fmla="val 11111"/>
            </a:avLst>
          </a:prstGeom>
          <a:solidFill>
            <a:srgbClr val="2D936C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0" y="20116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</a:t>
            </a:r>
            <a:endParaRPr lang="en-US" sz="2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agent does one thing.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chain does everything.</a:t>
            </a:r>
            <a:endParaRPr lang="en-US" sz="4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 3-phase chain run live.</a:t>
            </a:r>
            <a:endParaRPr lang="en-US" sz="2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a 2-phase chain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using the Custom GPTs.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918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1: Open Research Agent. Give it your task.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the output.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2: Open Draft Agent. Paste Phase 1’s output.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it the drafting task.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Skills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already know these.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each agent gets its own.</a:t>
            </a:r>
            <a:endParaRPr lang="en-US" sz="2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Look inside the Research Agent.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would you change?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918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agent name → View system prompt.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what you saw in the chain —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you add, remove, or refine?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Skills compound.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brigade gets smarter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time.</a:t>
            </a:r>
            <a:endParaRPr lang="en-US" sz="4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0"/>
            <a:ext cx="8229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E639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1.5 hrs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1371600" y="329184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you being the bottleneck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estimate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0"/>
            <a:ext cx="8229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2D936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 min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1371600" y="329184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judgment — the part only humans can do</a:t>
            </a:r>
            <a:endParaRPr lang="en-US" sz="2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proposal.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chain gets smarter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time.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feedback becomes skills.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won’t remember, but the skills will.</a:t>
            </a:r>
            <a:endParaRPr lang="en-US" sz="2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You’re now an Orchestrator.</a:t>
            </a:r>
            <a:endParaRPr lang="en-US" sz="4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Skeptic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554480" y="146304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64592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0B4D8">
              <a:alpha val="80000"/>
            </a:srgbClr>
          </a:solidFill>
          <a:ln w="25400">
            <a:solidFill>
              <a:srgbClr val="00B4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4592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743200" y="146304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83464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0B4D8">
              <a:alpha val="80000"/>
            </a:srgbClr>
          </a:solidFill>
          <a:ln w="25400">
            <a:solidFill>
              <a:srgbClr val="00B4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3464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Whisperer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931920" y="146304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02336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0B4D8">
              <a:alpha val="80000"/>
            </a:srgbClr>
          </a:solidFill>
          <a:ln w="25400">
            <a:solidFill>
              <a:srgbClr val="00B4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336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Strategist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120640" y="146304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21208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0B4D8">
              <a:alpha val="80000"/>
            </a:srgbClr>
          </a:solidFill>
          <a:ln w="25400">
            <a:solidFill>
              <a:srgbClr val="00B4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1208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09360" y="146304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0B4D8">
              <a:alpha val="80000"/>
            </a:srgbClr>
          </a:solidFill>
          <a:ln w="25400">
            <a:solidFill>
              <a:srgbClr val="00B4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498080" y="146304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58952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758952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Builder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14400" y="24688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Look how far you’ve come.</a:t>
            </a:r>
            <a:endParaRPr lang="en-US" sz="3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secret was never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the AI.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go try it — one task, this week.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Workshop: Operator → Orchestrator</dc:title>
  <dc:subject>PptxGenJS Presentation</dc:subject>
  <dc:creator>AI Academy</dc:creator>
  <cp:lastModifiedBy>AI Academy</cp:lastModifiedBy>
  <cp:revision>1</cp:revision>
  <dcterms:created xsi:type="dcterms:W3CDTF">2026-02-22T22:18:25Z</dcterms:created>
  <dcterms:modified xsi:type="dcterms:W3CDTF">2026-02-22T22:18:25Z</dcterms:modified>
</cp:coreProperties>
</file>