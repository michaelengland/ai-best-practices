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1 of 2 in the AI Academy series. 1 hour, hands-on. Everyone needs Claude open on their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dwell on the spectrum — it's context, not content. Point out where they are (Explorer) and where they'll be (Strategist). Energy: "We're moving fast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set: AI apps respond based on what you put in. First half changes the words (prompt engineering). Second half changes the information (context engineering). The second jump is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to open Claude and think of a task. Offer both free choice and the prescribed option. Walk the room — make sure everyone's ready. This task carries through the entire session and into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"before" photo. It needs to be mediocre so the transformation lands. Don't help them write a good prompt — let them write their natural one. Give 2 minutes. Then ask: "Sound familiar? Generic. Surface-level. Could be for any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of setup changes everything — tone, depth, perspective, terminology. The AI stops being a generic assistant and starts being a domain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Then compare: "Notice the terminology? The frameworks? The level of detail? One sentence did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 specificity out. WHO is it for, WHAT are the constraints, HOW long should it be. The output now addresses a real situation, not a generic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the output now addresses their specific situation. It's no longer interchangeable with any other company's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tries everything, nails nothing. Structure your request and the AI mirrors your organisation. Numbered sections or clear steps work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the AI's output now has the same structure they gave it. Organisation in = organisation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keywords change the AI's behaviour more than you'd expect. "Be radically honest" stops sycophancy. "Think step by step" improves reasoning. "Challenge my assumptions" surfaces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notice the AI pushing back, flagging uncertainty, being more thoughtful. It's no longer just agreeing with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Tell the AI the format, tone, length, and audience. The output should be immediately usable — right format, right tone, right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final technique. The output should now be immediately usable — something you could send, not something you'd need to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emotional peak. "Open your first output and your last output side by side." Give a full beat — don't rush past. The transformation is visceral because they did it themselves. Ask: "Would you have sent the first version to your boss? What about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flash — 5 seconds. "You just crossed from Explorer to Whisperer. Five techniques, one task, dramatic improvement. But we haven't changed what the AI knows yet." Don't linger.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Five techniques, dramatic improvement. But every round changed the words — never the information. "Watch what happens when we do." This sets up the biggest conceptual shift in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prompt from Technique 5. Add real detail — numbers, names, constraints. Coach the room to be specific: not "we have tea" but "Our office has a Sage Smart Kettle on the third floor. Loose-leaf collection in the blue tin — mostly Earl Grey and oolong. Dave in accounting is militant about warming the pot first. The audience is new hires who've never used the office kitchen." Then compare. Ask: "Which made a bigger difference — five techniques or four sentences of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image should get a laugh — let it land. "Every conversation starts from scratch. She doesn't know your company, your role, or what you told her yesterday." This is the memory problem that rules and Skills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technique in the workshop. Point out what the AI asked that the attendee hadn't thought to provide — budget constraints, stakeholder concerns, timeline, success criteria. "Did it surface things you hadn't thought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the pain. They just pasted all that context manually — role, company, preferences, constraints. Next conversation, they'll do it all again. Let the frustration build. "What if the AI already knew?"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Wait for everyone to find it. "This is where you tell Claude who you are — once. These are your rules." Verify the exact path before the session — Claude may move this periodically.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to write. Walk the room. Help anyone stuck. Template: "I work at [company]. My role is [role]. Be radically honest. Challenge my assumptions. Flag uncertainty. When I ask for presentations, default to billboard design — max 15 words per slide, with speaker notes." Quick test: open a NEW conversation and ask a question about your work — it already knows your role. Rules = who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wrote your rules. Here's what that actually looks like." One piece of A4 paper. That's it. Everything she knows right now — your rules, your request, the conversation — fits on this one page. Your rules go on this page. They're always there, grounding every conversation. That's powerful. But the page is small — you need to be selective about what earns a permanent spot. "So what happens to all those brilliant workflows that don't fit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Instructions kept in a drawer, pulled onto the page only when the task needs them. They don't take up memory between tasks. She pulls one out, uses it, puts it back. The page stays clean. Rule example (always on the page): 'All presentations use billboard design.' Skill example (from the drawer): 'How to write a project proposal' — step-by-step workflow loaded when you ask for a proposal, back in the drawer when you don't. Navigate to Customize → Skills. Show the built-in Anthropic Skills: presentations, documents, spreadsheets.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enable the presentation Skill in Customize → Skills, then use it. The aha: they typed one bare sentence and got output that knows who they are (rules on the page) AND how to build a proper presentation (Skill pulled from the drawer). "The page told her who you are. The drawer told her how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landing line. Rules earn a permanent spot on the page — only the essentials. Everything else lives in the drawer as Skills, pulled out when relevant. This is the distinction that separates someone who 'uses AI' from someone who has built a system. The page doesn't fill up because Skills come and go. The heuristic: "Does this apply to every conversation? Yes — it goes on the page. Only sometimes — it goes in the drawer." Personal preferences = the page. Skills = the drawer. Both compound. Both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emotional peak — bigger than the first. The three-way comparison shows the full journey. If time is tight, this can be a facilitator demo. Point out: column 1 to 2 was five techniques. Column 2 to 3 was rules + Skills. The second jump required zero effort per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Graduation moment — the spectrum fills in. "You don't just talk to AI well — you've set up its playbook." But keep it short — this is the halfway point, not the finish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cliffhanger. "You search, you paste, you copy, you apply. Every step has 'you' in it." This should sting — they just felt the power of rules + Skills, but they're still the bottleneck. "Next time: Strategist → Orchestrator. We hand the AI the keys — and build it a team." Plant the seed: "Rules tell Claude who you are. Skills tell Claude how to work. Next time, each step in a chain gets its own specialized Skill — a whole team." Remind: save your prompt, preferences, and enabled Skills — they carry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Explorer → Strategist</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Talk to AI. Make it remember.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levels in one session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Today we change the words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the information</a:t>
            </a:r>
            <a:endParaRPr lang="en-US" sz="4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Open Claude on your laptop</a:t>
            </a:r>
            <a:endParaRPr lang="en-US" sz="3600" dirty="0"/>
          </a:p>
          <a:p>
            <a:pPr algn="ctr" indent="0" marL="0">
              <a:buNone/>
            </a:pPr>
            <a:r>
              <a:rPr lang="en-US" sz="2800" b="1" dirty="0">
                <a:solidFill>
                  <a:srgbClr val="635BFF"/>
                </a:solidFill>
                <a:latin typeface="Georgia" pitchFamily="34" charset="0"/>
                <a:ea typeface="Georgia" pitchFamily="34" charset="-122"/>
                <a:cs typeface="Georgia" pitchFamily="34" charset="-120"/>
              </a:rPr>
              <a:t>Pick a real task from your work</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a proposal, an email, a summary, a plan</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Or use: "Make me a presentation about making a cup of tea"</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Type your natural prompt</a:t>
            </a:r>
            <a:endParaRPr lang="en-US" sz="3600" dirty="0"/>
          </a:p>
          <a:p>
            <a:pPr algn="ctr" indent="0" marL="0">
              <a:buNone/>
            </a:pPr>
            <a:r>
              <a:rPr lang="en-US" sz="2800" b="1" dirty="0">
                <a:solidFill>
                  <a:srgbClr val="635BFF"/>
                </a:solidFill>
                <a:latin typeface="Georgia" pitchFamily="34" charset="0"/>
                <a:ea typeface="Georgia" pitchFamily="34" charset="-122"/>
                <a:cs typeface="Georgia" pitchFamily="34" charset="-120"/>
              </a:rPr>
              <a:t>Don't overthink it</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One sentence changes everything</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me a presentation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You are a senior office manager at a mid-size tech company. Make me a presentation about making tea</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this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"You are a senior [your role]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at [your company]."</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Specificity in = specificity out</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a presentation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A 10-slide deck for new hires. British-style loose-leaf tea. Cover equipment, steeping time, and milk-first debate.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WHO it's for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the constraints are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HOW long it should be</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Structure in = structure out</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a presentation about tea, cover equipment, technique, preferences, and cleanup</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1. Outline the key steps in order</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2. Cover equipment needed</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3. Walk through the process</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4. Note team preferences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Structure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Add numbered sections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or clear steps</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Words that change AI behaviour</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Don't you think tea is great and everyone should learn it?</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Be radically honest.</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Think step by step.</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Challenge my assumptions.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2–3 power keywords: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"Be radically honest."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"Think step by step."</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"Challenge my assumptions."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Tell AI exactly what you need</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Write something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Format: billboard slides, max 15 words.</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Tone: friendly but practical.</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Audience: new hires, zero tea knowledge.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Format, tone, length,</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audience</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We never changed</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what the AI knew</a:t>
            </a:r>
            <a:endParaRPr lang="en-US" sz="4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3–4 sentences of real context: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Equipment. Tea types.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Team preferences. Who's it for.</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pic>
        <p:nvPicPr>
          <p:cNvPr id="3" name="Image 0" descr="/Users/michaelengland/Developer/michaelengland/ai-best-practices/decks/ai-best-practices/assets/blue-tang-transparent.png">    </p:cNvPr>
          <p:cNvPicPr>
            <a:picLocks noChangeAspect="1"/>
          </p:cNvPicPr>
          <p:nvPr/>
        </p:nvPicPr>
        <p:blipFill>
          <a:blip r:embed="rId1"/>
          <a:stretch>
            <a:fillRect/>
          </a:stretch>
        </p:blipFill>
        <p:spPr>
          <a:xfrm>
            <a:off x="274320" y="457200"/>
            <a:ext cx="3840480" cy="3840480"/>
          </a:xfrm>
          <a:prstGeom prst="rect">
            <a:avLst/>
          </a:prstGeom>
        </p:spPr>
      </p:pic>
      <p:sp>
        <p:nvSpPr>
          <p:cNvPr id="4" name="Text 1"/>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Brilliant. Helpful.</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Remembers nothing.</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"Before you start, ask me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clarifying questions about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anything you'd need to know."</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Next conversation?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You'll type it all again.</a:t>
            </a:r>
            <a:endParaRPr lang="en-US" sz="4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274320" y="2011680"/>
            <a:ext cx="2560320" cy="91440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27432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Settings</a:t>
            </a:r>
            <a:endParaRPr lang="en-US" sz="1800" dirty="0"/>
          </a:p>
        </p:txBody>
      </p:sp>
      <p:sp>
        <p:nvSpPr>
          <p:cNvPr id="5" name="Text 3"/>
          <p:cNvSpPr/>
          <p:nvPr/>
        </p:nvSpPr>
        <p:spPr>
          <a:xfrm>
            <a:off x="2834640" y="2011680"/>
            <a:ext cx="457200" cy="914400"/>
          </a:xfrm>
          <a:prstGeom prst="rect">
            <a:avLst/>
          </a:prstGeom>
          <a:noFill/>
          <a:ln/>
        </p:spPr>
        <p:txBody>
          <a:bodyPr wrap="square" lIns="0" tIns="0" rIns="0" bIns="0" rtlCol="0" anchor="ctr"/>
          <a:lstStyle/>
          <a:p>
            <a:pPr algn="ctr" indent="0" marL="0">
              <a:buNone/>
            </a:pPr>
            <a:r>
              <a:rPr lang="en-US" sz="2800"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3291840" y="2011680"/>
            <a:ext cx="2560320" cy="91440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329184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General</a:t>
            </a:r>
            <a:endParaRPr lang="en-US" sz="1800" dirty="0"/>
          </a:p>
        </p:txBody>
      </p:sp>
      <p:sp>
        <p:nvSpPr>
          <p:cNvPr id="8" name="Text 6"/>
          <p:cNvSpPr/>
          <p:nvPr/>
        </p:nvSpPr>
        <p:spPr>
          <a:xfrm>
            <a:off x="5852160" y="2011680"/>
            <a:ext cx="457200" cy="914400"/>
          </a:xfrm>
          <a:prstGeom prst="rect">
            <a:avLst/>
          </a:prstGeom>
          <a:noFill/>
          <a:ln/>
        </p:spPr>
        <p:txBody>
          <a:bodyPr wrap="square" lIns="0" tIns="0" rIns="0" bIns="0" rtlCol="0" anchor="ctr"/>
          <a:lstStyle/>
          <a:p>
            <a:pPr algn="ctr" indent="0" marL="0">
              <a:buNone/>
            </a:pPr>
            <a:r>
              <a:rPr lang="en-US" sz="2800"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6309360" y="2011680"/>
            <a:ext cx="2560320" cy="91440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630936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Personal preferences</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Write your personal preferences:</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"I work at [company]. My role is [role].</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Be radically honest. Challenge my assumptions."</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097280" y="457200"/>
            <a:ext cx="2926080" cy="4114800"/>
          </a:xfrm>
          <a:prstGeom prst="rect">
            <a:avLst/>
          </a:prstGeom>
          <a:solidFill>
            <a:srgbClr val="F8F8F8"/>
          </a:solidFill>
          <a:ln/>
          <a:effectLst>
            <a:outerShdw sx="100000" sy="100000" kx="0" ky="0" algn="bl" rotWithShape="0" blurRad="127000" dist="50800" dir="16200000">
              <a:srgbClr val="000000">
                <a:alpha val="30000"/>
              </a:srgbClr>
            </a:outerShdw>
          </a:effectLst>
        </p:spPr>
      </p:sp>
      <p:sp>
        <p:nvSpPr>
          <p:cNvPr id="4" name="Text 2"/>
          <p:cNvSpPr/>
          <p:nvPr/>
        </p:nvSpPr>
        <p:spPr>
          <a:xfrm>
            <a:off x="1371600" y="731520"/>
            <a:ext cx="2377440" cy="3474720"/>
          </a:xfrm>
          <a:prstGeom prst="rect">
            <a:avLst/>
          </a:prstGeom>
          <a:noFill/>
          <a:ln/>
        </p:spPr>
        <p:txBody>
          <a:bodyPr wrap="square" lIns="0" tIns="0" rIns="0" bIns="0" rtlCol="0" anchor="t"/>
          <a:lstStyle/>
          <a:p>
            <a:pPr indent="0" marL="0">
              <a:buNone/>
            </a:pPr>
            <a:r>
              <a:rPr lang="en-US" sz="1600" dirty="0">
                <a:solidFill>
                  <a:srgbClr val="1A1F36"/>
                </a:solidFill>
                <a:latin typeface="Verdana" pitchFamily="34" charset="0"/>
                <a:ea typeface="Verdana" pitchFamily="34" charset="-122"/>
                <a:cs typeface="Verdana" pitchFamily="34" charset="-120"/>
              </a:rPr>
              <a:t>Rules</a:t>
            </a:r>
            <a:endParaRPr lang="en-US" sz="1600" dirty="0"/>
          </a:p>
          <a:p>
            <a:pPr indent="0" marL="0">
              <a:buNone/>
            </a:pP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Billboard design</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British English</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Be concise</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No jargon</a:t>
            </a:r>
            <a:endParaRPr lang="en-US" sz="1600" dirty="0"/>
          </a:p>
        </p:txBody>
      </p:sp>
      <p:sp>
        <p:nvSpPr>
          <p:cNvPr id="5" name="Text 3"/>
          <p:cNvSpPr/>
          <p:nvPr/>
        </p:nvSpPr>
        <p:spPr>
          <a:xfrm>
            <a:off x="4754880" y="731520"/>
            <a:ext cx="3840480" cy="18288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Her entire memory.</a:t>
            </a:r>
            <a:endParaRPr lang="en-US" sz="4800" dirty="0"/>
          </a:p>
        </p:txBody>
      </p:sp>
      <p:pic>
        <p:nvPicPr>
          <p:cNvPr id="6" name="Image 0" descr="/Users/michaelengland/Developer/michaelengland/ai-best-practices/decks/ai-best-practices/assets/blue-tang-transparent.png">    </p:cNvPr>
          <p:cNvPicPr>
            <a:picLocks noChangeAspect="1"/>
          </p:cNvPicPr>
          <p:nvPr/>
        </p:nvPicPr>
        <p:blipFill>
          <a:blip r:embed="rId1"/>
          <a:srcRect l="0" r="0" t="0" b="0"/>
          <a:stretch/>
        </p:blipFill>
        <p:spPr>
          <a:xfrm>
            <a:off x="6583680" y="2743200"/>
            <a:ext cx="2011680" cy="20116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 live in the drawer.</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Pulled onto the page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when needed.</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Gone when done.</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Enable the Presentation skill</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Then type: "Make me a presentation</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about making a cup of tea"</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One sentence. It already knows the rest.</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page stays clean.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The drawer holds the rest.</a:t>
            </a:r>
            <a:endParaRPr lang="en-US" sz="4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3600" b="1" dirty="0">
                <a:solidFill>
                  <a:srgbClr val="1A1F36"/>
                </a:solidFill>
                <a:latin typeface="Georgia" pitchFamily="34" charset="0"/>
                <a:ea typeface="Georgia" pitchFamily="34" charset="-122"/>
                <a:cs typeface="Georgia" pitchFamily="34" charset="-120"/>
              </a:rPr>
              <a:t>Same task. Each one dramatically better.</a:t>
            </a:r>
            <a:endParaRPr lang="en-US" sz="3600" dirty="0"/>
          </a:p>
        </p:txBody>
      </p:sp>
      <p:sp>
        <p:nvSpPr>
          <p:cNvPr id="3" name="Shape 1"/>
          <p:cNvSpPr/>
          <p:nvPr/>
        </p:nvSpPr>
        <p:spPr>
          <a:xfrm>
            <a:off x="457200" y="1280160"/>
            <a:ext cx="2468880" cy="3291840"/>
          </a:xfrm>
          <a:prstGeom prst="rect">
            <a:avLst/>
          </a:prstGeom>
          <a:solidFill>
            <a:srgbClr val="F8F9FA"/>
          </a:solidFill>
          <a:ln/>
        </p:spPr>
      </p:sp>
      <p:sp>
        <p:nvSpPr>
          <p:cNvPr id="4" name="Shape 2"/>
          <p:cNvSpPr/>
          <p:nvPr/>
        </p:nvSpPr>
        <p:spPr>
          <a:xfrm>
            <a:off x="457200" y="1280160"/>
            <a:ext cx="2468880" cy="54864"/>
          </a:xfrm>
          <a:prstGeom prst="rect">
            <a:avLst/>
          </a:prstGeom>
          <a:solidFill>
            <a:srgbClr val="FF6B8A"/>
          </a:solidFill>
          <a:ln/>
        </p:spPr>
      </p:sp>
      <p:sp>
        <p:nvSpPr>
          <p:cNvPr id="5" name="Text 3"/>
          <p:cNvSpPr/>
          <p:nvPr/>
        </p:nvSpPr>
        <p:spPr>
          <a:xfrm>
            <a:off x="4572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Vague</a:t>
            </a:r>
            <a:endParaRPr lang="en-US" sz="1800" dirty="0"/>
          </a:p>
        </p:txBody>
      </p:sp>
      <p:sp>
        <p:nvSpPr>
          <p:cNvPr id="6" name="Text 4"/>
          <p:cNvSpPr/>
          <p:nvPr/>
        </p:nvSpPr>
        <p:spPr>
          <a:xfrm>
            <a:off x="4572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Explorer</a:t>
            </a:r>
            <a:endParaRPr lang="en-US" sz="1400" dirty="0"/>
          </a:p>
        </p:txBody>
      </p:sp>
      <p:sp>
        <p:nvSpPr>
          <p:cNvPr id="7" name="Shape 5"/>
          <p:cNvSpPr/>
          <p:nvPr/>
        </p:nvSpPr>
        <p:spPr>
          <a:xfrm>
            <a:off x="3200400" y="1280160"/>
            <a:ext cx="2468880" cy="3291840"/>
          </a:xfrm>
          <a:prstGeom prst="rect">
            <a:avLst/>
          </a:prstGeom>
          <a:solidFill>
            <a:srgbClr val="F8F9FA"/>
          </a:solidFill>
          <a:ln/>
        </p:spPr>
      </p:sp>
      <p:sp>
        <p:nvSpPr>
          <p:cNvPr id="8" name="Shape 6"/>
          <p:cNvSpPr/>
          <p:nvPr/>
        </p:nvSpPr>
        <p:spPr>
          <a:xfrm>
            <a:off x="3200400" y="1280160"/>
            <a:ext cx="2468880" cy="54864"/>
          </a:xfrm>
          <a:prstGeom prst="rect">
            <a:avLst/>
          </a:prstGeom>
          <a:solidFill>
            <a:srgbClr val="635BFF"/>
          </a:solidFill>
          <a:ln/>
        </p:spPr>
      </p:sp>
      <p:sp>
        <p:nvSpPr>
          <p:cNvPr id="9" name="Text 7"/>
          <p:cNvSpPr/>
          <p:nvPr/>
        </p:nvSpPr>
        <p:spPr>
          <a:xfrm>
            <a:off x="32004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Well-prompted</a:t>
            </a:r>
            <a:endParaRPr lang="en-US" sz="1800" dirty="0"/>
          </a:p>
        </p:txBody>
      </p:sp>
      <p:sp>
        <p:nvSpPr>
          <p:cNvPr id="10" name="Text 8"/>
          <p:cNvSpPr/>
          <p:nvPr/>
        </p:nvSpPr>
        <p:spPr>
          <a:xfrm>
            <a:off x="32004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Whisperer</a:t>
            </a:r>
            <a:endParaRPr lang="en-US" sz="1400" dirty="0"/>
          </a:p>
        </p:txBody>
      </p:sp>
      <p:sp>
        <p:nvSpPr>
          <p:cNvPr id="11" name="Shape 9"/>
          <p:cNvSpPr/>
          <p:nvPr/>
        </p:nvSpPr>
        <p:spPr>
          <a:xfrm>
            <a:off x="5943600" y="1280160"/>
            <a:ext cx="2468880" cy="3291840"/>
          </a:xfrm>
          <a:prstGeom prst="rect">
            <a:avLst/>
          </a:prstGeom>
          <a:solidFill>
            <a:srgbClr val="F8F9FA"/>
          </a:solidFill>
          <a:ln/>
        </p:spPr>
      </p:sp>
      <p:sp>
        <p:nvSpPr>
          <p:cNvPr id="12" name="Shape 10"/>
          <p:cNvSpPr/>
          <p:nvPr/>
        </p:nvSpPr>
        <p:spPr>
          <a:xfrm>
            <a:off x="5943600" y="1280160"/>
            <a:ext cx="2468880" cy="54864"/>
          </a:xfrm>
          <a:prstGeom prst="rect">
            <a:avLst/>
          </a:prstGeom>
          <a:solidFill>
            <a:srgbClr val="09825D"/>
          </a:solidFill>
          <a:ln/>
        </p:spPr>
      </p:sp>
      <p:sp>
        <p:nvSpPr>
          <p:cNvPr id="13" name="Text 11"/>
          <p:cNvSpPr/>
          <p:nvPr/>
        </p:nvSpPr>
        <p:spPr>
          <a:xfrm>
            <a:off x="59436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Rules + Skills</a:t>
            </a:r>
            <a:endParaRPr lang="en-US" sz="1800" dirty="0"/>
          </a:p>
        </p:txBody>
      </p:sp>
      <p:sp>
        <p:nvSpPr>
          <p:cNvPr id="14" name="Text 12"/>
          <p:cNvSpPr/>
          <p:nvPr/>
        </p:nvSpPr>
        <p:spPr>
          <a:xfrm>
            <a:off x="59436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Strategist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You’re now a Strategist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But who's doing</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all the work?</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Still you.</a:t>
            </a:r>
            <a:endParaRPr lang="en-US" sz="4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1: Explorer → Strategist</dc:title>
  <dc:subject>PptxGenJS Presentation</dc:subject>
  <dc:creator>AI Academy</dc:creator>
  <cp:lastModifiedBy>AI Academy</cp:lastModifiedBy>
  <cp:revision>1</cp:revision>
  <dcterms:created xsi:type="dcterms:W3CDTF">2026-03-09T00:10:08Z</dcterms:created>
  <dcterms:modified xsi:type="dcterms:W3CDTF">2026-03-09T00:10:08Z</dcterms:modified>
</cp:coreProperties>
</file>