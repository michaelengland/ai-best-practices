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1 of 2 in the AI Academy series. 1 hour, hands-on. Everyone needs Claude open on their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dwell on the spectrum — it's context, not content. Point out where they are (Explorer) and where they'll be (Strategist). Energy: "We're moving fast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set: AI apps respond based on what you put in. First half changes the words (prompt engineering). Second half changes the information (context engineering). The second jump is bigger.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to open Claude and think of a task. Offer both free choice and the prescribed option. Walk the room — make sure everyone's ready. This task carries through the entire session and into Workshop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"before" photo. It needs to be mediocre so the transformation lands. Don't help them write a good prompt — let them write their natural one. Give 2 minutes. Then ask: "Sound familiar? Generic. Surface-level. Could be for any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of setup changes everything — tone, depth, perspective, terminology. The AI stops being a generic assistant and starts being a domain expert.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Then compare: "Notice the terminology? The frameworks? The level of detail? One sentence did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Specificity in = specificity out. WHO is it for, WHAT are the constraints, HOW long should it be. The output now addresses a real situation, not a generic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Compare: the output now addresses their specific situation. It's no longer interchangeable with any other company's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kitchen-sink prompt tries everything, nails nothing. Structure your request and the AI mirrors your organisation. Numbered sections or clear steps work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Compare: the AI's output now has the same structure they gave it. Organisation in = organisation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keywords change the AI's behaviour more than you'd expect. "Be radically honest" stops sycophancy. "Think step by step" improves reasoning. "Challenge my assumptions" surfaces blind spots.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Compare: notice the AI pushing back, flagging uncertainty, being more thoughtful. It's no longer just agreeing with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wouldn't ask a designer for "something nice." Tell the AI the format, tone, length, and audience. The output should be immediately usable — right format, right tone, right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This is the final technique. The output should now be immediately usable — something you could send, not something you'd need to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emotional peak. "Open your first output and your last output side by side." Give a full beat — don't rush past. The transformation is visceral because they did it themselves. Ask: "Would you have sent the first version to your boss? What about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flash — 5 seconds. "You just crossed from Explorer to Whisperer. Five techniques, one task, dramatic improvement. But we haven't changed what the AI knows yet." Don't linger.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 Five techniques, dramatic improvement. But every round changed the words — never the information. "Watch what happens when we do." This sets up the biggest conceptual shift in the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prompt from Technique 5. Add real detail — numbers, names, constraints. Coach the room to be specific: not "we have tea" but "Our office has a Sage Smart Kettle on the third floor. Loose-leaf collection in the blue tin — mostly Earl Grey and oolong. Dave in accounting is militant about warming the pot first. The audience is new hires who've never used the office kitchen." Then compare. Ask: "Which made a bigger difference — five techniques or four sentences of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Dory image should get a laugh — let it land. "Every conversation starts from scratch. She doesn't know your company, your role, or what you told her yesterday." This is the memory problem that rules and Skills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highest-leverage technique in the workshop. Point out what the AI asked that the attendee hadn't thought to provide — budget constraints, stakeholder concerns, timeline, success criteria. "Did it surface things you hadn't thought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to the pain. They just pasted all that context manually — role, company, preferences, constraints. Next conversation, they'll do it all again. Let the frustration build. "What if the AI already knew?"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Screen-share this walkthrough. Wait for everyone to find it. "This is where you tell Claude who you are — once. These are your rules." Verify the exact path before the session — Claude may move this periodically.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to write. Walk the room. Help anyone stuck. Template: "I work at [company]. My role is [role]. Be radically honest. Challenge my assumptions. Flag uncertainty. When I ask for presentations, default to billboard design — max 15 words per slide, with speaker notes." Quick test: open a NEW conversation and ask a question about your work — it already knows your role. Rules = who you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just wrote your rules. Here's what that actually looks like." One piece of A4 paper. That's it. Everything she knows right now — your rules, your request, the conversation — fits on this one page. Your rules go on this page. They're always there, grounding every conversation. That's powerful. But the page is small — you need to be selective about what earns a permanent spot. "So what happens to all those brilliant workflows that don't fit on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Instructions kept in a drawer, pulled onto the page only when the task needs them. They don't take up memory between tasks. She pulls one out, uses it, puts it back. The page stays clean. Rule example (always on the page): 'All presentations use billboard design.' Skill example (from the drawer): 'How to write a project proposal' — step-by-step workflow loaded when you ask for a proposal, back in the drawer when you don't. Navigate to Customize → Skills. Show the built-in Anthropic Skills: presentations, documents, spreadsheets.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enable the presentation Skill in Customize → Skills, then use it. The aha: they typed one bare sentence and got output that knows who they are (rules on the page) AND how to build a proper presentation (Skill pulled from the drawer). "The page told her who you are. The drawer told her how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landing line. Rules earn a permanent spot on the page — only the essentials. Everything else lives in the drawer as Skills, pulled out when relevant. This is the distinction that separates someone who 'uses AI' from someone who has built a system. The page doesn't fill up because Skills come and go. "Personal preferences = the page. Skills = the drawer. Both compound. Both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emotional peak — bigger than the first. The three-way comparison shows the full journey. If time is tight, this can be a facilitator demo. Point out: column 1 to 2 was five techniques. Column 2 to 3 was rules + Skills. The second jump required zero effort per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Graduation moment — the spectrum fills in. "You don't just talk to AI well — you've set up its playbook." But keep it short — this is the halfway point, not the finish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cliffhanger. "You search, you paste, you copy, you apply. Every step has 'you' in it." This should sting — they just felt the power of rules + Skills, but they're still the bottleneck. "Next time: Strategist → Orchestrator. We hand the AI the keys — and build it a team." Plant the seed: "Rules tell Claude who you are. Skills tell Claude how to work. Next time, each step in a chain gets its own specialized Skill — a whole team." Remind: save your prompt, preferences, and enabled Skills — they carry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731520"/>
            <a:ext cx="7315200" cy="2286000"/>
          </a:xfrm>
          <a:prstGeom prst="rect">
            <a:avLst/>
          </a:prstGeom>
          <a:noFill/>
          <a:ln/>
        </p:spPr>
        <p:txBody>
          <a:bodyPr wrap="square" lIns="0" tIns="0" rIns="0" bIns="0" rtlCol="0" anchor="ctr"/>
          <a:lstStyle/>
          <a:p>
            <a:pPr algn="ctr" indent="0" marL="0">
              <a:buNone/>
            </a:pPr>
            <a:r>
              <a:rPr lang="en-US" sz="6400" b="1" dirty="0">
                <a:solidFill>
                  <a:srgbClr val="FFFFFF"/>
                </a:solidFill>
                <a:latin typeface="Georgia" pitchFamily="34" charset="0"/>
                <a:ea typeface="Georgia" pitchFamily="34" charset="-122"/>
                <a:cs typeface="Georgia" pitchFamily="34" charset="-120"/>
              </a:rPr>
              <a:t>Explorer → Strategist</a:t>
            </a:r>
            <a:endParaRPr lang="en-US" sz="6400" dirty="0"/>
          </a:p>
        </p:txBody>
      </p:sp>
      <p:sp>
        <p:nvSpPr>
          <p:cNvPr id="4" name="Text 2"/>
          <p:cNvSpPr/>
          <p:nvPr/>
        </p:nvSpPr>
        <p:spPr>
          <a:xfrm>
            <a:off x="1371600" y="3200400"/>
            <a:ext cx="6400800" cy="548640"/>
          </a:xfrm>
          <a:prstGeom prst="rect">
            <a:avLst/>
          </a:prstGeom>
          <a:noFill/>
          <a:ln/>
        </p:spPr>
        <p:txBody>
          <a:bodyPr wrap="square" lIns="0" tIns="0" rIns="0" bIns="0" rtlCol="0" anchor="ctr"/>
          <a:lstStyle/>
          <a:p>
            <a:pPr algn="ctr" indent="0" marL="0">
              <a:buNone/>
            </a:pPr>
            <a:r>
              <a:rPr lang="en-US" sz="2200" i="1" dirty="0">
                <a:solidFill>
                  <a:srgbClr val="8B95A5"/>
                </a:solidFill>
                <a:latin typeface="Verdana" pitchFamily="34" charset="0"/>
                <a:ea typeface="Verdana" pitchFamily="34" charset="-122"/>
                <a:cs typeface="Verdana" pitchFamily="34" charset="-120"/>
              </a:rPr>
              <a:t>Talk to AI. Make it remember.</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Shape 1"/>
          <p:cNvSpPr/>
          <p:nvPr/>
        </p:nvSpPr>
        <p:spPr>
          <a:xfrm>
            <a:off x="192024" y="2011680"/>
            <a:ext cx="1188720" cy="640080"/>
          </a:xfrm>
          <a:prstGeom prst="roundRect">
            <a:avLst>
              <a:gd name="adj" fmla="val 11429"/>
            </a:avLst>
          </a:prstGeom>
          <a:solidFill>
            <a:srgbClr val="0A2540">
              <a:alpha val="50000"/>
            </a:srgbClr>
          </a:solidFill>
          <a:ln w="19050">
            <a:solidFill>
              <a:srgbClr val="8B95A5"/>
            </a:solidFill>
            <a:prstDash val="solid"/>
          </a:ln>
        </p:spPr>
      </p:sp>
      <p:sp>
        <p:nvSpPr>
          <p:cNvPr id="4" name="Text 2"/>
          <p:cNvSpPr/>
          <p:nvPr/>
        </p:nvSpPr>
        <p:spPr>
          <a:xfrm>
            <a:off x="192024"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Skeptic</a:t>
            </a:r>
            <a:endParaRPr lang="en-US" sz="1100" dirty="0"/>
          </a:p>
        </p:txBody>
      </p:sp>
      <p:sp>
        <p:nvSpPr>
          <p:cNvPr id="5" name="Text 3"/>
          <p:cNvSpPr/>
          <p:nvPr/>
        </p:nvSpPr>
        <p:spPr>
          <a:xfrm>
            <a:off x="1380744"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6" name="Shape 4"/>
          <p:cNvSpPr/>
          <p:nvPr/>
        </p:nvSpPr>
        <p:spPr>
          <a:xfrm>
            <a:off x="1453896" y="2011680"/>
            <a:ext cx="1188720" cy="640080"/>
          </a:xfrm>
          <a:prstGeom prst="roundRect">
            <a:avLst>
              <a:gd name="adj" fmla="val 11429"/>
            </a:avLst>
          </a:prstGeom>
          <a:solidFill>
            <a:srgbClr val="635BFF"/>
          </a:solidFill>
          <a:ln w="19050">
            <a:solidFill>
              <a:srgbClr val="635BFF"/>
            </a:solidFill>
            <a:prstDash val="solid"/>
          </a:ln>
        </p:spPr>
      </p:sp>
      <p:sp>
        <p:nvSpPr>
          <p:cNvPr id="7" name="Text 5"/>
          <p:cNvSpPr/>
          <p:nvPr/>
        </p:nvSpPr>
        <p:spPr>
          <a:xfrm>
            <a:off x="1453896"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Explorer</a:t>
            </a:r>
            <a:endParaRPr lang="en-US" sz="1100" dirty="0"/>
          </a:p>
        </p:txBody>
      </p:sp>
      <p:sp>
        <p:nvSpPr>
          <p:cNvPr id="8" name="Text 6"/>
          <p:cNvSpPr/>
          <p:nvPr/>
        </p:nvSpPr>
        <p:spPr>
          <a:xfrm>
            <a:off x="2642616"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9" name="Shape 7"/>
          <p:cNvSpPr/>
          <p:nvPr/>
        </p:nvSpPr>
        <p:spPr>
          <a:xfrm>
            <a:off x="2715768" y="2011680"/>
            <a:ext cx="1188720" cy="640080"/>
          </a:xfrm>
          <a:prstGeom prst="roundRect">
            <a:avLst>
              <a:gd name="adj" fmla="val 11429"/>
            </a:avLst>
          </a:prstGeom>
          <a:solidFill>
            <a:srgbClr val="635BFF"/>
          </a:solidFill>
          <a:ln w="19050">
            <a:solidFill>
              <a:srgbClr val="635BFF"/>
            </a:solidFill>
            <a:prstDash val="solid"/>
          </a:ln>
        </p:spPr>
      </p:sp>
      <p:sp>
        <p:nvSpPr>
          <p:cNvPr id="10" name="Text 8"/>
          <p:cNvSpPr/>
          <p:nvPr/>
        </p:nvSpPr>
        <p:spPr>
          <a:xfrm>
            <a:off x="2715768"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Whisperer</a:t>
            </a:r>
            <a:endParaRPr lang="en-US" sz="1100" dirty="0"/>
          </a:p>
        </p:txBody>
      </p:sp>
      <p:sp>
        <p:nvSpPr>
          <p:cNvPr id="11" name="Text 9"/>
          <p:cNvSpPr/>
          <p:nvPr/>
        </p:nvSpPr>
        <p:spPr>
          <a:xfrm>
            <a:off x="3904488"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12" name="Shape 10"/>
          <p:cNvSpPr/>
          <p:nvPr/>
        </p:nvSpPr>
        <p:spPr>
          <a:xfrm>
            <a:off x="3977640" y="2011680"/>
            <a:ext cx="1188720" cy="640080"/>
          </a:xfrm>
          <a:prstGeom prst="roundRect">
            <a:avLst>
              <a:gd name="adj" fmla="val 11429"/>
            </a:avLst>
          </a:prstGeom>
          <a:solidFill>
            <a:srgbClr val="635BFF"/>
          </a:solidFill>
          <a:ln w="19050">
            <a:solidFill>
              <a:srgbClr val="635BFF"/>
            </a:solidFill>
            <a:prstDash val="solid"/>
          </a:ln>
        </p:spPr>
      </p:sp>
      <p:sp>
        <p:nvSpPr>
          <p:cNvPr id="13" name="Text 11"/>
          <p:cNvSpPr/>
          <p:nvPr/>
        </p:nvSpPr>
        <p:spPr>
          <a:xfrm>
            <a:off x="3977640"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Strategist</a:t>
            </a:r>
            <a:endParaRPr lang="en-US" sz="1100" dirty="0"/>
          </a:p>
        </p:txBody>
      </p:sp>
      <p:sp>
        <p:nvSpPr>
          <p:cNvPr id="14" name="Text 12"/>
          <p:cNvSpPr/>
          <p:nvPr/>
        </p:nvSpPr>
        <p:spPr>
          <a:xfrm>
            <a:off x="5166360"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15" name="Shape 13"/>
          <p:cNvSpPr/>
          <p:nvPr/>
        </p:nvSpPr>
        <p:spPr>
          <a:xfrm>
            <a:off x="5239512" y="2011680"/>
            <a:ext cx="1188720" cy="640080"/>
          </a:xfrm>
          <a:prstGeom prst="roundRect">
            <a:avLst>
              <a:gd name="adj" fmla="val 11429"/>
            </a:avLst>
          </a:prstGeom>
          <a:solidFill>
            <a:srgbClr val="0A2540">
              <a:alpha val="50000"/>
            </a:srgbClr>
          </a:solidFill>
          <a:ln w="19050">
            <a:solidFill>
              <a:srgbClr val="8B95A5"/>
            </a:solidFill>
            <a:prstDash val="solid"/>
          </a:ln>
        </p:spPr>
      </p:sp>
      <p:sp>
        <p:nvSpPr>
          <p:cNvPr id="16" name="Text 14"/>
          <p:cNvSpPr/>
          <p:nvPr/>
        </p:nvSpPr>
        <p:spPr>
          <a:xfrm>
            <a:off x="5239512"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Operator</a:t>
            </a:r>
            <a:endParaRPr lang="en-US" sz="1100" dirty="0"/>
          </a:p>
        </p:txBody>
      </p:sp>
      <p:sp>
        <p:nvSpPr>
          <p:cNvPr id="17" name="Text 15"/>
          <p:cNvSpPr/>
          <p:nvPr/>
        </p:nvSpPr>
        <p:spPr>
          <a:xfrm>
            <a:off x="6428232"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18" name="Shape 16"/>
          <p:cNvSpPr/>
          <p:nvPr/>
        </p:nvSpPr>
        <p:spPr>
          <a:xfrm>
            <a:off x="6501384" y="2011680"/>
            <a:ext cx="1188720" cy="640080"/>
          </a:xfrm>
          <a:prstGeom prst="roundRect">
            <a:avLst>
              <a:gd name="adj" fmla="val 11429"/>
            </a:avLst>
          </a:prstGeom>
          <a:solidFill>
            <a:srgbClr val="0A2540">
              <a:alpha val="50000"/>
            </a:srgbClr>
          </a:solidFill>
          <a:ln w="19050">
            <a:solidFill>
              <a:srgbClr val="8B95A5"/>
            </a:solidFill>
            <a:prstDash val="solid"/>
          </a:ln>
        </p:spPr>
      </p:sp>
      <p:sp>
        <p:nvSpPr>
          <p:cNvPr id="19" name="Text 17"/>
          <p:cNvSpPr/>
          <p:nvPr/>
        </p:nvSpPr>
        <p:spPr>
          <a:xfrm>
            <a:off x="6501384"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Orchestrator</a:t>
            </a:r>
            <a:endParaRPr lang="en-US" sz="1100" dirty="0"/>
          </a:p>
        </p:txBody>
      </p:sp>
      <p:sp>
        <p:nvSpPr>
          <p:cNvPr id="20" name="Text 18"/>
          <p:cNvSpPr/>
          <p:nvPr/>
        </p:nvSpPr>
        <p:spPr>
          <a:xfrm>
            <a:off x="7690104"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21" name="Shape 19"/>
          <p:cNvSpPr/>
          <p:nvPr/>
        </p:nvSpPr>
        <p:spPr>
          <a:xfrm>
            <a:off x="7763256" y="2011680"/>
            <a:ext cx="1188720" cy="640080"/>
          </a:xfrm>
          <a:prstGeom prst="roundRect">
            <a:avLst>
              <a:gd name="adj" fmla="val 11429"/>
            </a:avLst>
          </a:prstGeom>
          <a:solidFill>
            <a:srgbClr val="0A2540">
              <a:alpha val="50000"/>
            </a:srgbClr>
          </a:solidFill>
          <a:ln w="19050">
            <a:solidFill>
              <a:srgbClr val="8B95A5"/>
            </a:solidFill>
            <a:prstDash val="dash"/>
          </a:ln>
        </p:spPr>
      </p:sp>
      <p:sp>
        <p:nvSpPr>
          <p:cNvPr id="22" name="Text 20"/>
          <p:cNvSpPr/>
          <p:nvPr/>
        </p:nvSpPr>
        <p:spPr>
          <a:xfrm>
            <a:off x="7763256"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Builder</a:t>
            </a:r>
            <a:endParaRPr lang="en-US" sz="1100" dirty="0"/>
          </a:p>
        </p:txBody>
      </p:sp>
      <p:sp>
        <p:nvSpPr>
          <p:cNvPr id="23" name="Text 21"/>
          <p:cNvSpPr/>
          <p:nvPr/>
        </p:nvSpPr>
        <p:spPr>
          <a:xfrm>
            <a:off x="914400" y="3108960"/>
            <a:ext cx="7315200" cy="548640"/>
          </a:xfrm>
          <a:prstGeom prst="rect">
            <a:avLst/>
          </a:prstGeom>
          <a:noFill/>
          <a:ln/>
        </p:spPr>
        <p:txBody>
          <a:bodyPr wrap="square" lIns="0" tIns="0" rIns="0" bIns="0" rtlCol="0" anchor="ctr"/>
          <a:lstStyle/>
          <a:p>
            <a:pPr algn="ctr" indent="0" marL="0">
              <a:buNone/>
            </a:pPr>
            <a:r>
              <a:rPr lang="en-US" sz="2400" b="1" dirty="0">
                <a:solidFill>
                  <a:srgbClr val="635BFF"/>
                </a:solidFill>
                <a:latin typeface="Georgia" pitchFamily="34" charset="0"/>
                <a:ea typeface="Georgia" pitchFamily="34" charset="-122"/>
                <a:cs typeface="Georgia" pitchFamily="34" charset="-120"/>
              </a:rPr>
              <a:t>Two levels in one session</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Today we change the words</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AND the information</a:t>
            </a:r>
            <a:endParaRPr lang="en-US" sz="4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3291840"/>
          </a:xfrm>
          <a:prstGeom prst="rect">
            <a:avLst/>
          </a:prstGeom>
          <a:noFill/>
          <a:ln/>
        </p:spPr>
        <p:txBody>
          <a:bodyPr wrap="square" lIns="0" tIns="0" rIns="0" bIns="0" rtlCol="0" anchor="ctr"/>
          <a:lstStyle/>
          <a:p>
            <a:pPr algn="ctr" indent="0" marL="0">
              <a:buNone/>
            </a:pPr>
            <a:r>
              <a:rPr lang="en-US" sz="3600" b="1" dirty="0">
                <a:solidFill>
                  <a:srgbClr val="635BFF"/>
                </a:solidFill>
                <a:latin typeface="Georgia" pitchFamily="34" charset="0"/>
                <a:ea typeface="Georgia" pitchFamily="34" charset="-122"/>
                <a:cs typeface="Georgia" pitchFamily="34" charset="-120"/>
              </a:rPr>
              <a:t>Open Claude on your laptop</a:t>
            </a:r>
            <a:endParaRPr lang="en-US" sz="3600" dirty="0"/>
          </a:p>
          <a:p>
            <a:pPr algn="ctr" indent="0" marL="0">
              <a:buNone/>
            </a:pPr>
            <a:r>
              <a:rPr lang="en-US" sz="2800" b="1" dirty="0">
                <a:solidFill>
                  <a:srgbClr val="635BFF"/>
                </a:solidFill>
                <a:latin typeface="Georgia" pitchFamily="34" charset="0"/>
                <a:ea typeface="Georgia" pitchFamily="34" charset="-122"/>
                <a:cs typeface="Georgia" pitchFamily="34" charset="-120"/>
              </a:rPr>
              <a:t>Pick a real task from your work</a:t>
            </a:r>
            <a:endParaRPr lang="en-US" sz="3600" dirty="0"/>
          </a:p>
          <a:p>
            <a:pPr algn="ctr" indent="0" marL="0">
              <a:buNone/>
            </a:pPr>
            <a:r>
              <a:rPr lang="en-US" sz="2200" i="1" dirty="0">
                <a:solidFill>
                  <a:srgbClr val="8B95A5"/>
                </a:solidFill>
                <a:latin typeface="Verdana" pitchFamily="34" charset="0"/>
                <a:ea typeface="Verdana" pitchFamily="34" charset="-122"/>
                <a:cs typeface="Verdana" pitchFamily="34" charset="-120"/>
              </a:rPr>
              <a:t>a proposal, an email, a summary, a plan</a:t>
            </a:r>
            <a:endParaRPr lang="en-US" sz="3600" dirty="0"/>
          </a:p>
          <a:p>
            <a:pPr algn="ctr" indent="0" marL="0">
              <a:buNone/>
            </a:pPr>
            <a:r>
              <a:rPr lang="en-US" sz="2200" i="1" dirty="0">
                <a:solidFill>
                  <a:srgbClr val="8B95A5"/>
                </a:solidFill>
                <a:latin typeface="Verdana" pitchFamily="34" charset="0"/>
                <a:ea typeface="Verdana" pitchFamily="34" charset="-122"/>
                <a:cs typeface="Verdana" pitchFamily="34" charset="-120"/>
              </a:rPr>
              <a:t>Or use: "Make me a presentation about making a cup of tea"</a:t>
            </a:r>
            <a:endParaRPr 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3291840"/>
          </a:xfrm>
          <a:prstGeom prst="rect">
            <a:avLst/>
          </a:prstGeom>
          <a:noFill/>
          <a:ln/>
        </p:spPr>
        <p:txBody>
          <a:bodyPr wrap="square" lIns="0" tIns="0" rIns="0" bIns="0" rtlCol="0" anchor="ctr"/>
          <a:lstStyle/>
          <a:p>
            <a:pPr algn="ctr" indent="0" marL="0">
              <a:buNone/>
            </a:pPr>
            <a:r>
              <a:rPr lang="en-US" sz="3600" b="1" dirty="0">
                <a:solidFill>
                  <a:srgbClr val="635BFF"/>
                </a:solidFill>
                <a:latin typeface="Georgia" pitchFamily="34" charset="0"/>
                <a:ea typeface="Georgia" pitchFamily="34" charset="-122"/>
                <a:cs typeface="Georgia" pitchFamily="34" charset="-120"/>
              </a:rPr>
              <a:t>Type your natural prompt</a:t>
            </a:r>
            <a:endParaRPr lang="en-US" sz="3600" dirty="0"/>
          </a:p>
          <a:p>
            <a:pPr algn="ctr" indent="0" marL="0">
              <a:buNone/>
            </a:pPr>
            <a:r>
              <a:rPr lang="en-US" sz="2800" b="1" dirty="0">
                <a:solidFill>
                  <a:srgbClr val="635BFF"/>
                </a:solidFill>
                <a:latin typeface="Georgia" pitchFamily="34" charset="0"/>
                <a:ea typeface="Georgia" pitchFamily="34" charset="-122"/>
                <a:cs typeface="Georgia" pitchFamily="34" charset="-120"/>
              </a:rPr>
              <a:t>Don't overthink it</a:t>
            </a:r>
            <a:endParaRPr 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4400" b="1" dirty="0">
                <a:solidFill>
                  <a:srgbClr val="1A1F36"/>
                </a:solidFill>
                <a:latin typeface="Georgia" pitchFamily="34" charset="0"/>
                <a:ea typeface="Georgia" pitchFamily="34" charset="-122"/>
                <a:cs typeface="Georgia" pitchFamily="34" charset="-120"/>
              </a:rPr>
              <a:t>Assign a Role</a:t>
            </a:r>
            <a:endParaRPr lang="en-US" sz="4400" dirty="0"/>
          </a:p>
        </p:txBody>
      </p:sp>
      <p:sp>
        <p:nvSpPr>
          <p:cNvPr id="3" name="Text 1"/>
          <p:cNvSpPr/>
          <p:nvPr/>
        </p:nvSpPr>
        <p:spPr>
          <a:xfrm>
            <a:off x="457200" y="960120"/>
            <a:ext cx="8229600" cy="457200"/>
          </a:xfrm>
          <a:prstGeom prst="rect">
            <a:avLst/>
          </a:prstGeom>
          <a:noFill/>
          <a:ln/>
        </p:spPr>
        <p:txBody>
          <a:bodyPr wrap="square" lIns="0" tIns="0" rIns="0" bIns="0" rtlCol="0" anchor="ctr"/>
          <a:lstStyle/>
          <a:p>
            <a:pPr indent="0" marL="0">
              <a:buNone/>
            </a:pPr>
            <a:r>
              <a:rPr lang="en-US" sz="2000" i="1" dirty="0">
                <a:solidFill>
                  <a:srgbClr val="635BFF"/>
                </a:solidFill>
                <a:latin typeface="Verdana" pitchFamily="34" charset="0"/>
                <a:ea typeface="Verdana" pitchFamily="34" charset="-122"/>
                <a:cs typeface="Verdana" pitchFamily="34" charset="-120"/>
              </a:rPr>
              <a:t>One sentence changes everything</a:t>
            </a:r>
            <a:endParaRPr lang="en-US" sz="2000" dirty="0"/>
          </a:p>
        </p:txBody>
      </p:sp>
      <p:sp>
        <p:nvSpPr>
          <p:cNvPr id="4" name="Shape 2"/>
          <p:cNvSpPr/>
          <p:nvPr/>
        </p:nvSpPr>
        <p:spPr>
          <a:xfrm>
            <a:off x="457200" y="1554480"/>
            <a:ext cx="3840480" cy="2926080"/>
          </a:xfrm>
          <a:prstGeom prst="rect">
            <a:avLst/>
          </a:prstGeom>
          <a:solidFill>
            <a:srgbClr val="FEE2E8"/>
          </a:solidFill>
          <a:ln/>
        </p:spPr>
      </p:sp>
      <p:sp>
        <p:nvSpPr>
          <p:cNvPr id="5" name="Shape 3"/>
          <p:cNvSpPr/>
          <p:nvPr/>
        </p:nvSpPr>
        <p:spPr>
          <a:xfrm>
            <a:off x="457200" y="1554480"/>
            <a:ext cx="54864" cy="2926080"/>
          </a:xfrm>
          <a:prstGeom prst="rect">
            <a:avLst/>
          </a:prstGeom>
          <a:solidFill>
            <a:srgbClr val="FF6B8A"/>
          </a:solidFill>
          <a:ln/>
        </p:spPr>
      </p:sp>
      <p:sp>
        <p:nvSpPr>
          <p:cNvPr id="6" name="Text 4"/>
          <p:cNvSpPr/>
          <p:nvPr/>
        </p:nvSpPr>
        <p:spPr>
          <a:xfrm>
            <a:off x="731520" y="1737360"/>
            <a:ext cx="3291840" cy="2560320"/>
          </a:xfrm>
          <a:prstGeom prst="rect">
            <a:avLst/>
          </a:prstGeom>
          <a:noFill/>
          <a:ln/>
        </p:spPr>
        <p:txBody>
          <a:bodyPr wrap="square" lIns="0" tIns="0" rIns="0" bIns="0" rtlCol="0" anchor="t"/>
          <a:lstStyle/>
          <a:p>
            <a:pPr indent="0" marL="0">
              <a:buNone/>
            </a:pPr>
            <a:r>
              <a:rPr lang="en-US" sz="1800" dirty="0">
                <a:solidFill>
                  <a:srgbClr val="1A1F36"/>
                </a:solidFill>
                <a:latin typeface="Verdana" pitchFamily="34" charset="0"/>
                <a:ea typeface="Verdana" pitchFamily="34" charset="-122"/>
                <a:cs typeface="Verdana" pitchFamily="34" charset="-120"/>
              </a:rPr>
              <a:t>Make me a presentation about making tea</a:t>
            </a:r>
            <a:endParaRPr lang="en-US" sz="1800" dirty="0"/>
          </a:p>
        </p:txBody>
      </p:sp>
      <p:sp>
        <p:nvSpPr>
          <p:cNvPr id="7" name="Shape 5"/>
          <p:cNvSpPr/>
          <p:nvPr/>
        </p:nvSpPr>
        <p:spPr>
          <a:xfrm>
            <a:off x="4846320" y="1554480"/>
            <a:ext cx="3840480" cy="2926080"/>
          </a:xfrm>
          <a:prstGeom prst="rect">
            <a:avLst/>
          </a:prstGeom>
          <a:solidFill>
            <a:srgbClr val="DCFCE7"/>
          </a:solidFill>
          <a:ln/>
        </p:spPr>
      </p:sp>
      <p:sp>
        <p:nvSpPr>
          <p:cNvPr id="8" name="Shape 6"/>
          <p:cNvSpPr/>
          <p:nvPr/>
        </p:nvSpPr>
        <p:spPr>
          <a:xfrm>
            <a:off x="4846320" y="1554480"/>
            <a:ext cx="54864" cy="2926080"/>
          </a:xfrm>
          <a:prstGeom prst="rect">
            <a:avLst/>
          </a:prstGeom>
          <a:solidFill>
            <a:srgbClr val="09825D"/>
          </a:solidFill>
          <a:ln/>
        </p:spPr>
      </p:sp>
      <p:sp>
        <p:nvSpPr>
          <p:cNvPr id="9" name="Text 7"/>
          <p:cNvSpPr/>
          <p:nvPr/>
        </p:nvSpPr>
        <p:spPr>
          <a:xfrm>
            <a:off x="5120640" y="1737360"/>
            <a:ext cx="3291840" cy="2560320"/>
          </a:xfrm>
          <a:prstGeom prst="rect">
            <a:avLst/>
          </a:prstGeom>
          <a:noFill/>
          <a:ln/>
        </p:spPr>
        <p:txBody>
          <a:bodyPr wrap="square" lIns="0" tIns="0" rIns="0" bIns="0" rtlCol="0" anchor="t"/>
          <a:lstStyle/>
          <a:p>
            <a:pPr indent="0" marL="0">
              <a:buNone/>
            </a:pPr>
            <a:r>
              <a:rPr lang="en-US" sz="1800" dirty="0">
                <a:solidFill>
                  <a:srgbClr val="1A1F36"/>
                </a:solidFill>
                <a:latin typeface="Verdana" pitchFamily="34" charset="0"/>
                <a:ea typeface="Verdana" pitchFamily="34" charset="-122"/>
                <a:cs typeface="Verdana" pitchFamily="34" charset="-120"/>
              </a:rPr>
              <a:t>You are a senior office manager at a mid-size tech company. Make me a presentation about making tea</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3291840"/>
          </a:xfrm>
          <a:prstGeom prst="rect">
            <a:avLst/>
          </a:prstGeom>
          <a:noFill/>
          <a:ln/>
        </p:spPr>
        <p:txBody>
          <a:bodyPr wrap="square" lIns="0" tIns="0" rIns="0" bIns="0" rtlCol="0" anchor="ctr"/>
          <a:lstStyle/>
          <a:p>
            <a:pPr algn="ctr" indent="0" marL="0">
              <a:buNone/>
            </a:pPr>
            <a:r>
              <a:rPr lang="en-US" sz="2800" b="1" dirty="0">
                <a:solidFill>
                  <a:srgbClr val="635BFF"/>
                </a:solidFill>
                <a:latin typeface="Georgia" pitchFamily="34" charset="0"/>
                <a:ea typeface="Georgia" pitchFamily="34" charset="-122"/>
                <a:cs typeface="Georgia" pitchFamily="34" charset="-120"/>
              </a:rPr>
              <a:t>Add this to your prompt:</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"You are a senior [your role]</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at [your company]."</a:t>
            </a:r>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4400" b="1" dirty="0">
                <a:solidFill>
                  <a:srgbClr val="1A1F36"/>
                </a:solidFill>
                <a:latin typeface="Georgia" pitchFamily="34" charset="0"/>
                <a:ea typeface="Georgia" pitchFamily="34" charset="-122"/>
                <a:cs typeface="Georgia" pitchFamily="34" charset="-120"/>
              </a:rPr>
              <a:t>Be Specific</a:t>
            </a:r>
            <a:endParaRPr lang="en-US" sz="4400" dirty="0"/>
          </a:p>
        </p:txBody>
      </p:sp>
      <p:sp>
        <p:nvSpPr>
          <p:cNvPr id="3" name="Text 1"/>
          <p:cNvSpPr/>
          <p:nvPr/>
        </p:nvSpPr>
        <p:spPr>
          <a:xfrm>
            <a:off x="457200" y="960120"/>
            <a:ext cx="8229600" cy="457200"/>
          </a:xfrm>
          <a:prstGeom prst="rect">
            <a:avLst/>
          </a:prstGeom>
          <a:noFill/>
          <a:ln/>
        </p:spPr>
        <p:txBody>
          <a:bodyPr wrap="square" lIns="0" tIns="0" rIns="0" bIns="0" rtlCol="0" anchor="ctr"/>
          <a:lstStyle/>
          <a:p>
            <a:pPr indent="0" marL="0">
              <a:buNone/>
            </a:pPr>
            <a:r>
              <a:rPr lang="en-US" sz="2000" i="1" dirty="0">
                <a:solidFill>
                  <a:srgbClr val="635BFF"/>
                </a:solidFill>
                <a:latin typeface="Verdana" pitchFamily="34" charset="0"/>
                <a:ea typeface="Verdana" pitchFamily="34" charset="-122"/>
                <a:cs typeface="Verdana" pitchFamily="34" charset="-120"/>
              </a:rPr>
              <a:t>Specificity in = specificity out</a:t>
            </a:r>
            <a:endParaRPr lang="en-US" sz="2000" dirty="0"/>
          </a:p>
        </p:txBody>
      </p:sp>
      <p:sp>
        <p:nvSpPr>
          <p:cNvPr id="4" name="Shape 2"/>
          <p:cNvSpPr/>
          <p:nvPr/>
        </p:nvSpPr>
        <p:spPr>
          <a:xfrm>
            <a:off x="457200" y="1554480"/>
            <a:ext cx="3840480" cy="2926080"/>
          </a:xfrm>
          <a:prstGeom prst="rect">
            <a:avLst/>
          </a:prstGeom>
          <a:solidFill>
            <a:srgbClr val="FEE2E8"/>
          </a:solidFill>
          <a:ln/>
        </p:spPr>
      </p:sp>
      <p:sp>
        <p:nvSpPr>
          <p:cNvPr id="5" name="Shape 3"/>
          <p:cNvSpPr/>
          <p:nvPr/>
        </p:nvSpPr>
        <p:spPr>
          <a:xfrm>
            <a:off x="457200" y="1554480"/>
            <a:ext cx="54864" cy="2926080"/>
          </a:xfrm>
          <a:prstGeom prst="rect">
            <a:avLst/>
          </a:prstGeom>
          <a:solidFill>
            <a:srgbClr val="FF6B8A"/>
          </a:solidFill>
          <a:ln/>
        </p:spPr>
      </p:sp>
      <p:sp>
        <p:nvSpPr>
          <p:cNvPr id="6" name="Text 4"/>
          <p:cNvSpPr/>
          <p:nvPr/>
        </p:nvSpPr>
        <p:spPr>
          <a:xfrm>
            <a:off x="731520" y="1737360"/>
            <a:ext cx="3291840" cy="2560320"/>
          </a:xfrm>
          <a:prstGeom prst="rect">
            <a:avLst/>
          </a:prstGeom>
          <a:noFill/>
          <a:ln/>
        </p:spPr>
        <p:txBody>
          <a:bodyPr wrap="square" lIns="0" tIns="0" rIns="0" bIns="0" rtlCol="0" anchor="t"/>
          <a:lstStyle/>
          <a:p>
            <a:pPr indent="0" marL="0">
              <a:buNone/>
            </a:pPr>
            <a:r>
              <a:rPr lang="en-US" sz="1800" dirty="0">
                <a:solidFill>
                  <a:srgbClr val="1A1F36"/>
                </a:solidFill>
                <a:latin typeface="Verdana" pitchFamily="34" charset="0"/>
                <a:ea typeface="Verdana" pitchFamily="34" charset="-122"/>
                <a:cs typeface="Verdana" pitchFamily="34" charset="-120"/>
              </a:rPr>
              <a:t>Make a presentation about making tea</a:t>
            </a:r>
            <a:endParaRPr lang="en-US" sz="1800" dirty="0"/>
          </a:p>
        </p:txBody>
      </p:sp>
      <p:sp>
        <p:nvSpPr>
          <p:cNvPr id="7" name="Shape 5"/>
          <p:cNvSpPr/>
          <p:nvPr/>
        </p:nvSpPr>
        <p:spPr>
          <a:xfrm>
            <a:off x="4846320" y="1554480"/>
            <a:ext cx="3840480" cy="2926080"/>
          </a:xfrm>
          <a:prstGeom prst="rect">
            <a:avLst/>
          </a:prstGeom>
          <a:solidFill>
            <a:srgbClr val="DCFCE7"/>
          </a:solidFill>
          <a:ln/>
        </p:spPr>
      </p:sp>
      <p:sp>
        <p:nvSpPr>
          <p:cNvPr id="8" name="Shape 6"/>
          <p:cNvSpPr/>
          <p:nvPr/>
        </p:nvSpPr>
        <p:spPr>
          <a:xfrm>
            <a:off x="4846320" y="1554480"/>
            <a:ext cx="54864" cy="2926080"/>
          </a:xfrm>
          <a:prstGeom prst="rect">
            <a:avLst/>
          </a:prstGeom>
          <a:solidFill>
            <a:srgbClr val="09825D"/>
          </a:solidFill>
          <a:ln/>
        </p:spPr>
      </p:sp>
      <p:sp>
        <p:nvSpPr>
          <p:cNvPr id="9" name="Text 7"/>
          <p:cNvSpPr/>
          <p:nvPr/>
        </p:nvSpPr>
        <p:spPr>
          <a:xfrm>
            <a:off x="5120640" y="1737360"/>
            <a:ext cx="3291840" cy="2560320"/>
          </a:xfrm>
          <a:prstGeom prst="rect">
            <a:avLst/>
          </a:prstGeom>
          <a:noFill/>
          <a:ln/>
        </p:spPr>
        <p:txBody>
          <a:bodyPr wrap="square" lIns="0" tIns="0" rIns="0" bIns="0" rtlCol="0" anchor="t"/>
          <a:lstStyle/>
          <a:p>
            <a:pPr indent="0" marL="0">
              <a:buNone/>
            </a:pPr>
            <a:r>
              <a:rPr lang="en-US" sz="1800" dirty="0">
                <a:solidFill>
                  <a:srgbClr val="1A1F36"/>
                </a:solidFill>
                <a:latin typeface="Verdana" pitchFamily="34" charset="0"/>
                <a:ea typeface="Verdana" pitchFamily="34" charset="-122"/>
                <a:cs typeface="Verdana" pitchFamily="34" charset="-120"/>
              </a:rPr>
              <a:t>A 10-slide deck for new hires. British-style loose-leaf tea. Cover equipment, steeping time, and milk-first debate.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3291840"/>
          </a:xfrm>
          <a:prstGeom prst="rect">
            <a:avLst/>
          </a:prstGeom>
          <a:noFill/>
          <a:ln/>
        </p:spPr>
        <p:txBody>
          <a:bodyPr wrap="square" lIns="0" tIns="0" rIns="0" bIns="0" rtlCol="0" anchor="ctr"/>
          <a:lstStyle/>
          <a:p>
            <a:pPr algn="ctr" indent="0" marL="0">
              <a:buNone/>
            </a:pPr>
            <a:r>
              <a:rPr lang="en-US" sz="2800" b="1" dirty="0">
                <a:solidFill>
                  <a:srgbClr val="635BFF"/>
                </a:solidFill>
                <a:latin typeface="Georgia" pitchFamily="34" charset="0"/>
                <a:ea typeface="Georgia" pitchFamily="34" charset="-122"/>
                <a:cs typeface="Georgia" pitchFamily="34" charset="-120"/>
              </a:rPr>
              <a:t>Add to your prompt:</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WHO it's for</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WHAT the constraints are</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HOW long it should be</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4400" b="1" dirty="0">
                <a:solidFill>
                  <a:srgbClr val="1A1F36"/>
                </a:solidFill>
                <a:latin typeface="Georgia" pitchFamily="34" charset="0"/>
                <a:ea typeface="Georgia" pitchFamily="34" charset="-122"/>
                <a:cs typeface="Georgia" pitchFamily="34" charset="-120"/>
              </a:rPr>
              <a:t>One Task at a Time</a:t>
            </a:r>
            <a:endParaRPr lang="en-US" sz="4400" dirty="0"/>
          </a:p>
        </p:txBody>
      </p:sp>
      <p:sp>
        <p:nvSpPr>
          <p:cNvPr id="3" name="Text 1"/>
          <p:cNvSpPr/>
          <p:nvPr/>
        </p:nvSpPr>
        <p:spPr>
          <a:xfrm>
            <a:off x="457200" y="960120"/>
            <a:ext cx="8229600" cy="457200"/>
          </a:xfrm>
          <a:prstGeom prst="rect">
            <a:avLst/>
          </a:prstGeom>
          <a:noFill/>
          <a:ln/>
        </p:spPr>
        <p:txBody>
          <a:bodyPr wrap="square" lIns="0" tIns="0" rIns="0" bIns="0" rtlCol="0" anchor="ctr"/>
          <a:lstStyle/>
          <a:p>
            <a:pPr indent="0" marL="0">
              <a:buNone/>
            </a:pPr>
            <a:r>
              <a:rPr lang="en-US" sz="2000" i="1" dirty="0">
                <a:solidFill>
                  <a:srgbClr val="635BFF"/>
                </a:solidFill>
                <a:latin typeface="Verdana" pitchFamily="34" charset="0"/>
                <a:ea typeface="Verdana" pitchFamily="34" charset="-122"/>
                <a:cs typeface="Verdana" pitchFamily="34" charset="-120"/>
              </a:rPr>
              <a:t>Structure in = structure out</a:t>
            </a:r>
            <a:endParaRPr lang="en-US" sz="2000" dirty="0"/>
          </a:p>
        </p:txBody>
      </p:sp>
      <p:sp>
        <p:nvSpPr>
          <p:cNvPr id="4" name="Shape 2"/>
          <p:cNvSpPr/>
          <p:nvPr/>
        </p:nvSpPr>
        <p:spPr>
          <a:xfrm>
            <a:off x="457200" y="1554480"/>
            <a:ext cx="3840480" cy="2926080"/>
          </a:xfrm>
          <a:prstGeom prst="rect">
            <a:avLst/>
          </a:prstGeom>
          <a:solidFill>
            <a:srgbClr val="FEE2E8"/>
          </a:solidFill>
          <a:ln/>
        </p:spPr>
      </p:sp>
      <p:sp>
        <p:nvSpPr>
          <p:cNvPr id="5" name="Shape 3"/>
          <p:cNvSpPr/>
          <p:nvPr/>
        </p:nvSpPr>
        <p:spPr>
          <a:xfrm>
            <a:off x="457200" y="1554480"/>
            <a:ext cx="54864" cy="2926080"/>
          </a:xfrm>
          <a:prstGeom prst="rect">
            <a:avLst/>
          </a:prstGeom>
          <a:solidFill>
            <a:srgbClr val="FF6B8A"/>
          </a:solidFill>
          <a:ln/>
        </p:spPr>
      </p:sp>
      <p:sp>
        <p:nvSpPr>
          <p:cNvPr id="6" name="Text 4"/>
          <p:cNvSpPr/>
          <p:nvPr/>
        </p:nvSpPr>
        <p:spPr>
          <a:xfrm>
            <a:off x="731520" y="1737360"/>
            <a:ext cx="3291840" cy="2560320"/>
          </a:xfrm>
          <a:prstGeom prst="rect">
            <a:avLst/>
          </a:prstGeom>
          <a:noFill/>
          <a:ln/>
        </p:spPr>
        <p:txBody>
          <a:bodyPr wrap="square" lIns="0" tIns="0" rIns="0" bIns="0" rtlCol="0" anchor="t"/>
          <a:lstStyle/>
          <a:p>
            <a:pPr indent="0" marL="0">
              <a:buNone/>
            </a:pPr>
            <a:r>
              <a:rPr lang="en-US" sz="1800" dirty="0">
                <a:solidFill>
                  <a:srgbClr val="1A1F36"/>
                </a:solidFill>
                <a:latin typeface="Verdana" pitchFamily="34" charset="0"/>
                <a:ea typeface="Verdana" pitchFamily="34" charset="-122"/>
                <a:cs typeface="Verdana" pitchFamily="34" charset="-120"/>
              </a:rPr>
              <a:t>Make a presentation about tea, cover equipment, technique, preferences, and cleanup</a:t>
            </a:r>
            <a:endParaRPr lang="en-US" sz="1800" dirty="0"/>
          </a:p>
        </p:txBody>
      </p:sp>
      <p:sp>
        <p:nvSpPr>
          <p:cNvPr id="7" name="Shape 5"/>
          <p:cNvSpPr/>
          <p:nvPr/>
        </p:nvSpPr>
        <p:spPr>
          <a:xfrm>
            <a:off x="4846320" y="1554480"/>
            <a:ext cx="3840480" cy="2926080"/>
          </a:xfrm>
          <a:prstGeom prst="rect">
            <a:avLst/>
          </a:prstGeom>
          <a:solidFill>
            <a:srgbClr val="DCFCE7"/>
          </a:solidFill>
          <a:ln/>
        </p:spPr>
      </p:sp>
      <p:sp>
        <p:nvSpPr>
          <p:cNvPr id="8" name="Shape 6"/>
          <p:cNvSpPr/>
          <p:nvPr/>
        </p:nvSpPr>
        <p:spPr>
          <a:xfrm>
            <a:off x="4846320" y="1554480"/>
            <a:ext cx="54864" cy="2926080"/>
          </a:xfrm>
          <a:prstGeom prst="rect">
            <a:avLst/>
          </a:prstGeom>
          <a:solidFill>
            <a:srgbClr val="09825D"/>
          </a:solidFill>
          <a:ln/>
        </p:spPr>
      </p:sp>
      <p:sp>
        <p:nvSpPr>
          <p:cNvPr id="9" name="Text 7"/>
          <p:cNvSpPr/>
          <p:nvPr/>
        </p:nvSpPr>
        <p:spPr>
          <a:xfrm>
            <a:off x="5120640" y="1737360"/>
            <a:ext cx="3291840" cy="2560320"/>
          </a:xfrm>
          <a:prstGeom prst="rect">
            <a:avLst/>
          </a:prstGeom>
          <a:noFill/>
          <a:ln/>
        </p:spPr>
        <p:txBody>
          <a:bodyPr wrap="square" lIns="0" tIns="0" rIns="0" bIns="0" rtlCol="0" anchor="t"/>
          <a:lstStyle/>
          <a:p>
            <a:pPr indent="0" marL="0">
              <a:buNone/>
            </a:pPr>
            <a:r>
              <a:rPr lang="en-US" sz="1800" dirty="0">
                <a:solidFill>
                  <a:srgbClr val="1A1F36"/>
                </a:solidFill>
                <a:latin typeface="Verdana" pitchFamily="34" charset="0"/>
                <a:ea typeface="Verdana" pitchFamily="34" charset="-122"/>
                <a:cs typeface="Verdana" pitchFamily="34" charset="-120"/>
              </a:rPr>
              <a:t>1. Outline the key steps in order</a:t>
            </a:r>
            <a:endParaRPr lang="en-US" sz="1800" dirty="0"/>
          </a:p>
          <a:p>
            <a:pPr indent="0" marL="0">
              <a:buNone/>
            </a:pPr>
            <a:r>
              <a:rPr lang="en-US" sz="1800" dirty="0">
                <a:solidFill>
                  <a:srgbClr val="1A1F36"/>
                </a:solidFill>
                <a:latin typeface="Verdana" pitchFamily="34" charset="0"/>
                <a:ea typeface="Verdana" pitchFamily="34" charset="-122"/>
                <a:cs typeface="Verdana" pitchFamily="34" charset="-120"/>
              </a:rPr>
              <a:t>2. Cover equipment needed</a:t>
            </a:r>
            <a:endParaRPr lang="en-US" sz="1800" dirty="0"/>
          </a:p>
          <a:p>
            <a:pPr indent="0" marL="0">
              <a:buNone/>
            </a:pPr>
            <a:r>
              <a:rPr lang="en-US" sz="1800" dirty="0">
                <a:solidFill>
                  <a:srgbClr val="1A1F36"/>
                </a:solidFill>
                <a:latin typeface="Verdana" pitchFamily="34" charset="0"/>
                <a:ea typeface="Verdana" pitchFamily="34" charset="-122"/>
                <a:cs typeface="Verdana" pitchFamily="34" charset="-120"/>
              </a:rPr>
              <a:t>3. Walk through the process</a:t>
            </a:r>
            <a:endParaRPr lang="en-US" sz="1800" dirty="0"/>
          </a:p>
          <a:p>
            <a:pPr indent="0" marL="0">
              <a:buNone/>
            </a:pPr>
            <a:r>
              <a:rPr lang="en-US" sz="1800" dirty="0">
                <a:solidFill>
                  <a:srgbClr val="1A1F36"/>
                </a:solidFill>
                <a:latin typeface="Verdana" pitchFamily="34" charset="0"/>
                <a:ea typeface="Verdana" pitchFamily="34" charset="-122"/>
                <a:cs typeface="Verdana" pitchFamily="34" charset="-120"/>
              </a:rPr>
              <a:t>4. Note team preferences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3291840"/>
          </a:xfrm>
          <a:prstGeom prst="rect">
            <a:avLst/>
          </a:prstGeom>
          <a:noFill/>
          <a:ln/>
        </p:spPr>
        <p:txBody>
          <a:bodyPr wrap="square" lIns="0" tIns="0" rIns="0" bIns="0" rtlCol="0" anchor="ctr"/>
          <a:lstStyle/>
          <a:p>
            <a:pPr algn="ctr" indent="0" marL="0">
              <a:buNone/>
            </a:pPr>
            <a:r>
              <a:rPr lang="en-US" sz="2800" b="1" dirty="0">
                <a:solidFill>
                  <a:srgbClr val="635BFF"/>
                </a:solidFill>
                <a:latin typeface="Georgia" pitchFamily="34" charset="0"/>
                <a:ea typeface="Georgia" pitchFamily="34" charset="-122"/>
                <a:cs typeface="Georgia" pitchFamily="34" charset="-120"/>
              </a:rPr>
              <a:t>Structure your prompt:</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Add numbered sections</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or clear steps</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4400" b="1" dirty="0">
                <a:solidFill>
                  <a:srgbClr val="1A1F36"/>
                </a:solidFill>
                <a:latin typeface="Georgia" pitchFamily="34" charset="0"/>
                <a:ea typeface="Georgia" pitchFamily="34" charset="-122"/>
                <a:cs typeface="Georgia" pitchFamily="34" charset="-120"/>
              </a:rPr>
              <a:t>Power Keywords</a:t>
            </a:r>
            <a:endParaRPr lang="en-US" sz="4400" dirty="0"/>
          </a:p>
        </p:txBody>
      </p:sp>
      <p:sp>
        <p:nvSpPr>
          <p:cNvPr id="3" name="Text 1"/>
          <p:cNvSpPr/>
          <p:nvPr/>
        </p:nvSpPr>
        <p:spPr>
          <a:xfrm>
            <a:off x="457200" y="960120"/>
            <a:ext cx="8229600" cy="457200"/>
          </a:xfrm>
          <a:prstGeom prst="rect">
            <a:avLst/>
          </a:prstGeom>
          <a:noFill/>
          <a:ln/>
        </p:spPr>
        <p:txBody>
          <a:bodyPr wrap="square" lIns="0" tIns="0" rIns="0" bIns="0" rtlCol="0" anchor="ctr"/>
          <a:lstStyle/>
          <a:p>
            <a:pPr indent="0" marL="0">
              <a:buNone/>
            </a:pPr>
            <a:r>
              <a:rPr lang="en-US" sz="2000" i="1" dirty="0">
                <a:solidFill>
                  <a:srgbClr val="635BFF"/>
                </a:solidFill>
                <a:latin typeface="Verdana" pitchFamily="34" charset="0"/>
                <a:ea typeface="Verdana" pitchFamily="34" charset="-122"/>
                <a:cs typeface="Verdana" pitchFamily="34" charset="-120"/>
              </a:rPr>
              <a:t>Words that change AI behaviour</a:t>
            </a:r>
            <a:endParaRPr lang="en-US" sz="2000" dirty="0"/>
          </a:p>
        </p:txBody>
      </p:sp>
      <p:sp>
        <p:nvSpPr>
          <p:cNvPr id="4" name="Shape 2"/>
          <p:cNvSpPr/>
          <p:nvPr/>
        </p:nvSpPr>
        <p:spPr>
          <a:xfrm>
            <a:off x="457200" y="1554480"/>
            <a:ext cx="3840480" cy="2926080"/>
          </a:xfrm>
          <a:prstGeom prst="rect">
            <a:avLst/>
          </a:prstGeom>
          <a:solidFill>
            <a:srgbClr val="FEE2E8"/>
          </a:solidFill>
          <a:ln/>
        </p:spPr>
      </p:sp>
      <p:sp>
        <p:nvSpPr>
          <p:cNvPr id="5" name="Shape 3"/>
          <p:cNvSpPr/>
          <p:nvPr/>
        </p:nvSpPr>
        <p:spPr>
          <a:xfrm>
            <a:off x="457200" y="1554480"/>
            <a:ext cx="54864" cy="2926080"/>
          </a:xfrm>
          <a:prstGeom prst="rect">
            <a:avLst/>
          </a:prstGeom>
          <a:solidFill>
            <a:srgbClr val="FF6B8A"/>
          </a:solidFill>
          <a:ln/>
        </p:spPr>
      </p:sp>
      <p:sp>
        <p:nvSpPr>
          <p:cNvPr id="6" name="Text 4"/>
          <p:cNvSpPr/>
          <p:nvPr/>
        </p:nvSpPr>
        <p:spPr>
          <a:xfrm>
            <a:off x="731520" y="1737360"/>
            <a:ext cx="3291840" cy="2560320"/>
          </a:xfrm>
          <a:prstGeom prst="rect">
            <a:avLst/>
          </a:prstGeom>
          <a:noFill/>
          <a:ln/>
        </p:spPr>
        <p:txBody>
          <a:bodyPr wrap="square" lIns="0" tIns="0" rIns="0" bIns="0" rtlCol="0" anchor="t"/>
          <a:lstStyle/>
          <a:p>
            <a:pPr indent="0" marL="0">
              <a:buNone/>
            </a:pPr>
            <a:r>
              <a:rPr lang="en-US" sz="1800" dirty="0">
                <a:solidFill>
                  <a:srgbClr val="1A1F36"/>
                </a:solidFill>
                <a:latin typeface="Verdana" pitchFamily="34" charset="0"/>
                <a:ea typeface="Verdana" pitchFamily="34" charset="-122"/>
                <a:cs typeface="Verdana" pitchFamily="34" charset="-120"/>
              </a:rPr>
              <a:t>Don't you think tea is great and everyone should learn it?</a:t>
            </a:r>
            <a:endParaRPr lang="en-US" sz="1800" dirty="0"/>
          </a:p>
        </p:txBody>
      </p:sp>
      <p:sp>
        <p:nvSpPr>
          <p:cNvPr id="7" name="Shape 5"/>
          <p:cNvSpPr/>
          <p:nvPr/>
        </p:nvSpPr>
        <p:spPr>
          <a:xfrm>
            <a:off x="4846320" y="1554480"/>
            <a:ext cx="3840480" cy="2926080"/>
          </a:xfrm>
          <a:prstGeom prst="rect">
            <a:avLst/>
          </a:prstGeom>
          <a:solidFill>
            <a:srgbClr val="DCFCE7"/>
          </a:solidFill>
          <a:ln/>
        </p:spPr>
      </p:sp>
      <p:sp>
        <p:nvSpPr>
          <p:cNvPr id="8" name="Shape 6"/>
          <p:cNvSpPr/>
          <p:nvPr/>
        </p:nvSpPr>
        <p:spPr>
          <a:xfrm>
            <a:off x="4846320" y="1554480"/>
            <a:ext cx="54864" cy="2926080"/>
          </a:xfrm>
          <a:prstGeom prst="rect">
            <a:avLst/>
          </a:prstGeom>
          <a:solidFill>
            <a:srgbClr val="09825D"/>
          </a:solidFill>
          <a:ln/>
        </p:spPr>
      </p:sp>
      <p:sp>
        <p:nvSpPr>
          <p:cNvPr id="9" name="Text 7"/>
          <p:cNvSpPr/>
          <p:nvPr/>
        </p:nvSpPr>
        <p:spPr>
          <a:xfrm>
            <a:off x="5120640" y="1737360"/>
            <a:ext cx="3291840" cy="2560320"/>
          </a:xfrm>
          <a:prstGeom prst="rect">
            <a:avLst/>
          </a:prstGeom>
          <a:noFill/>
          <a:ln/>
        </p:spPr>
        <p:txBody>
          <a:bodyPr wrap="square" lIns="0" tIns="0" rIns="0" bIns="0" rtlCol="0" anchor="t"/>
          <a:lstStyle/>
          <a:p>
            <a:pPr indent="0" marL="0">
              <a:buNone/>
            </a:pPr>
            <a:r>
              <a:rPr lang="en-US" sz="1800" dirty="0">
                <a:solidFill>
                  <a:srgbClr val="1A1F36"/>
                </a:solidFill>
                <a:latin typeface="Verdana" pitchFamily="34" charset="0"/>
                <a:ea typeface="Verdana" pitchFamily="34" charset="-122"/>
                <a:cs typeface="Verdana" pitchFamily="34" charset="-120"/>
              </a:rPr>
              <a:t>Be radically honest.</a:t>
            </a:r>
            <a:endParaRPr lang="en-US" sz="1800" dirty="0"/>
          </a:p>
          <a:p>
            <a:pPr indent="0" marL="0">
              <a:buNone/>
            </a:pPr>
            <a:r>
              <a:rPr lang="en-US" sz="1800" dirty="0">
                <a:solidFill>
                  <a:srgbClr val="1A1F36"/>
                </a:solidFill>
                <a:latin typeface="Verdana" pitchFamily="34" charset="0"/>
                <a:ea typeface="Verdana" pitchFamily="34" charset="-122"/>
                <a:cs typeface="Verdana" pitchFamily="34" charset="-120"/>
              </a:rPr>
              <a:t>Think step by step.</a:t>
            </a:r>
            <a:endParaRPr lang="en-US" sz="1800" dirty="0"/>
          </a:p>
          <a:p>
            <a:pPr indent="0" marL="0">
              <a:buNone/>
            </a:pPr>
            <a:r>
              <a:rPr lang="en-US" sz="1800" dirty="0">
                <a:solidFill>
                  <a:srgbClr val="1A1F36"/>
                </a:solidFill>
                <a:latin typeface="Verdana" pitchFamily="34" charset="0"/>
                <a:ea typeface="Verdana" pitchFamily="34" charset="-122"/>
                <a:cs typeface="Verdana" pitchFamily="34" charset="-120"/>
              </a:rPr>
              <a:t>Challenge my assumptions.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3291840"/>
          </a:xfrm>
          <a:prstGeom prst="rect">
            <a:avLst/>
          </a:prstGeom>
          <a:noFill/>
          <a:ln/>
        </p:spPr>
        <p:txBody>
          <a:bodyPr wrap="square" lIns="0" tIns="0" rIns="0" bIns="0" rtlCol="0" anchor="ctr"/>
          <a:lstStyle/>
          <a:p>
            <a:pPr algn="ctr" indent="0" marL="0">
              <a:buNone/>
            </a:pPr>
            <a:r>
              <a:rPr lang="en-US" sz="2800" b="1" dirty="0">
                <a:solidFill>
                  <a:srgbClr val="635BFF"/>
                </a:solidFill>
                <a:latin typeface="Georgia" pitchFamily="34" charset="0"/>
                <a:ea typeface="Georgia" pitchFamily="34" charset="-122"/>
                <a:cs typeface="Georgia" pitchFamily="34" charset="-120"/>
              </a:rPr>
              <a:t>Add 2–3 power keywords:</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"Be radically honest."</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"Think step by step."</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"Challenge my assumptions."</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4400" b="1" dirty="0">
                <a:solidFill>
                  <a:srgbClr val="1A1F36"/>
                </a:solidFill>
                <a:latin typeface="Georgia" pitchFamily="34" charset="0"/>
                <a:ea typeface="Georgia" pitchFamily="34" charset="-122"/>
                <a:cs typeface="Georgia" pitchFamily="34" charset="-120"/>
              </a:rPr>
              <a:t>Define the Output</a:t>
            </a:r>
            <a:endParaRPr lang="en-US" sz="4400" dirty="0"/>
          </a:p>
        </p:txBody>
      </p:sp>
      <p:sp>
        <p:nvSpPr>
          <p:cNvPr id="3" name="Text 1"/>
          <p:cNvSpPr/>
          <p:nvPr/>
        </p:nvSpPr>
        <p:spPr>
          <a:xfrm>
            <a:off x="457200" y="960120"/>
            <a:ext cx="8229600" cy="457200"/>
          </a:xfrm>
          <a:prstGeom prst="rect">
            <a:avLst/>
          </a:prstGeom>
          <a:noFill/>
          <a:ln/>
        </p:spPr>
        <p:txBody>
          <a:bodyPr wrap="square" lIns="0" tIns="0" rIns="0" bIns="0" rtlCol="0" anchor="ctr"/>
          <a:lstStyle/>
          <a:p>
            <a:pPr indent="0" marL="0">
              <a:buNone/>
            </a:pPr>
            <a:r>
              <a:rPr lang="en-US" sz="2000" i="1" dirty="0">
                <a:solidFill>
                  <a:srgbClr val="635BFF"/>
                </a:solidFill>
                <a:latin typeface="Verdana" pitchFamily="34" charset="0"/>
                <a:ea typeface="Verdana" pitchFamily="34" charset="-122"/>
                <a:cs typeface="Verdana" pitchFamily="34" charset="-120"/>
              </a:rPr>
              <a:t>Tell AI exactly what you need</a:t>
            </a:r>
            <a:endParaRPr lang="en-US" sz="2000" dirty="0"/>
          </a:p>
        </p:txBody>
      </p:sp>
      <p:sp>
        <p:nvSpPr>
          <p:cNvPr id="4" name="Shape 2"/>
          <p:cNvSpPr/>
          <p:nvPr/>
        </p:nvSpPr>
        <p:spPr>
          <a:xfrm>
            <a:off x="457200" y="1554480"/>
            <a:ext cx="3840480" cy="2926080"/>
          </a:xfrm>
          <a:prstGeom prst="rect">
            <a:avLst/>
          </a:prstGeom>
          <a:solidFill>
            <a:srgbClr val="FEE2E8"/>
          </a:solidFill>
          <a:ln/>
        </p:spPr>
      </p:sp>
      <p:sp>
        <p:nvSpPr>
          <p:cNvPr id="5" name="Shape 3"/>
          <p:cNvSpPr/>
          <p:nvPr/>
        </p:nvSpPr>
        <p:spPr>
          <a:xfrm>
            <a:off x="457200" y="1554480"/>
            <a:ext cx="54864" cy="2926080"/>
          </a:xfrm>
          <a:prstGeom prst="rect">
            <a:avLst/>
          </a:prstGeom>
          <a:solidFill>
            <a:srgbClr val="FF6B8A"/>
          </a:solidFill>
          <a:ln/>
        </p:spPr>
      </p:sp>
      <p:sp>
        <p:nvSpPr>
          <p:cNvPr id="6" name="Text 4"/>
          <p:cNvSpPr/>
          <p:nvPr/>
        </p:nvSpPr>
        <p:spPr>
          <a:xfrm>
            <a:off x="731520" y="1737360"/>
            <a:ext cx="3291840" cy="2560320"/>
          </a:xfrm>
          <a:prstGeom prst="rect">
            <a:avLst/>
          </a:prstGeom>
          <a:noFill/>
          <a:ln/>
        </p:spPr>
        <p:txBody>
          <a:bodyPr wrap="square" lIns="0" tIns="0" rIns="0" bIns="0" rtlCol="0" anchor="t"/>
          <a:lstStyle/>
          <a:p>
            <a:pPr indent="0" marL="0">
              <a:buNone/>
            </a:pPr>
            <a:r>
              <a:rPr lang="en-US" sz="1800" dirty="0">
                <a:solidFill>
                  <a:srgbClr val="1A1F36"/>
                </a:solidFill>
                <a:latin typeface="Verdana" pitchFamily="34" charset="0"/>
                <a:ea typeface="Verdana" pitchFamily="34" charset="-122"/>
                <a:cs typeface="Verdana" pitchFamily="34" charset="-120"/>
              </a:rPr>
              <a:t>Write something about making tea</a:t>
            </a:r>
            <a:endParaRPr lang="en-US" sz="1800" dirty="0"/>
          </a:p>
        </p:txBody>
      </p:sp>
      <p:sp>
        <p:nvSpPr>
          <p:cNvPr id="7" name="Shape 5"/>
          <p:cNvSpPr/>
          <p:nvPr/>
        </p:nvSpPr>
        <p:spPr>
          <a:xfrm>
            <a:off x="4846320" y="1554480"/>
            <a:ext cx="3840480" cy="2926080"/>
          </a:xfrm>
          <a:prstGeom prst="rect">
            <a:avLst/>
          </a:prstGeom>
          <a:solidFill>
            <a:srgbClr val="DCFCE7"/>
          </a:solidFill>
          <a:ln/>
        </p:spPr>
      </p:sp>
      <p:sp>
        <p:nvSpPr>
          <p:cNvPr id="8" name="Shape 6"/>
          <p:cNvSpPr/>
          <p:nvPr/>
        </p:nvSpPr>
        <p:spPr>
          <a:xfrm>
            <a:off x="4846320" y="1554480"/>
            <a:ext cx="54864" cy="2926080"/>
          </a:xfrm>
          <a:prstGeom prst="rect">
            <a:avLst/>
          </a:prstGeom>
          <a:solidFill>
            <a:srgbClr val="09825D"/>
          </a:solidFill>
          <a:ln/>
        </p:spPr>
      </p:sp>
      <p:sp>
        <p:nvSpPr>
          <p:cNvPr id="9" name="Text 7"/>
          <p:cNvSpPr/>
          <p:nvPr/>
        </p:nvSpPr>
        <p:spPr>
          <a:xfrm>
            <a:off x="5120640" y="1737360"/>
            <a:ext cx="3291840" cy="2560320"/>
          </a:xfrm>
          <a:prstGeom prst="rect">
            <a:avLst/>
          </a:prstGeom>
          <a:noFill/>
          <a:ln/>
        </p:spPr>
        <p:txBody>
          <a:bodyPr wrap="square" lIns="0" tIns="0" rIns="0" bIns="0" rtlCol="0" anchor="t"/>
          <a:lstStyle/>
          <a:p>
            <a:pPr indent="0" marL="0">
              <a:buNone/>
            </a:pPr>
            <a:r>
              <a:rPr lang="en-US" sz="1800" dirty="0">
                <a:solidFill>
                  <a:srgbClr val="1A1F36"/>
                </a:solidFill>
                <a:latin typeface="Verdana" pitchFamily="34" charset="0"/>
                <a:ea typeface="Verdana" pitchFamily="34" charset="-122"/>
                <a:cs typeface="Verdana" pitchFamily="34" charset="-120"/>
              </a:rPr>
              <a:t>Format: billboard slides, max 15 words.</a:t>
            </a:r>
            <a:endParaRPr lang="en-US" sz="1800" dirty="0"/>
          </a:p>
          <a:p>
            <a:pPr indent="0" marL="0">
              <a:buNone/>
            </a:pPr>
            <a:r>
              <a:rPr lang="en-US" sz="1800" dirty="0">
                <a:solidFill>
                  <a:srgbClr val="1A1F36"/>
                </a:solidFill>
                <a:latin typeface="Verdana" pitchFamily="34" charset="0"/>
                <a:ea typeface="Verdana" pitchFamily="34" charset="-122"/>
                <a:cs typeface="Verdana" pitchFamily="34" charset="-120"/>
              </a:rPr>
              <a:t>Tone: friendly but practical.</a:t>
            </a:r>
            <a:endParaRPr lang="en-US" sz="1800" dirty="0"/>
          </a:p>
          <a:p>
            <a:pPr indent="0" marL="0">
              <a:buNone/>
            </a:pPr>
            <a:r>
              <a:rPr lang="en-US" sz="1800" dirty="0">
                <a:solidFill>
                  <a:srgbClr val="1A1F36"/>
                </a:solidFill>
                <a:latin typeface="Verdana" pitchFamily="34" charset="0"/>
                <a:ea typeface="Verdana" pitchFamily="34" charset="-122"/>
                <a:cs typeface="Verdana" pitchFamily="34" charset="-120"/>
              </a:rPr>
              <a:t>Audience: new hires, zero tea knowledge.</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3291840"/>
          </a:xfrm>
          <a:prstGeom prst="rect">
            <a:avLst/>
          </a:prstGeom>
          <a:noFill/>
          <a:ln/>
        </p:spPr>
        <p:txBody>
          <a:bodyPr wrap="square" lIns="0" tIns="0" rIns="0" bIns="0" rtlCol="0" anchor="ctr"/>
          <a:lstStyle/>
          <a:p>
            <a:pPr algn="ctr" indent="0" marL="0">
              <a:buNone/>
            </a:pPr>
            <a:r>
              <a:rPr lang="en-US" sz="2800" b="1" dirty="0">
                <a:solidFill>
                  <a:srgbClr val="635BFF"/>
                </a:solidFill>
                <a:latin typeface="Georgia" pitchFamily="34" charset="0"/>
                <a:ea typeface="Georgia" pitchFamily="34" charset="-122"/>
                <a:cs typeface="Georgia" pitchFamily="34" charset="-120"/>
              </a:rPr>
              <a:t>Add to your prompt:</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Format, tone, length,</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and audience</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Same task. Same information.</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Just better words.</a:t>
            </a:r>
            <a:endParaRPr lang="en-US" sz="4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Shape 1"/>
          <p:cNvSpPr/>
          <p:nvPr/>
        </p:nvSpPr>
        <p:spPr>
          <a:xfrm>
            <a:off x="192024" y="2011680"/>
            <a:ext cx="1188720" cy="640080"/>
          </a:xfrm>
          <a:prstGeom prst="roundRect">
            <a:avLst>
              <a:gd name="adj" fmla="val 11429"/>
            </a:avLst>
          </a:prstGeom>
          <a:solidFill>
            <a:srgbClr val="0A2540">
              <a:alpha val="50000"/>
            </a:srgbClr>
          </a:solidFill>
          <a:ln w="19050">
            <a:solidFill>
              <a:srgbClr val="8B95A5"/>
            </a:solidFill>
            <a:prstDash val="solid"/>
          </a:ln>
        </p:spPr>
      </p:sp>
      <p:sp>
        <p:nvSpPr>
          <p:cNvPr id="4" name="Text 2"/>
          <p:cNvSpPr/>
          <p:nvPr/>
        </p:nvSpPr>
        <p:spPr>
          <a:xfrm>
            <a:off x="192024"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Skeptic</a:t>
            </a:r>
            <a:endParaRPr lang="en-US" sz="1100" dirty="0"/>
          </a:p>
        </p:txBody>
      </p:sp>
      <p:sp>
        <p:nvSpPr>
          <p:cNvPr id="5" name="Text 3"/>
          <p:cNvSpPr/>
          <p:nvPr/>
        </p:nvSpPr>
        <p:spPr>
          <a:xfrm>
            <a:off x="1380744"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6" name="Shape 4"/>
          <p:cNvSpPr/>
          <p:nvPr/>
        </p:nvSpPr>
        <p:spPr>
          <a:xfrm>
            <a:off x="1453896" y="2011680"/>
            <a:ext cx="1188720" cy="640080"/>
          </a:xfrm>
          <a:prstGeom prst="roundRect">
            <a:avLst>
              <a:gd name="adj" fmla="val 11429"/>
            </a:avLst>
          </a:prstGeom>
          <a:solidFill>
            <a:srgbClr val="635BFF"/>
          </a:solidFill>
          <a:ln w="19050">
            <a:solidFill>
              <a:srgbClr val="635BFF"/>
            </a:solidFill>
            <a:prstDash val="solid"/>
          </a:ln>
        </p:spPr>
      </p:sp>
      <p:sp>
        <p:nvSpPr>
          <p:cNvPr id="7" name="Text 5"/>
          <p:cNvSpPr/>
          <p:nvPr/>
        </p:nvSpPr>
        <p:spPr>
          <a:xfrm>
            <a:off x="1453896"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Explorer</a:t>
            </a:r>
            <a:endParaRPr lang="en-US" sz="1100" dirty="0"/>
          </a:p>
        </p:txBody>
      </p:sp>
      <p:sp>
        <p:nvSpPr>
          <p:cNvPr id="8" name="Text 6"/>
          <p:cNvSpPr/>
          <p:nvPr/>
        </p:nvSpPr>
        <p:spPr>
          <a:xfrm>
            <a:off x="2642616"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9" name="Shape 7"/>
          <p:cNvSpPr/>
          <p:nvPr/>
        </p:nvSpPr>
        <p:spPr>
          <a:xfrm>
            <a:off x="2715768" y="2011680"/>
            <a:ext cx="1188720" cy="640080"/>
          </a:xfrm>
          <a:prstGeom prst="roundRect">
            <a:avLst>
              <a:gd name="adj" fmla="val 11429"/>
            </a:avLst>
          </a:prstGeom>
          <a:solidFill>
            <a:srgbClr val="635BFF"/>
          </a:solidFill>
          <a:ln w="19050">
            <a:solidFill>
              <a:srgbClr val="635BFF"/>
            </a:solidFill>
            <a:prstDash val="solid"/>
          </a:ln>
        </p:spPr>
      </p:sp>
      <p:sp>
        <p:nvSpPr>
          <p:cNvPr id="10" name="Text 8"/>
          <p:cNvSpPr/>
          <p:nvPr/>
        </p:nvSpPr>
        <p:spPr>
          <a:xfrm>
            <a:off x="2715768"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Whisperer</a:t>
            </a:r>
            <a:endParaRPr lang="en-US" sz="1100" dirty="0"/>
          </a:p>
        </p:txBody>
      </p:sp>
      <p:sp>
        <p:nvSpPr>
          <p:cNvPr id="11" name="Text 9"/>
          <p:cNvSpPr/>
          <p:nvPr/>
        </p:nvSpPr>
        <p:spPr>
          <a:xfrm>
            <a:off x="3904488"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12" name="Shape 10"/>
          <p:cNvSpPr/>
          <p:nvPr/>
        </p:nvSpPr>
        <p:spPr>
          <a:xfrm>
            <a:off x="3977640" y="2011680"/>
            <a:ext cx="1188720" cy="640080"/>
          </a:xfrm>
          <a:prstGeom prst="roundRect">
            <a:avLst>
              <a:gd name="adj" fmla="val 11429"/>
            </a:avLst>
          </a:prstGeom>
          <a:solidFill>
            <a:srgbClr val="0A2540">
              <a:alpha val="50000"/>
            </a:srgbClr>
          </a:solidFill>
          <a:ln w="19050">
            <a:solidFill>
              <a:srgbClr val="8B95A5"/>
            </a:solidFill>
            <a:prstDash val="solid"/>
          </a:ln>
        </p:spPr>
      </p:sp>
      <p:sp>
        <p:nvSpPr>
          <p:cNvPr id="13" name="Text 11"/>
          <p:cNvSpPr/>
          <p:nvPr/>
        </p:nvSpPr>
        <p:spPr>
          <a:xfrm>
            <a:off x="3977640"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Strategist</a:t>
            </a:r>
            <a:endParaRPr lang="en-US" sz="1100" dirty="0"/>
          </a:p>
        </p:txBody>
      </p:sp>
      <p:sp>
        <p:nvSpPr>
          <p:cNvPr id="14" name="Text 12"/>
          <p:cNvSpPr/>
          <p:nvPr/>
        </p:nvSpPr>
        <p:spPr>
          <a:xfrm>
            <a:off x="5166360"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15" name="Shape 13"/>
          <p:cNvSpPr/>
          <p:nvPr/>
        </p:nvSpPr>
        <p:spPr>
          <a:xfrm>
            <a:off x="5239512" y="2011680"/>
            <a:ext cx="1188720" cy="640080"/>
          </a:xfrm>
          <a:prstGeom prst="roundRect">
            <a:avLst>
              <a:gd name="adj" fmla="val 11429"/>
            </a:avLst>
          </a:prstGeom>
          <a:solidFill>
            <a:srgbClr val="0A2540">
              <a:alpha val="50000"/>
            </a:srgbClr>
          </a:solidFill>
          <a:ln w="19050">
            <a:solidFill>
              <a:srgbClr val="8B95A5"/>
            </a:solidFill>
            <a:prstDash val="solid"/>
          </a:ln>
        </p:spPr>
      </p:sp>
      <p:sp>
        <p:nvSpPr>
          <p:cNvPr id="16" name="Text 14"/>
          <p:cNvSpPr/>
          <p:nvPr/>
        </p:nvSpPr>
        <p:spPr>
          <a:xfrm>
            <a:off x="5239512"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Operator</a:t>
            </a:r>
            <a:endParaRPr lang="en-US" sz="1100" dirty="0"/>
          </a:p>
        </p:txBody>
      </p:sp>
      <p:sp>
        <p:nvSpPr>
          <p:cNvPr id="17" name="Text 15"/>
          <p:cNvSpPr/>
          <p:nvPr/>
        </p:nvSpPr>
        <p:spPr>
          <a:xfrm>
            <a:off x="6428232"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18" name="Shape 16"/>
          <p:cNvSpPr/>
          <p:nvPr/>
        </p:nvSpPr>
        <p:spPr>
          <a:xfrm>
            <a:off x="6501384" y="2011680"/>
            <a:ext cx="1188720" cy="640080"/>
          </a:xfrm>
          <a:prstGeom prst="roundRect">
            <a:avLst>
              <a:gd name="adj" fmla="val 11429"/>
            </a:avLst>
          </a:prstGeom>
          <a:solidFill>
            <a:srgbClr val="0A2540">
              <a:alpha val="50000"/>
            </a:srgbClr>
          </a:solidFill>
          <a:ln w="19050">
            <a:solidFill>
              <a:srgbClr val="8B95A5"/>
            </a:solidFill>
            <a:prstDash val="solid"/>
          </a:ln>
        </p:spPr>
      </p:sp>
      <p:sp>
        <p:nvSpPr>
          <p:cNvPr id="19" name="Text 17"/>
          <p:cNvSpPr/>
          <p:nvPr/>
        </p:nvSpPr>
        <p:spPr>
          <a:xfrm>
            <a:off x="6501384"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Orchestrator</a:t>
            </a:r>
            <a:endParaRPr lang="en-US" sz="1100" dirty="0"/>
          </a:p>
        </p:txBody>
      </p:sp>
      <p:sp>
        <p:nvSpPr>
          <p:cNvPr id="20" name="Text 18"/>
          <p:cNvSpPr/>
          <p:nvPr/>
        </p:nvSpPr>
        <p:spPr>
          <a:xfrm>
            <a:off x="7690104"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21" name="Shape 19"/>
          <p:cNvSpPr/>
          <p:nvPr/>
        </p:nvSpPr>
        <p:spPr>
          <a:xfrm>
            <a:off x="7763256" y="2011680"/>
            <a:ext cx="1188720" cy="640080"/>
          </a:xfrm>
          <a:prstGeom prst="roundRect">
            <a:avLst>
              <a:gd name="adj" fmla="val 11429"/>
            </a:avLst>
          </a:prstGeom>
          <a:solidFill>
            <a:srgbClr val="0A2540">
              <a:alpha val="50000"/>
            </a:srgbClr>
          </a:solidFill>
          <a:ln w="19050">
            <a:solidFill>
              <a:srgbClr val="8B95A5"/>
            </a:solidFill>
            <a:prstDash val="dash"/>
          </a:ln>
        </p:spPr>
      </p:sp>
      <p:sp>
        <p:nvSpPr>
          <p:cNvPr id="22" name="Text 20"/>
          <p:cNvSpPr/>
          <p:nvPr/>
        </p:nvSpPr>
        <p:spPr>
          <a:xfrm>
            <a:off x="7763256"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Builder</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We never changed</a:t>
            </a:r>
            <a:endParaRPr lang="en-US" sz="4800" dirty="0"/>
          </a:p>
          <a:p>
            <a:pPr algn="ctr" indent="0" marL="0">
              <a:buNone/>
            </a:pPr>
            <a:r>
              <a:rPr lang="en-US" sz="4800" b="1" dirty="0">
                <a:solidFill>
                  <a:srgbClr val="FFFFFF"/>
                </a:solidFill>
                <a:latin typeface="Georgia" pitchFamily="34" charset="0"/>
                <a:ea typeface="Georgia" pitchFamily="34" charset="-122"/>
                <a:cs typeface="Georgia" pitchFamily="34" charset="-120"/>
              </a:rPr>
              <a:t>what the AI knew</a:t>
            </a:r>
            <a:endParaRPr lang="en-US" sz="4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3291840"/>
          </a:xfrm>
          <a:prstGeom prst="rect">
            <a:avLst/>
          </a:prstGeom>
          <a:noFill/>
          <a:ln/>
        </p:spPr>
        <p:txBody>
          <a:bodyPr wrap="square" lIns="0" tIns="0" rIns="0" bIns="0" rtlCol="0" anchor="ctr"/>
          <a:lstStyle/>
          <a:p>
            <a:pPr algn="ctr" indent="0" marL="0">
              <a:buNone/>
            </a:pPr>
            <a:r>
              <a:rPr lang="en-US" sz="2800" b="1" dirty="0">
                <a:solidFill>
                  <a:srgbClr val="635BFF"/>
                </a:solidFill>
                <a:latin typeface="Georgia" pitchFamily="34" charset="0"/>
                <a:ea typeface="Georgia" pitchFamily="34" charset="-122"/>
                <a:cs typeface="Georgia" pitchFamily="34" charset="-120"/>
              </a:rPr>
              <a:t>Add 3–4 sentences of real context:</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Equipment. Tea types.</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Team preferences. Who's it for.</a:t>
            </a:r>
            <a:endParaRPr 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pic>
        <p:nvPicPr>
          <p:cNvPr id="3" name="Image 0" descr="/Users/michaelengland/Developer/michaelengland/ai-best-practices/decks/ai-best-practices/assets/blue-tang-transparent.png">    </p:cNvPr>
          <p:cNvPicPr>
            <a:picLocks noChangeAspect="1"/>
          </p:cNvPicPr>
          <p:nvPr/>
        </p:nvPicPr>
        <p:blipFill>
          <a:blip r:embed="rId1"/>
          <a:stretch>
            <a:fillRect/>
          </a:stretch>
        </p:blipFill>
        <p:spPr>
          <a:xfrm>
            <a:off x="274320" y="457200"/>
            <a:ext cx="3840480" cy="3840480"/>
          </a:xfrm>
          <a:prstGeom prst="rect">
            <a:avLst/>
          </a:prstGeom>
        </p:spPr>
      </p:pic>
      <p:sp>
        <p:nvSpPr>
          <p:cNvPr id="4" name="Text 1"/>
          <p:cNvSpPr/>
          <p:nvPr/>
        </p:nvSpPr>
        <p:spPr>
          <a:xfrm>
            <a:off x="4572000" y="1371600"/>
            <a:ext cx="4114800" cy="2286000"/>
          </a:xfrm>
          <a:prstGeom prst="rect">
            <a:avLst/>
          </a:prstGeom>
          <a:noFill/>
          <a:ln/>
        </p:spPr>
        <p:txBody>
          <a:bodyPr wrap="square" lIns="0" tIns="0" rIns="0" bIns="0" rtlCol="0" anchor="ctr"/>
          <a:lstStyle/>
          <a:p>
            <a:pPr algn="l" indent="0" marL="0">
              <a:buNone/>
            </a:pPr>
            <a:r>
              <a:rPr lang="en-US" sz="4400" b="1" dirty="0">
                <a:solidFill>
                  <a:srgbClr val="FFFFFF"/>
                </a:solidFill>
                <a:latin typeface="Georgia" pitchFamily="34" charset="0"/>
                <a:ea typeface="Georgia" pitchFamily="34" charset="-122"/>
                <a:cs typeface="Georgia" pitchFamily="34" charset="-120"/>
              </a:rPr>
              <a:t>Brilliant. Helpful.</a:t>
            </a:r>
            <a:endParaRPr lang="en-US" sz="4400" dirty="0"/>
          </a:p>
          <a:p>
            <a:pPr algn="l" indent="0" marL="0">
              <a:buNone/>
            </a:pPr>
            <a:r>
              <a:rPr lang="en-US" sz="4400" b="1" dirty="0">
                <a:solidFill>
                  <a:srgbClr val="FFFFFF"/>
                </a:solidFill>
                <a:latin typeface="Georgia" pitchFamily="34" charset="0"/>
                <a:ea typeface="Georgia" pitchFamily="34" charset="-122"/>
                <a:cs typeface="Georgia" pitchFamily="34" charset="-120"/>
              </a:rPr>
              <a:t>Remembers nothing.</a:t>
            </a:r>
            <a:endParaRPr lang="en-US" sz="4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3291840"/>
          </a:xfrm>
          <a:prstGeom prst="rect">
            <a:avLst/>
          </a:prstGeom>
          <a:noFill/>
          <a:ln/>
        </p:spPr>
        <p:txBody>
          <a:bodyPr wrap="square" lIns="0" tIns="0" rIns="0" bIns="0" rtlCol="0" anchor="ctr"/>
          <a:lstStyle/>
          <a:p>
            <a:pPr algn="ctr" indent="0" marL="0">
              <a:buNone/>
            </a:pPr>
            <a:r>
              <a:rPr lang="en-US" sz="2800" b="1" dirty="0">
                <a:solidFill>
                  <a:srgbClr val="635BFF"/>
                </a:solidFill>
                <a:latin typeface="Georgia" pitchFamily="34" charset="0"/>
                <a:ea typeface="Georgia" pitchFamily="34" charset="-122"/>
                <a:cs typeface="Georgia" pitchFamily="34" charset="-120"/>
              </a:rPr>
              <a:t>Add to your prompt:</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"Before you start, ask me</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clarifying questions about</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anything you'd need to know."</a:t>
            </a:r>
            <a:endParaRPr 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Next conversation?</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You'll type it all again.</a:t>
            </a:r>
            <a:endParaRPr lang="en-US" sz="4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Shape 1"/>
          <p:cNvSpPr/>
          <p:nvPr/>
        </p:nvSpPr>
        <p:spPr>
          <a:xfrm>
            <a:off x="274320" y="2011680"/>
            <a:ext cx="2560320" cy="914400"/>
          </a:xfrm>
          <a:prstGeom prst="roundRect">
            <a:avLst>
              <a:gd name="adj" fmla="val 10000"/>
            </a:avLst>
          </a:prstGeom>
          <a:solidFill>
            <a:srgbClr val="0A2540"/>
          </a:solidFill>
          <a:ln w="25400">
            <a:solidFill>
              <a:srgbClr val="635BFF"/>
            </a:solidFill>
            <a:prstDash val="solid"/>
          </a:ln>
        </p:spPr>
      </p:sp>
      <p:sp>
        <p:nvSpPr>
          <p:cNvPr id="4" name="Text 2"/>
          <p:cNvSpPr/>
          <p:nvPr/>
        </p:nvSpPr>
        <p:spPr>
          <a:xfrm>
            <a:off x="274320" y="2011680"/>
            <a:ext cx="2560320"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Verdana" pitchFamily="34" charset="0"/>
                <a:ea typeface="Verdana" pitchFamily="34" charset="-122"/>
                <a:cs typeface="Verdana" pitchFamily="34" charset="-120"/>
              </a:rPr>
              <a:t>Settings</a:t>
            </a:r>
            <a:endParaRPr lang="en-US" sz="1800" dirty="0"/>
          </a:p>
        </p:txBody>
      </p:sp>
      <p:sp>
        <p:nvSpPr>
          <p:cNvPr id="5" name="Text 3"/>
          <p:cNvSpPr/>
          <p:nvPr/>
        </p:nvSpPr>
        <p:spPr>
          <a:xfrm>
            <a:off x="2834640" y="2011680"/>
            <a:ext cx="457200" cy="914400"/>
          </a:xfrm>
          <a:prstGeom prst="rect">
            <a:avLst/>
          </a:prstGeom>
          <a:noFill/>
          <a:ln/>
        </p:spPr>
        <p:txBody>
          <a:bodyPr wrap="square" lIns="0" tIns="0" rIns="0" bIns="0" rtlCol="0" anchor="ctr"/>
          <a:lstStyle/>
          <a:p>
            <a:pPr algn="ctr" indent="0" marL="0">
              <a:buNone/>
            </a:pPr>
            <a:r>
              <a:rPr lang="en-US" sz="2800" dirty="0">
                <a:solidFill>
                  <a:srgbClr val="635BFF"/>
                </a:solidFill>
                <a:latin typeface="Verdana" pitchFamily="34" charset="0"/>
                <a:ea typeface="Verdana" pitchFamily="34" charset="-122"/>
                <a:cs typeface="Verdana" pitchFamily="34" charset="-120"/>
              </a:rPr>
              <a:t>→</a:t>
            </a:r>
            <a:endParaRPr lang="en-US" sz="2800" dirty="0"/>
          </a:p>
        </p:txBody>
      </p:sp>
      <p:sp>
        <p:nvSpPr>
          <p:cNvPr id="6" name="Shape 4"/>
          <p:cNvSpPr/>
          <p:nvPr/>
        </p:nvSpPr>
        <p:spPr>
          <a:xfrm>
            <a:off x="3291840" y="2011680"/>
            <a:ext cx="2560320" cy="914400"/>
          </a:xfrm>
          <a:prstGeom prst="roundRect">
            <a:avLst>
              <a:gd name="adj" fmla="val 10000"/>
            </a:avLst>
          </a:prstGeom>
          <a:solidFill>
            <a:srgbClr val="0A2540"/>
          </a:solidFill>
          <a:ln w="25400">
            <a:solidFill>
              <a:srgbClr val="635BFF"/>
            </a:solidFill>
            <a:prstDash val="solid"/>
          </a:ln>
        </p:spPr>
      </p:sp>
      <p:sp>
        <p:nvSpPr>
          <p:cNvPr id="7" name="Text 5"/>
          <p:cNvSpPr/>
          <p:nvPr/>
        </p:nvSpPr>
        <p:spPr>
          <a:xfrm>
            <a:off x="3291840" y="2011680"/>
            <a:ext cx="2560320"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Verdana" pitchFamily="34" charset="0"/>
                <a:ea typeface="Verdana" pitchFamily="34" charset="-122"/>
                <a:cs typeface="Verdana" pitchFamily="34" charset="-120"/>
              </a:rPr>
              <a:t>General</a:t>
            </a:r>
            <a:endParaRPr lang="en-US" sz="1800" dirty="0"/>
          </a:p>
        </p:txBody>
      </p:sp>
      <p:sp>
        <p:nvSpPr>
          <p:cNvPr id="8" name="Text 6"/>
          <p:cNvSpPr/>
          <p:nvPr/>
        </p:nvSpPr>
        <p:spPr>
          <a:xfrm>
            <a:off x="5852160" y="2011680"/>
            <a:ext cx="457200" cy="914400"/>
          </a:xfrm>
          <a:prstGeom prst="rect">
            <a:avLst/>
          </a:prstGeom>
          <a:noFill/>
          <a:ln/>
        </p:spPr>
        <p:txBody>
          <a:bodyPr wrap="square" lIns="0" tIns="0" rIns="0" bIns="0" rtlCol="0" anchor="ctr"/>
          <a:lstStyle/>
          <a:p>
            <a:pPr algn="ctr" indent="0" marL="0">
              <a:buNone/>
            </a:pPr>
            <a:r>
              <a:rPr lang="en-US" sz="2800" dirty="0">
                <a:solidFill>
                  <a:srgbClr val="635BFF"/>
                </a:solidFill>
                <a:latin typeface="Verdana" pitchFamily="34" charset="0"/>
                <a:ea typeface="Verdana" pitchFamily="34" charset="-122"/>
                <a:cs typeface="Verdana" pitchFamily="34" charset="-120"/>
              </a:rPr>
              <a:t>→</a:t>
            </a:r>
            <a:endParaRPr lang="en-US" sz="2800" dirty="0"/>
          </a:p>
        </p:txBody>
      </p:sp>
      <p:sp>
        <p:nvSpPr>
          <p:cNvPr id="9" name="Shape 7"/>
          <p:cNvSpPr/>
          <p:nvPr/>
        </p:nvSpPr>
        <p:spPr>
          <a:xfrm>
            <a:off x="6309360" y="2011680"/>
            <a:ext cx="2560320" cy="914400"/>
          </a:xfrm>
          <a:prstGeom prst="roundRect">
            <a:avLst>
              <a:gd name="adj" fmla="val 10000"/>
            </a:avLst>
          </a:prstGeom>
          <a:solidFill>
            <a:srgbClr val="0A2540"/>
          </a:solidFill>
          <a:ln w="25400">
            <a:solidFill>
              <a:srgbClr val="635BFF"/>
            </a:solidFill>
            <a:prstDash val="solid"/>
          </a:ln>
        </p:spPr>
      </p:sp>
      <p:sp>
        <p:nvSpPr>
          <p:cNvPr id="10" name="Text 8"/>
          <p:cNvSpPr/>
          <p:nvPr/>
        </p:nvSpPr>
        <p:spPr>
          <a:xfrm>
            <a:off x="6309360" y="2011680"/>
            <a:ext cx="2560320"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Verdana" pitchFamily="34" charset="0"/>
                <a:ea typeface="Verdana" pitchFamily="34" charset="-122"/>
                <a:cs typeface="Verdana" pitchFamily="34" charset="-120"/>
              </a:rPr>
              <a:t>Personal preferences</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3291840"/>
          </a:xfrm>
          <a:prstGeom prst="rect">
            <a:avLst/>
          </a:prstGeom>
          <a:noFill/>
          <a:ln/>
        </p:spPr>
        <p:txBody>
          <a:bodyPr wrap="square" lIns="0" tIns="0" rIns="0" bIns="0" rtlCol="0" anchor="ctr"/>
          <a:lstStyle/>
          <a:p>
            <a:pPr algn="ctr" indent="0" marL="0">
              <a:buNone/>
            </a:pPr>
            <a:r>
              <a:rPr lang="en-US" sz="2800" b="1" dirty="0">
                <a:solidFill>
                  <a:srgbClr val="635BFF"/>
                </a:solidFill>
                <a:latin typeface="Georgia" pitchFamily="34" charset="0"/>
                <a:ea typeface="Georgia" pitchFamily="34" charset="-122"/>
                <a:cs typeface="Georgia" pitchFamily="34" charset="-120"/>
              </a:rPr>
              <a:t>Write your personal preferences:</a:t>
            </a:r>
            <a:endParaRPr lang="en-US" sz="2800" dirty="0"/>
          </a:p>
          <a:p>
            <a:pPr algn="ctr" indent="0" marL="0">
              <a:buNone/>
            </a:pPr>
            <a:r>
              <a:rPr lang="en-US" sz="2800" b="1" dirty="0">
                <a:solidFill>
                  <a:srgbClr val="635BFF"/>
                </a:solidFill>
                <a:latin typeface="Georgia" pitchFamily="34" charset="0"/>
                <a:ea typeface="Georgia" pitchFamily="34" charset="-122"/>
                <a:cs typeface="Georgia" pitchFamily="34" charset="-120"/>
              </a:rPr>
              <a:t>"I work at [company]. My role is [role].</a:t>
            </a:r>
            <a:endParaRPr lang="en-US" sz="2800" dirty="0"/>
          </a:p>
          <a:p>
            <a:pPr algn="ctr" indent="0" marL="0">
              <a:buNone/>
            </a:pPr>
            <a:r>
              <a:rPr lang="en-US" sz="2800" b="1" dirty="0">
                <a:solidFill>
                  <a:srgbClr val="635BFF"/>
                </a:solidFill>
                <a:latin typeface="Georgia" pitchFamily="34" charset="0"/>
                <a:ea typeface="Georgia" pitchFamily="34" charset="-122"/>
                <a:cs typeface="Georgia" pitchFamily="34" charset="-120"/>
              </a:rPr>
              <a:t>Be radically honest. Challenge my assumptions."</a:t>
            </a:r>
            <a:endParaRPr 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Shape 1"/>
          <p:cNvSpPr/>
          <p:nvPr/>
        </p:nvSpPr>
        <p:spPr>
          <a:xfrm>
            <a:off x="1097280" y="457200"/>
            <a:ext cx="2926080" cy="4114800"/>
          </a:xfrm>
          <a:prstGeom prst="rect">
            <a:avLst/>
          </a:prstGeom>
          <a:solidFill>
            <a:srgbClr val="F8F8F8"/>
          </a:solidFill>
          <a:ln/>
          <a:effectLst>
            <a:outerShdw sx="100000" sy="100000" kx="0" ky="0" algn="bl" rotWithShape="0" blurRad="127000" dist="50800" dir="16200000">
              <a:srgbClr val="000000">
                <a:alpha val="30000"/>
              </a:srgbClr>
            </a:outerShdw>
          </a:effectLst>
        </p:spPr>
      </p:sp>
      <p:sp>
        <p:nvSpPr>
          <p:cNvPr id="4" name="Text 2"/>
          <p:cNvSpPr/>
          <p:nvPr/>
        </p:nvSpPr>
        <p:spPr>
          <a:xfrm>
            <a:off x="1371600" y="731520"/>
            <a:ext cx="2377440" cy="3474720"/>
          </a:xfrm>
          <a:prstGeom prst="rect">
            <a:avLst/>
          </a:prstGeom>
          <a:noFill/>
          <a:ln/>
        </p:spPr>
        <p:txBody>
          <a:bodyPr wrap="square" lIns="0" tIns="0" rIns="0" bIns="0" rtlCol="0" anchor="t"/>
          <a:lstStyle/>
          <a:p>
            <a:pPr indent="0" marL="0">
              <a:buNone/>
            </a:pPr>
            <a:r>
              <a:rPr lang="en-US" sz="1600" dirty="0">
                <a:solidFill>
                  <a:srgbClr val="1A1F36"/>
                </a:solidFill>
                <a:latin typeface="Verdana" pitchFamily="34" charset="0"/>
                <a:ea typeface="Verdana" pitchFamily="34" charset="-122"/>
                <a:cs typeface="Verdana" pitchFamily="34" charset="-120"/>
              </a:rPr>
              <a:t>Rules</a:t>
            </a:r>
            <a:endParaRPr lang="en-US" sz="1600" dirty="0"/>
          </a:p>
          <a:p>
            <a:pPr indent="0" marL="0">
              <a:buNone/>
            </a:pPr>
            <a:endParaRPr lang="en-US" sz="1600" dirty="0"/>
          </a:p>
          <a:p>
            <a:pPr indent="0" marL="0">
              <a:buNone/>
            </a:pPr>
            <a:r>
              <a:rPr lang="en-US" sz="1600" dirty="0">
                <a:solidFill>
                  <a:srgbClr val="1A1F36"/>
                </a:solidFill>
                <a:latin typeface="Verdana" pitchFamily="34" charset="0"/>
                <a:ea typeface="Verdana" pitchFamily="34" charset="-122"/>
                <a:cs typeface="Verdana" pitchFamily="34" charset="-120"/>
              </a:rPr>
              <a:t>• Billboard design</a:t>
            </a:r>
            <a:endParaRPr lang="en-US" sz="1600" dirty="0"/>
          </a:p>
          <a:p>
            <a:pPr indent="0" marL="0">
              <a:buNone/>
            </a:pPr>
            <a:r>
              <a:rPr lang="en-US" sz="1600" dirty="0">
                <a:solidFill>
                  <a:srgbClr val="1A1F36"/>
                </a:solidFill>
                <a:latin typeface="Verdana" pitchFamily="34" charset="0"/>
                <a:ea typeface="Verdana" pitchFamily="34" charset="-122"/>
                <a:cs typeface="Verdana" pitchFamily="34" charset="-120"/>
              </a:rPr>
              <a:t>• British English</a:t>
            </a:r>
            <a:endParaRPr lang="en-US" sz="1600" dirty="0"/>
          </a:p>
          <a:p>
            <a:pPr indent="0" marL="0">
              <a:buNone/>
            </a:pPr>
            <a:r>
              <a:rPr lang="en-US" sz="1600" dirty="0">
                <a:solidFill>
                  <a:srgbClr val="1A1F36"/>
                </a:solidFill>
                <a:latin typeface="Verdana" pitchFamily="34" charset="0"/>
                <a:ea typeface="Verdana" pitchFamily="34" charset="-122"/>
                <a:cs typeface="Verdana" pitchFamily="34" charset="-120"/>
              </a:rPr>
              <a:t>• Be concise</a:t>
            </a:r>
            <a:endParaRPr lang="en-US" sz="1600" dirty="0"/>
          </a:p>
          <a:p>
            <a:pPr indent="0" marL="0">
              <a:buNone/>
            </a:pPr>
            <a:r>
              <a:rPr lang="en-US" sz="1600" dirty="0">
                <a:solidFill>
                  <a:srgbClr val="1A1F36"/>
                </a:solidFill>
                <a:latin typeface="Verdana" pitchFamily="34" charset="0"/>
                <a:ea typeface="Verdana" pitchFamily="34" charset="-122"/>
                <a:cs typeface="Verdana" pitchFamily="34" charset="-120"/>
              </a:rPr>
              <a:t>• No jargon</a:t>
            </a:r>
            <a:endParaRPr lang="en-US" sz="1600" dirty="0"/>
          </a:p>
        </p:txBody>
      </p:sp>
      <p:sp>
        <p:nvSpPr>
          <p:cNvPr id="5" name="Text 3"/>
          <p:cNvSpPr/>
          <p:nvPr/>
        </p:nvSpPr>
        <p:spPr>
          <a:xfrm>
            <a:off x="4754880" y="731520"/>
            <a:ext cx="3840480" cy="182880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Her entire memory.</a:t>
            </a:r>
            <a:endParaRPr lang="en-US" sz="4800" dirty="0"/>
          </a:p>
        </p:txBody>
      </p:sp>
      <p:pic>
        <p:nvPicPr>
          <p:cNvPr id="6" name="Image 0" descr="/Users/michaelengland/Developer/michaelengland/ai-best-practices/decks/ai-best-practices/assets/blue-tang-transparent.png">    </p:cNvPr>
          <p:cNvPicPr>
            <a:picLocks noChangeAspect="1"/>
          </p:cNvPicPr>
          <p:nvPr/>
        </p:nvPicPr>
        <p:blipFill>
          <a:blip r:embed="rId1"/>
          <a:srcRect l="0" r="0" t="0" b="0"/>
          <a:stretch/>
        </p:blipFill>
        <p:spPr>
          <a:xfrm>
            <a:off x="6583680" y="2743200"/>
            <a:ext cx="2011680" cy="201168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Skills live in the drawer.</a:t>
            </a:r>
            <a:endParaRPr lang="en-US" sz="3600" dirty="0"/>
          </a:p>
          <a:p>
            <a:pPr algn="ctr" indent="0" marL="0">
              <a:buNone/>
            </a:pPr>
            <a:r>
              <a:rPr lang="en-US" sz="3600" b="1" dirty="0">
                <a:solidFill>
                  <a:srgbClr val="FFFFFF"/>
                </a:solidFill>
                <a:latin typeface="Georgia" pitchFamily="34" charset="0"/>
                <a:ea typeface="Georgia" pitchFamily="34" charset="-122"/>
                <a:cs typeface="Georgia" pitchFamily="34" charset="-120"/>
              </a:rPr>
              <a:t>Pulled onto the page</a:t>
            </a:r>
            <a:endParaRPr lang="en-US" sz="3600" dirty="0"/>
          </a:p>
          <a:p>
            <a:pPr algn="ctr" indent="0" marL="0">
              <a:buNone/>
            </a:pPr>
            <a:r>
              <a:rPr lang="en-US" sz="3600" b="1" dirty="0">
                <a:solidFill>
                  <a:srgbClr val="FFFFFF"/>
                </a:solidFill>
                <a:latin typeface="Georgia" pitchFamily="34" charset="0"/>
                <a:ea typeface="Georgia" pitchFamily="34" charset="-122"/>
                <a:cs typeface="Georgia" pitchFamily="34" charset="-120"/>
              </a:rPr>
              <a:t>when needed.</a:t>
            </a:r>
            <a:endParaRPr lang="en-US" sz="3600" dirty="0"/>
          </a:p>
          <a:p>
            <a:pPr algn="ctr" indent="0" marL="0">
              <a:buNone/>
            </a:pPr>
            <a:r>
              <a:rPr lang="en-US" sz="3600" b="1" dirty="0">
                <a:solidFill>
                  <a:srgbClr val="FFFFFF"/>
                </a:solidFill>
                <a:latin typeface="Georgia" pitchFamily="34" charset="0"/>
                <a:ea typeface="Georgia" pitchFamily="34" charset="-122"/>
                <a:cs typeface="Georgia" pitchFamily="34" charset="-120"/>
              </a:rPr>
              <a:t>Gone when done.</a:t>
            </a:r>
            <a:endParaRPr lang="en-US" sz="3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3291840"/>
          </a:xfrm>
          <a:prstGeom prst="rect">
            <a:avLst/>
          </a:prstGeom>
          <a:noFill/>
          <a:ln/>
        </p:spPr>
        <p:txBody>
          <a:bodyPr wrap="square" lIns="0" tIns="0" rIns="0" bIns="0" rtlCol="0" anchor="ctr"/>
          <a:lstStyle/>
          <a:p>
            <a:pPr algn="ctr" indent="0" marL="0">
              <a:buNone/>
            </a:pPr>
            <a:r>
              <a:rPr lang="en-US" sz="2800" b="1" dirty="0">
                <a:solidFill>
                  <a:srgbClr val="635BFF"/>
                </a:solidFill>
                <a:latin typeface="Georgia" pitchFamily="34" charset="0"/>
                <a:ea typeface="Georgia" pitchFamily="34" charset="-122"/>
                <a:cs typeface="Georgia" pitchFamily="34" charset="-120"/>
              </a:rPr>
              <a:t>Enable the Presentation skill</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Then type: "Make me a presentation</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about making a cup of tea"</a:t>
            </a:r>
            <a:endParaRPr lang="en-US" sz="2800" dirty="0"/>
          </a:p>
          <a:p>
            <a:pPr algn="ctr" indent="0" marL="0">
              <a:buNone/>
            </a:pPr>
            <a:r>
              <a:rPr lang="en-US" sz="2200" i="1" dirty="0">
                <a:solidFill>
                  <a:srgbClr val="8B95A5"/>
                </a:solidFill>
                <a:latin typeface="Verdana" pitchFamily="34" charset="0"/>
                <a:ea typeface="Verdana" pitchFamily="34" charset="-122"/>
                <a:cs typeface="Verdana" pitchFamily="34" charset="-120"/>
              </a:rPr>
              <a:t>One sentence. It already knows the rest.</a:t>
            </a:r>
            <a:endParaRPr 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635BFF"/>
                </a:solidFill>
                <a:latin typeface="Georgia" pitchFamily="34" charset="0"/>
                <a:ea typeface="Georgia" pitchFamily="34" charset="-122"/>
                <a:cs typeface="Georgia" pitchFamily="34" charset="-120"/>
              </a:rPr>
              <a:t>The page stays clean.</a:t>
            </a:r>
            <a:endParaRPr lang="en-US" sz="4400" dirty="0"/>
          </a:p>
          <a:p>
            <a:pPr algn="ctr" indent="0" marL="0">
              <a:buNone/>
            </a:pPr>
            <a:r>
              <a:rPr lang="en-US" sz="4400" b="1" dirty="0">
                <a:solidFill>
                  <a:srgbClr val="635BFF"/>
                </a:solidFill>
                <a:latin typeface="Georgia" pitchFamily="34" charset="0"/>
                <a:ea typeface="Georgia" pitchFamily="34" charset="-122"/>
                <a:cs typeface="Georgia" pitchFamily="34" charset="-120"/>
              </a:rPr>
              <a:t>The drawer holds the rest.</a:t>
            </a:r>
            <a:endParaRPr lang="en-US" sz="4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3600" b="1" dirty="0">
                <a:solidFill>
                  <a:srgbClr val="1A1F36"/>
                </a:solidFill>
                <a:latin typeface="Georgia" pitchFamily="34" charset="0"/>
                <a:ea typeface="Georgia" pitchFamily="34" charset="-122"/>
                <a:cs typeface="Georgia" pitchFamily="34" charset="-120"/>
              </a:rPr>
              <a:t>Same task. Each one dramatically better.</a:t>
            </a:r>
            <a:endParaRPr lang="en-US" sz="3600" dirty="0"/>
          </a:p>
        </p:txBody>
      </p:sp>
      <p:sp>
        <p:nvSpPr>
          <p:cNvPr id="3" name="Shape 1"/>
          <p:cNvSpPr/>
          <p:nvPr/>
        </p:nvSpPr>
        <p:spPr>
          <a:xfrm>
            <a:off x="457200" y="1280160"/>
            <a:ext cx="2468880" cy="3291840"/>
          </a:xfrm>
          <a:prstGeom prst="rect">
            <a:avLst/>
          </a:prstGeom>
          <a:solidFill>
            <a:srgbClr val="F8F9FA"/>
          </a:solidFill>
          <a:ln/>
        </p:spPr>
      </p:sp>
      <p:sp>
        <p:nvSpPr>
          <p:cNvPr id="4" name="Shape 2"/>
          <p:cNvSpPr/>
          <p:nvPr/>
        </p:nvSpPr>
        <p:spPr>
          <a:xfrm>
            <a:off x="457200" y="1280160"/>
            <a:ext cx="2468880" cy="54864"/>
          </a:xfrm>
          <a:prstGeom prst="rect">
            <a:avLst/>
          </a:prstGeom>
          <a:solidFill>
            <a:srgbClr val="FF6B8A"/>
          </a:solidFill>
          <a:ln/>
        </p:spPr>
      </p:sp>
      <p:sp>
        <p:nvSpPr>
          <p:cNvPr id="5" name="Text 3"/>
          <p:cNvSpPr/>
          <p:nvPr/>
        </p:nvSpPr>
        <p:spPr>
          <a:xfrm>
            <a:off x="457200" y="1463040"/>
            <a:ext cx="2468880" cy="457200"/>
          </a:xfrm>
          <a:prstGeom prst="rect">
            <a:avLst/>
          </a:prstGeom>
          <a:noFill/>
          <a:ln/>
        </p:spPr>
        <p:txBody>
          <a:bodyPr wrap="square" lIns="0" tIns="0" rIns="0" bIns="0" rtlCol="0" anchor="ctr"/>
          <a:lstStyle/>
          <a:p>
            <a:pPr algn="ctr" indent="0" marL="0">
              <a:buNone/>
            </a:pPr>
            <a:r>
              <a:rPr lang="en-US" sz="1800" b="1" dirty="0">
                <a:solidFill>
                  <a:srgbClr val="1A1F36"/>
                </a:solidFill>
                <a:latin typeface="Georgia" pitchFamily="34" charset="0"/>
                <a:ea typeface="Georgia" pitchFamily="34" charset="-122"/>
                <a:cs typeface="Georgia" pitchFamily="34" charset="-120"/>
              </a:rPr>
              <a:t>Vague</a:t>
            </a:r>
            <a:endParaRPr lang="en-US" sz="1800" dirty="0"/>
          </a:p>
        </p:txBody>
      </p:sp>
      <p:sp>
        <p:nvSpPr>
          <p:cNvPr id="6" name="Text 4"/>
          <p:cNvSpPr/>
          <p:nvPr/>
        </p:nvSpPr>
        <p:spPr>
          <a:xfrm>
            <a:off x="457200" y="2011680"/>
            <a:ext cx="2468880" cy="365760"/>
          </a:xfrm>
          <a:prstGeom prst="rect">
            <a:avLst/>
          </a:prstGeom>
          <a:noFill/>
          <a:ln/>
        </p:spPr>
        <p:txBody>
          <a:bodyPr wrap="square" lIns="0" tIns="0" rIns="0" bIns="0" rtlCol="0" anchor="t"/>
          <a:lstStyle/>
          <a:p>
            <a:pPr algn="ctr" indent="0" marL="0">
              <a:buNone/>
            </a:pPr>
            <a:r>
              <a:rPr lang="en-US" sz="1400" i="1" dirty="0">
                <a:solidFill>
                  <a:srgbClr val="8B95A5"/>
                </a:solidFill>
                <a:latin typeface="Verdana" pitchFamily="34" charset="0"/>
                <a:ea typeface="Verdana" pitchFamily="34" charset="-122"/>
                <a:cs typeface="Verdana" pitchFamily="34" charset="-120"/>
              </a:rPr>
              <a:t>Explorer</a:t>
            </a:r>
            <a:endParaRPr lang="en-US" sz="1400" dirty="0"/>
          </a:p>
        </p:txBody>
      </p:sp>
      <p:sp>
        <p:nvSpPr>
          <p:cNvPr id="7" name="Shape 5"/>
          <p:cNvSpPr/>
          <p:nvPr/>
        </p:nvSpPr>
        <p:spPr>
          <a:xfrm>
            <a:off x="3200400" y="1280160"/>
            <a:ext cx="2468880" cy="3291840"/>
          </a:xfrm>
          <a:prstGeom prst="rect">
            <a:avLst/>
          </a:prstGeom>
          <a:solidFill>
            <a:srgbClr val="F8F9FA"/>
          </a:solidFill>
          <a:ln/>
        </p:spPr>
      </p:sp>
      <p:sp>
        <p:nvSpPr>
          <p:cNvPr id="8" name="Shape 6"/>
          <p:cNvSpPr/>
          <p:nvPr/>
        </p:nvSpPr>
        <p:spPr>
          <a:xfrm>
            <a:off x="3200400" y="1280160"/>
            <a:ext cx="2468880" cy="54864"/>
          </a:xfrm>
          <a:prstGeom prst="rect">
            <a:avLst/>
          </a:prstGeom>
          <a:solidFill>
            <a:srgbClr val="635BFF"/>
          </a:solidFill>
          <a:ln/>
        </p:spPr>
      </p:sp>
      <p:sp>
        <p:nvSpPr>
          <p:cNvPr id="9" name="Text 7"/>
          <p:cNvSpPr/>
          <p:nvPr/>
        </p:nvSpPr>
        <p:spPr>
          <a:xfrm>
            <a:off x="3200400" y="1463040"/>
            <a:ext cx="2468880" cy="457200"/>
          </a:xfrm>
          <a:prstGeom prst="rect">
            <a:avLst/>
          </a:prstGeom>
          <a:noFill/>
          <a:ln/>
        </p:spPr>
        <p:txBody>
          <a:bodyPr wrap="square" lIns="0" tIns="0" rIns="0" bIns="0" rtlCol="0" anchor="ctr"/>
          <a:lstStyle/>
          <a:p>
            <a:pPr algn="ctr" indent="0" marL="0">
              <a:buNone/>
            </a:pPr>
            <a:r>
              <a:rPr lang="en-US" sz="1800" b="1" dirty="0">
                <a:solidFill>
                  <a:srgbClr val="1A1F36"/>
                </a:solidFill>
                <a:latin typeface="Georgia" pitchFamily="34" charset="0"/>
                <a:ea typeface="Georgia" pitchFamily="34" charset="-122"/>
                <a:cs typeface="Georgia" pitchFamily="34" charset="-120"/>
              </a:rPr>
              <a:t>Well-prompted</a:t>
            </a:r>
            <a:endParaRPr lang="en-US" sz="1800" dirty="0"/>
          </a:p>
        </p:txBody>
      </p:sp>
      <p:sp>
        <p:nvSpPr>
          <p:cNvPr id="10" name="Text 8"/>
          <p:cNvSpPr/>
          <p:nvPr/>
        </p:nvSpPr>
        <p:spPr>
          <a:xfrm>
            <a:off x="3200400" y="2011680"/>
            <a:ext cx="2468880" cy="365760"/>
          </a:xfrm>
          <a:prstGeom prst="rect">
            <a:avLst/>
          </a:prstGeom>
          <a:noFill/>
          <a:ln/>
        </p:spPr>
        <p:txBody>
          <a:bodyPr wrap="square" lIns="0" tIns="0" rIns="0" bIns="0" rtlCol="0" anchor="t"/>
          <a:lstStyle/>
          <a:p>
            <a:pPr algn="ctr" indent="0" marL="0">
              <a:buNone/>
            </a:pPr>
            <a:r>
              <a:rPr lang="en-US" sz="1400" i="1" dirty="0">
                <a:solidFill>
                  <a:srgbClr val="8B95A5"/>
                </a:solidFill>
                <a:latin typeface="Verdana" pitchFamily="34" charset="0"/>
                <a:ea typeface="Verdana" pitchFamily="34" charset="-122"/>
                <a:cs typeface="Verdana" pitchFamily="34" charset="-120"/>
              </a:rPr>
              <a:t>Whisperer</a:t>
            </a:r>
            <a:endParaRPr lang="en-US" sz="1400" dirty="0"/>
          </a:p>
        </p:txBody>
      </p:sp>
      <p:sp>
        <p:nvSpPr>
          <p:cNvPr id="11" name="Shape 9"/>
          <p:cNvSpPr/>
          <p:nvPr/>
        </p:nvSpPr>
        <p:spPr>
          <a:xfrm>
            <a:off x="5943600" y="1280160"/>
            <a:ext cx="2468880" cy="3291840"/>
          </a:xfrm>
          <a:prstGeom prst="rect">
            <a:avLst/>
          </a:prstGeom>
          <a:solidFill>
            <a:srgbClr val="F8F9FA"/>
          </a:solidFill>
          <a:ln/>
        </p:spPr>
      </p:sp>
      <p:sp>
        <p:nvSpPr>
          <p:cNvPr id="12" name="Shape 10"/>
          <p:cNvSpPr/>
          <p:nvPr/>
        </p:nvSpPr>
        <p:spPr>
          <a:xfrm>
            <a:off x="5943600" y="1280160"/>
            <a:ext cx="2468880" cy="54864"/>
          </a:xfrm>
          <a:prstGeom prst="rect">
            <a:avLst/>
          </a:prstGeom>
          <a:solidFill>
            <a:srgbClr val="09825D"/>
          </a:solidFill>
          <a:ln/>
        </p:spPr>
      </p:sp>
      <p:sp>
        <p:nvSpPr>
          <p:cNvPr id="13" name="Text 11"/>
          <p:cNvSpPr/>
          <p:nvPr/>
        </p:nvSpPr>
        <p:spPr>
          <a:xfrm>
            <a:off x="5943600" y="1463040"/>
            <a:ext cx="2468880" cy="457200"/>
          </a:xfrm>
          <a:prstGeom prst="rect">
            <a:avLst/>
          </a:prstGeom>
          <a:noFill/>
          <a:ln/>
        </p:spPr>
        <p:txBody>
          <a:bodyPr wrap="square" lIns="0" tIns="0" rIns="0" bIns="0" rtlCol="0" anchor="ctr"/>
          <a:lstStyle/>
          <a:p>
            <a:pPr algn="ctr" indent="0" marL="0">
              <a:buNone/>
            </a:pPr>
            <a:r>
              <a:rPr lang="en-US" sz="1800" b="1" dirty="0">
                <a:solidFill>
                  <a:srgbClr val="1A1F36"/>
                </a:solidFill>
                <a:latin typeface="Georgia" pitchFamily="34" charset="0"/>
                <a:ea typeface="Georgia" pitchFamily="34" charset="-122"/>
                <a:cs typeface="Georgia" pitchFamily="34" charset="-120"/>
              </a:rPr>
              <a:t>Rules + Skills</a:t>
            </a:r>
            <a:endParaRPr lang="en-US" sz="1800" dirty="0"/>
          </a:p>
        </p:txBody>
      </p:sp>
      <p:sp>
        <p:nvSpPr>
          <p:cNvPr id="14" name="Text 12"/>
          <p:cNvSpPr/>
          <p:nvPr/>
        </p:nvSpPr>
        <p:spPr>
          <a:xfrm>
            <a:off x="5943600" y="2011680"/>
            <a:ext cx="2468880" cy="365760"/>
          </a:xfrm>
          <a:prstGeom prst="rect">
            <a:avLst/>
          </a:prstGeom>
          <a:noFill/>
          <a:ln/>
        </p:spPr>
        <p:txBody>
          <a:bodyPr wrap="square" lIns="0" tIns="0" rIns="0" bIns="0" rtlCol="0" anchor="t"/>
          <a:lstStyle/>
          <a:p>
            <a:pPr algn="ctr" indent="0" marL="0">
              <a:buNone/>
            </a:pPr>
            <a:r>
              <a:rPr lang="en-US" sz="1400" i="1" dirty="0">
                <a:solidFill>
                  <a:srgbClr val="8B95A5"/>
                </a:solidFill>
                <a:latin typeface="Verdana" pitchFamily="34" charset="0"/>
                <a:ea typeface="Verdana" pitchFamily="34" charset="-122"/>
                <a:cs typeface="Verdana" pitchFamily="34" charset="-120"/>
              </a:rPr>
              <a:t>Strategist</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Shape 1"/>
          <p:cNvSpPr/>
          <p:nvPr/>
        </p:nvSpPr>
        <p:spPr>
          <a:xfrm>
            <a:off x="192024" y="2011680"/>
            <a:ext cx="1188720" cy="640080"/>
          </a:xfrm>
          <a:prstGeom prst="roundRect">
            <a:avLst>
              <a:gd name="adj" fmla="val 11429"/>
            </a:avLst>
          </a:prstGeom>
          <a:solidFill>
            <a:srgbClr val="0A2540">
              <a:alpha val="50000"/>
            </a:srgbClr>
          </a:solidFill>
          <a:ln w="19050">
            <a:solidFill>
              <a:srgbClr val="8B95A5"/>
            </a:solidFill>
            <a:prstDash val="solid"/>
          </a:ln>
        </p:spPr>
      </p:sp>
      <p:sp>
        <p:nvSpPr>
          <p:cNvPr id="4" name="Text 2"/>
          <p:cNvSpPr/>
          <p:nvPr/>
        </p:nvSpPr>
        <p:spPr>
          <a:xfrm>
            <a:off x="192024"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Skeptic</a:t>
            </a:r>
            <a:endParaRPr lang="en-US" sz="1100" dirty="0"/>
          </a:p>
        </p:txBody>
      </p:sp>
      <p:sp>
        <p:nvSpPr>
          <p:cNvPr id="5" name="Text 3"/>
          <p:cNvSpPr/>
          <p:nvPr/>
        </p:nvSpPr>
        <p:spPr>
          <a:xfrm>
            <a:off x="1380744"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6" name="Shape 4"/>
          <p:cNvSpPr/>
          <p:nvPr/>
        </p:nvSpPr>
        <p:spPr>
          <a:xfrm>
            <a:off x="1453896" y="2011680"/>
            <a:ext cx="1188720" cy="640080"/>
          </a:xfrm>
          <a:prstGeom prst="roundRect">
            <a:avLst>
              <a:gd name="adj" fmla="val 11429"/>
            </a:avLst>
          </a:prstGeom>
          <a:solidFill>
            <a:srgbClr val="635BFF"/>
          </a:solidFill>
          <a:ln w="19050">
            <a:solidFill>
              <a:srgbClr val="635BFF"/>
            </a:solidFill>
            <a:prstDash val="solid"/>
          </a:ln>
        </p:spPr>
      </p:sp>
      <p:sp>
        <p:nvSpPr>
          <p:cNvPr id="7" name="Text 5"/>
          <p:cNvSpPr/>
          <p:nvPr/>
        </p:nvSpPr>
        <p:spPr>
          <a:xfrm>
            <a:off x="1453896"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Explorer</a:t>
            </a:r>
            <a:endParaRPr lang="en-US" sz="1100" dirty="0"/>
          </a:p>
        </p:txBody>
      </p:sp>
      <p:sp>
        <p:nvSpPr>
          <p:cNvPr id="8" name="Text 6"/>
          <p:cNvSpPr/>
          <p:nvPr/>
        </p:nvSpPr>
        <p:spPr>
          <a:xfrm>
            <a:off x="2642616"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9" name="Shape 7"/>
          <p:cNvSpPr/>
          <p:nvPr/>
        </p:nvSpPr>
        <p:spPr>
          <a:xfrm>
            <a:off x="2715768" y="2011680"/>
            <a:ext cx="1188720" cy="640080"/>
          </a:xfrm>
          <a:prstGeom prst="roundRect">
            <a:avLst>
              <a:gd name="adj" fmla="val 11429"/>
            </a:avLst>
          </a:prstGeom>
          <a:solidFill>
            <a:srgbClr val="635BFF"/>
          </a:solidFill>
          <a:ln w="19050">
            <a:solidFill>
              <a:srgbClr val="635BFF"/>
            </a:solidFill>
            <a:prstDash val="solid"/>
          </a:ln>
        </p:spPr>
      </p:sp>
      <p:sp>
        <p:nvSpPr>
          <p:cNvPr id="10" name="Text 8"/>
          <p:cNvSpPr/>
          <p:nvPr/>
        </p:nvSpPr>
        <p:spPr>
          <a:xfrm>
            <a:off x="2715768"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Whisperer</a:t>
            </a:r>
            <a:endParaRPr lang="en-US" sz="1100" dirty="0"/>
          </a:p>
        </p:txBody>
      </p:sp>
      <p:sp>
        <p:nvSpPr>
          <p:cNvPr id="11" name="Text 9"/>
          <p:cNvSpPr/>
          <p:nvPr/>
        </p:nvSpPr>
        <p:spPr>
          <a:xfrm>
            <a:off x="3904488"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12" name="Shape 10"/>
          <p:cNvSpPr/>
          <p:nvPr/>
        </p:nvSpPr>
        <p:spPr>
          <a:xfrm>
            <a:off x="3977640" y="2011680"/>
            <a:ext cx="1188720" cy="640080"/>
          </a:xfrm>
          <a:prstGeom prst="roundRect">
            <a:avLst>
              <a:gd name="adj" fmla="val 11429"/>
            </a:avLst>
          </a:prstGeom>
          <a:solidFill>
            <a:srgbClr val="635BFF"/>
          </a:solidFill>
          <a:ln w="19050">
            <a:solidFill>
              <a:srgbClr val="635BFF"/>
            </a:solidFill>
            <a:prstDash val="solid"/>
          </a:ln>
        </p:spPr>
      </p:sp>
      <p:sp>
        <p:nvSpPr>
          <p:cNvPr id="13" name="Text 11"/>
          <p:cNvSpPr/>
          <p:nvPr/>
        </p:nvSpPr>
        <p:spPr>
          <a:xfrm>
            <a:off x="3977640"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Strategist</a:t>
            </a:r>
            <a:endParaRPr lang="en-US" sz="1100" dirty="0"/>
          </a:p>
        </p:txBody>
      </p:sp>
      <p:sp>
        <p:nvSpPr>
          <p:cNvPr id="14" name="Text 12"/>
          <p:cNvSpPr/>
          <p:nvPr/>
        </p:nvSpPr>
        <p:spPr>
          <a:xfrm>
            <a:off x="5166360"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15" name="Shape 13"/>
          <p:cNvSpPr/>
          <p:nvPr/>
        </p:nvSpPr>
        <p:spPr>
          <a:xfrm>
            <a:off x="5239512" y="2011680"/>
            <a:ext cx="1188720" cy="640080"/>
          </a:xfrm>
          <a:prstGeom prst="roundRect">
            <a:avLst>
              <a:gd name="adj" fmla="val 11429"/>
            </a:avLst>
          </a:prstGeom>
          <a:solidFill>
            <a:srgbClr val="0A2540">
              <a:alpha val="50000"/>
            </a:srgbClr>
          </a:solidFill>
          <a:ln w="19050">
            <a:solidFill>
              <a:srgbClr val="8B95A5"/>
            </a:solidFill>
            <a:prstDash val="solid"/>
          </a:ln>
        </p:spPr>
      </p:sp>
      <p:sp>
        <p:nvSpPr>
          <p:cNvPr id="16" name="Text 14"/>
          <p:cNvSpPr/>
          <p:nvPr/>
        </p:nvSpPr>
        <p:spPr>
          <a:xfrm>
            <a:off x="5239512"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Operator</a:t>
            </a:r>
            <a:endParaRPr lang="en-US" sz="1100" dirty="0"/>
          </a:p>
        </p:txBody>
      </p:sp>
      <p:sp>
        <p:nvSpPr>
          <p:cNvPr id="17" name="Text 15"/>
          <p:cNvSpPr/>
          <p:nvPr/>
        </p:nvSpPr>
        <p:spPr>
          <a:xfrm>
            <a:off x="6428232"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18" name="Shape 16"/>
          <p:cNvSpPr/>
          <p:nvPr/>
        </p:nvSpPr>
        <p:spPr>
          <a:xfrm>
            <a:off x="6501384" y="2011680"/>
            <a:ext cx="1188720" cy="640080"/>
          </a:xfrm>
          <a:prstGeom prst="roundRect">
            <a:avLst>
              <a:gd name="adj" fmla="val 11429"/>
            </a:avLst>
          </a:prstGeom>
          <a:solidFill>
            <a:srgbClr val="0A2540">
              <a:alpha val="50000"/>
            </a:srgbClr>
          </a:solidFill>
          <a:ln w="19050">
            <a:solidFill>
              <a:srgbClr val="8B95A5"/>
            </a:solidFill>
            <a:prstDash val="solid"/>
          </a:ln>
        </p:spPr>
      </p:sp>
      <p:sp>
        <p:nvSpPr>
          <p:cNvPr id="19" name="Text 17"/>
          <p:cNvSpPr/>
          <p:nvPr/>
        </p:nvSpPr>
        <p:spPr>
          <a:xfrm>
            <a:off x="6501384"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Orchestrator</a:t>
            </a:r>
            <a:endParaRPr lang="en-US" sz="1100" dirty="0"/>
          </a:p>
        </p:txBody>
      </p:sp>
      <p:sp>
        <p:nvSpPr>
          <p:cNvPr id="20" name="Text 18"/>
          <p:cNvSpPr/>
          <p:nvPr/>
        </p:nvSpPr>
        <p:spPr>
          <a:xfrm>
            <a:off x="7690104"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21" name="Shape 19"/>
          <p:cNvSpPr/>
          <p:nvPr/>
        </p:nvSpPr>
        <p:spPr>
          <a:xfrm>
            <a:off x="7763256" y="2011680"/>
            <a:ext cx="1188720" cy="640080"/>
          </a:xfrm>
          <a:prstGeom prst="roundRect">
            <a:avLst>
              <a:gd name="adj" fmla="val 11429"/>
            </a:avLst>
          </a:prstGeom>
          <a:solidFill>
            <a:srgbClr val="0A2540">
              <a:alpha val="50000"/>
            </a:srgbClr>
          </a:solidFill>
          <a:ln w="19050">
            <a:solidFill>
              <a:srgbClr val="8B95A5"/>
            </a:solidFill>
            <a:prstDash val="dash"/>
          </a:ln>
        </p:spPr>
      </p:sp>
      <p:sp>
        <p:nvSpPr>
          <p:cNvPr id="22" name="Text 20"/>
          <p:cNvSpPr/>
          <p:nvPr/>
        </p:nvSpPr>
        <p:spPr>
          <a:xfrm>
            <a:off x="7763256"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Builder</a:t>
            </a:r>
            <a:endParaRPr lang="en-US" sz="1100" dirty="0"/>
          </a:p>
        </p:txBody>
      </p:sp>
      <p:sp>
        <p:nvSpPr>
          <p:cNvPr id="23" name="Text 21"/>
          <p:cNvSpPr/>
          <p:nvPr/>
        </p:nvSpPr>
        <p:spPr>
          <a:xfrm>
            <a:off x="914400" y="3108960"/>
            <a:ext cx="7315200" cy="548640"/>
          </a:xfrm>
          <a:prstGeom prst="rect">
            <a:avLst/>
          </a:prstGeom>
          <a:noFill/>
          <a:ln/>
        </p:spPr>
        <p:txBody>
          <a:bodyPr wrap="square" lIns="0" tIns="0" rIns="0" bIns="0" rtlCol="0" anchor="ctr"/>
          <a:lstStyle/>
          <a:p>
            <a:pPr algn="ctr" indent="0" marL="0">
              <a:buNone/>
            </a:pPr>
            <a:r>
              <a:rPr lang="en-US" sz="2400" b="1" dirty="0">
                <a:solidFill>
                  <a:srgbClr val="635BFF"/>
                </a:solidFill>
                <a:latin typeface="Georgia" pitchFamily="34" charset="0"/>
                <a:ea typeface="Georgia" pitchFamily="34" charset="-122"/>
                <a:cs typeface="Georgia" pitchFamily="34" charset="-120"/>
              </a:rPr>
              <a:t>You’re now a Strategist</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But who's doing</a:t>
            </a:r>
            <a:endParaRPr lang="en-US" sz="4800" dirty="0"/>
          </a:p>
          <a:p>
            <a:pPr algn="ctr" indent="0" marL="0">
              <a:buNone/>
            </a:pPr>
            <a:r>
              <a:rPr lang="en-US" sz="4800" b="1" dirty="0">
                <a:solidFill>
                  <a:srgbClr val="FFFFFF"/>
                </a:solidFill>
                <a:latin typeface="Georgia" pitchFamily="34" charset="0"/>
                <a:ea typeface="Georgia" pitchFamily="34" charset="-122"/>
                <a:cs typeface="Georgia" pitchFamily="34" charset="-120"/>
              </a:rPr>
              <a:t>all the work?</a:t>
            </a:r>
            <a:endParaRPr lang="en-US" sz="4800" dirty="0"/>
          </a:p>
          <a:p>
            <a:pPr algn="ctr" indent="0" marL="0">
              <a:buNone/>
            </a:pPr>
            <a:r>
              <a:rPr lang="en-US" sz="4800" b="1" dirty="0">
                <a:solidFill>
                  <a:srgbClr val="FFFFFF"/>
                </a:solidFill>
                <a:latin typeface="Georgia" pitchFamily="34" charset="0"/>
                <a:ea typeface="Georgia" pitchFamily="34" charset="-122"/>
                <a:cs typeface="Georgia" pitchFamily="34" charset="-120"/>
              </a:rPr>
              <a:t>Still you.</a:t>
            </a:r>
            <a:endParaRPr lang="en-US" sz="4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1: Explorer → Strategist</dc:title>
  <dc:subject>PptxGenJS Presentation</dc:subject>
  <dc:creator>AI Academy</dc:creator>
  <cp:lastModifiedBy>AI Academy</cp:lastModifiedBy>
  <cp:revision>1</cp:revision>
  <dcterms:created xsi:type="dcterms:W3CDTF">2026-03-08T23:32:08Z</dcterms:created>
  <dcterms:modified xsi:type="dcterms:W3CDTF">2026-03-08T23:32:08Z</dcterms:modified>
</cp:coreProperties>
</file>