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is already at Orchestrator level or is an engineer wanting to go deep on Claude Code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Skeptic through Orchestrator is covered in the main deck. Builder is the horizon — this deck goes deep on what it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Move through quickly — the audience already lives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refusing to write code manually, you force yourself to invest in the infrastructure that makes AI output reliable. The constraint creates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knows this trade-off intimately. Ship fast and fix later, or build it right and ship slow. This was the fundamental constraint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This is the promise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principles are the lens for everything that follows. Every tool, rule, skill, and practice serves one or more of these. Perfect context drives MCP and rules. No hidden failures drives Firecrawl. Gated workflow drives Superpowers and stage-based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You catch design errors.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enforces TDD (red-green-refactor), systematic debugging (investigate root cause before guessing), verification-before-completion. Prevents the agent from skipping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MCP for these four? The agent needs them constantly. Docs on every task. Code navigation on every file. Web access whenever researching. Discipline on every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lives in .claude/rules/. Each rule file defines when it activates — every time, or filtered to specific file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the foundation —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Example: pulling a feature ticket —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and principles are set. Now the environment they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Claims monorepos unlock 30% productivity gains for AI agents. Spectro Cloud: ‘Will AI turn 2026 into the year of the monorepo?’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for general coding. You’re not removing safety, you’re moving it. GCP CLI not logged into prod. AWS credentials scoped to dev. The agent physically cannot touch production. Trust the gated workflow, not per-command prompts.
The exception: PII sessions. When touching production data, you do NOT bypass — these are careful, involved sessions with managed tool calls where you verify each step. The interaction mode changes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one or two releases ahead. Tabs, not sidebar — sidebar means one session at a time. Tabs allow the parallel sessions the idempotent development approach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Keep notes of where the agent got stuck. End of day: ~1 hour turning pain points into skills, improving rules, refining workflows.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vendor lock-in. Always pick the best tool for the job. Cost is secondary to capability right now — the ROI on frontier models pays for itself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through the default path. The split is deliberate: default path uses bypass permissions for fast, full-featured general coding. PII path routes through GCP with EU region models — and critically, no bypass permissions. These are careful, involved sessions where you manage each tool call because the data is sensitive. The interaction mode changes with the data.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is what happens when compliance is an afterthought. The Builder approach makes it a first-class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audience should see the system as a whole — an integrated machine where every part serves the three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4" name="Text 2"/>
          <p:cNvSpPr/>
          <p:nvPr/>
        </p:nvSpPr>
        <p:spPr>
          <a:xfrm>
            <a:off x="45720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Skeptic</a:t>
            </a:r>
            <a:endParaRPr lang="en-US" sz="1200" dirty="0"/>
          </a:p>
        </p:txBody>
      </p:sp>
      <p:sp>
        <p:nvSpPr>
          <p:cNvPr id="5" name="Text 3"/>
          <p:cNvSpPr/>
          <p:nvPr/>
        </p:nvSpPr>
        <p:spPr>
          <a:xfrm>
            <a:off x="155448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64592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7" name="Text 5"/>
          <p:cNvSpPr/>
          <p:nvPr/>
        </p:nvSpPr>
        <p:spPr>
          <a:xfrm>
            <a:off x="164592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Explorer</a:t>
            </a:r>
            <a:endParaRPr lang="en-US" sz="1200" dirty="0"/>
          </a:p>
        </p:txBody>
      </p:sp>
      <p:sp>
        <p:nvSpPr>
          <p:cNvPr id="8" name="Text 6"/>
          <p:cNvSpPr/>
          <p:nvPr/>
        </p:nvSpPr>
        <p:spPr>
          <a:xfrm>
            <a:off x="274320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83464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0" name="Text 8"/>
          <p:cNvSpPr/>
          <p:nvPr/>
        </p:nvSpPr>
        <p:spPr>
          <a:xfrm>
            <a:off x="283464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Whisperer</a:t>
            </a:r>
            <a:endParaRPr lang="en-US" sz="1200" dirty="0"/>
          </a:p>
        </p:txBody>
      </p:sp>
      <p:sp>
        <p:nvSpPr>
          <p:cNvPr id="11" name="Text 9"/>
          <p:cNvSpPr/>
          <p:nvPr/>
        </p:nvSpPr>
        <p:spPr>
          <a:xfrm>
            <a:off x="393192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402336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3" name="Text 11"/>
          <p:cNvSpPr/>
          <p:nvPr/>
        </p:nvSpPr>
        <p:spPr>
          <a:xfrm>
            <a:off x="402336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Strategist</a:t>
            </a:r>
            <a:endParaRPr lang="en-US" sz="1200" dirty="0"/>
          </a:p>
        </p:txBody>
      </p:sp>
      <p:sp>
        <p:nvSpPr>
          <p:cNvPr id="14" name="Text 12"/>
          <p:cNvSpPr/>
          <p:nvPr/>
        </p:nvSpPr>
        <p:spPr>
          <a:xfrm>
            <a:off x="512064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1208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6" name="Text 14"/>
          <p:cNvSpPr/>
          <p:nvPr/>
        </p:nvSpPr>
        <p:spPr>
          <a:xfrm>
            <a:off x="521208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Operator</a:t>
            </a:r>
            <a:endParaRPr lang="en-US" sz="1200" dirty="0"/>
          </a:p>
        </p:txBody>
      </p:sp>
      <p:sp>
        <p:nvSpPr>
          <p:cNvPr id="17" name="Text 15"/>
          <p:cNvSpPr/>
          <p:nvPr/>
        </p:nvSpPr>
        <p:spPr>
          <a:xfrm>
            <a:off x="630936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400800" y="1463040"/>
            <a:ext cx="1097280" cy="640080"/>
          </a:xfrm>
          <a:prstGeom prst="roundRect">
            <a:avLst>
              <a:gd name="adj" fmla="val 11429"/>
            </a:avLst>
          </a:prstGeom>
          <a:solidFill>
            <a:srgbClr val="0A2540">
              <a:alpha val="50000"/>
            </a:srgbClr>
          </a:solidFill>
          <a:ln w="12700">
            <a:solidFill>
              <a:srgbClr val="635BFF"/>
            </a:solidFill>
            <a:prstDash val="solid"/>
          </a:ln>
        </p:spPr>
      </p:sp>
      <p:sp>
        <p:nvSpPr>
          <p:cNvPr id="19" name="Text 17"/>
          <p:cNvSpPr/>
          <p:nvPr/>
        </p:nvSpPr>
        <p:spPr>
          <a:xfrm>
            <a:off x="640080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Orchestrator</a:t>
            </a:r>
            <a:endParaRPr lang="en-US" sz="1200" dirty="0"/>
          </a:p>
        </p:txBody>
      </p:sp>
      <p:sp>
        <p:nvSpPr>
          <p:cNvPr id="20" name="Text 18"/>
          <p:cNvSpPr/>
          <p:nvPr/>
        </p:nvSpPr>
        <p:spPr>
          <a:xfrm>
            <a:off x="749808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589520" y="1463040"/>
            <a:ext cx="1097280" cy="640080"/>
          </a:xfrm>
          <a:prstGeom prst="roundRect">
            <a:avLst>
              <a:gd name="adj" fmla="val 11429"/>
            </a:avLst>
          </a:prstGeom>
          <a:solidFill>
            <a:srgbClr val="635BFF"/>
          </a:solidFill>
          <a:ln w="25400">
            <a:solidFill>
              <a:srgbClr val="635BFF"/>
            </a:solidFill>
            <a:prstDash val="solid"/>
          </a:ln>
        </p:spPr>
      </p:sp>
      <p:sp>
        <p:nvSpPr>
          <p:cNvPr id="22" name="Text 20"/>
          <p:cNvSpPr/>
          <p:nvPr/>
        </p:nvSpPr>
        <p:spPr>
          <a:xfrm>
            <a:off x="7589520" y="1463040"/>
            <a:ext cx="109728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Verdana" pitchFamily="34" charset="0"/>
                <a:ea typeface="Verdana" pitchFamily="34" charset="-122"/>
                <a:cs typeface="Verdana" pitchFamily="34" charset="-120"/>
              </a:rPr>
              <a:t>Builder</a:t>
            </a:r>
            <a:endParaRPr lang="en-US" sz="12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Karpathy tweet to Collins Word of the Year</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Claude Code is written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FF6B8A"/>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FF6B8A"/>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when developers rely on AI</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AI-generated code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8B95A5"/>
                </a:solidFill>
                <a:latin typeface="Verdana" pitchFamily="34" charset="0"/>
                <a:ea typeface="Verdana" pitchFamily="34" charset="-122"/>
                <a:cs typeface="Verdana" pitchFamily="34" charset="-120"/>
              </a:rPr>
              <a:t>, </a:t>
            </a:r>
            <a:pPr algn="r" indent="0" marL="0">
              <a:buNone/>
            </a:pPr>
            <a:r>
              <a:rPr lang="en-US" sz="1100" u="sng" dirty="0">
                <a:solidFill>
                  <a:srgbClr val="8B95A5"/>
                </a:solidFill>
                <a:latin typeface="Verdana" pitchFamily="34" charset="0"/>
                <a:ea typeface="Verdana" pitchFamily="34" charset="-122"/>
                <a:cs typeface="Verdana"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A1F36"/>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Level</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What you ship</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Why</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r>
              <a:tr h="640080">
                <a:tc>
                  <a:txBody>
                    <a:bodyPr/>
                    <a:lstStyle/>
                    <a:p>
                      <a:pPr indent="0" marL="0">
                        <a:buNone/>
                      </a:pPr>
                      <a:r>
                        <a:rPr lang="en-US" sz="2000" b="1" dirty="0">
                          <a:solidFill>
                            <a:srgbClr val="FF6B8A"/>
                          </a:solidFill>
                          <a:latin typeface="Verdana" pitchFamily="34" charset="0"/>
                          <a:ea typeface="Verdana" pitchFamily="34" charset="-122"/>
                          <a:cs typeface="Verdana" pitchFamily="34" charset="-120"/>
                        </a:rPr>
                        <a:t>Vibe coder</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Prototypes, demos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Can’t review output</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8B95A5"/>
                          </a:solidFill>
                          <a:latin typeface="Verdana" pitchFamily="34" charset="0"/>
                          <a:ea typeface="Verdana" pitchFamily="34" charset="-122"/>
                          <a:cs typeface="Verdana" pitchFamily="34" charset="-120"/>
                        </a:rPr>
                        <a:t>Developer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POCs, internal tools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Catches obvious issues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09825D"/>
                          </a:solidFill>
                          <a:latin typeface="Verdana" pitchFamily="34" charset="0"/>
                          <a:ea typeface="Verdana" pitchFamily="34" charset="-122"/>
                          <a:cs typeface="Verdana" pitchFamily="34" charset="-120"/>
                        </a:rPr>
                        <a:t>Engineer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Production systems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Verifies every stage</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how do you actually do this?</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the full setup.</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Improve the process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Build skills &amp;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Verify each stage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Review architecture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Catch what agents miss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Forbes Tech Council, Feb 2026</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This forces the investment.</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OR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Pick 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Every engineering decision</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answer was always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‘it depends.’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Speed alone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catastrophic</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quality drop</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19% slower. 1.7× issues.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AND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CI/CD, linting, tests,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PR gates</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same best practices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enforced.</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Not too little.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Every failure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Agent verifies.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Then you verify.</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1828800"/>
            <a:ext cx="1645920" cy="73152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73152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Brainstorm</a:t>
            </a:r>
            <a:endParaRPr lang="en-US" sz="2200" dirty="0"/>
          </a:p>
        </p:txBody>
      </p:sp>
      <p:sp>
        <p:nvSpPr>
          <p:cNvPr id="5" name="Text 3"/>
          <p:cNvSpPr/>
          <p:nvPr/>
        </p:nvSpPr>
        <p:spPr>
          <a:xfrm>
            <a:off x="237744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743200" y="1828800"/>
            <a:ext cx="1645920" cy="73152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274320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Plan</a:t>
            </a:r>
            <a:endParaRPr lang="en-US" sz="2200" dirty="0"/>
          </a:p>
        </p:txBody>
      </p:sp>
      <p:sp>
        <p:nvSpPr>
          <p:cNvPr id="8" name="Text 6"/>
          <p:cNvSpPr/>
          <p:nvPr/>
        </p:nvSpPr>
        <p:spPr>
          <a:xfrm>
            <a:off x="438912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754880" y="1828800"/>
            <a:ext cx="1645920" cy="73152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475488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Implement</a:t>
            </a:r>
            <a:endParaRPr lang="en-US" sz="2200" dirty="0"/>
          </a:p>
        </p:txBody>
      </p:sp>
      <p:sp>
        <p:nvSpPr>
          <p:cNvPr id="11" name="Text 9"/>
          <p:cNvSpPr/>
          <p:nvPr/>
        </p:nvSpPr>
        <p:spPr>
          <a:xfrm>
            <a:off x="640080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6766560" y="1828800"/>
            <a:ext cx="1645920" cy="731520"/>
          </a:xfrm>
          <a:prstGeom prst="roundRect">
            <a:avLst>
              <a:gd name="adj" fmla="val 10000"/>
            </a:avLst>
          </a:prstGeom>
          <a:solidFill>
            <a:srgbClr val="0A2540"/>
          </a:solidFill>
          <a:ln w="25400">
            <a:solidFill>
              <a:srgbClr val="635BFF"/>
            </a:solidFill>
            <a:prstDash val="solid"/>
          </a:ln>
        </p:spPr>
      </p:sp>
      <p:sp>
        <p:nvSpPr>
          <p:cNvPr id="13" name="Text 11"/>
          <p:cNvSpPr/>
          <p:nvPr/>
        </p:nvSpPr>
        <p:spPr>
          <a:xfrm>
            <a:off x="676656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Review</a:t>
            </a:r>
            <a:endParaRPr lang="en-US" sz="22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Each stage produces an artifact.</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Each artifact gets validated.</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Runs tests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Checks linting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Solves the problem?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Meets requirements?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Architecturally sound?</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The foundation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Live docs at prompt time.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Compiler-level code navigation.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Reliable web access.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no hidden failures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TDD. Systematic debugging.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Verification before completion.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gated workflow</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Always available.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progressive disclosure.</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.claude/rules/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Modular. Context-filtered. Always right.</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635BFF"/>
                </a:solidFill>
                <a:latin typeface="Verdana" pitchFamily="34" charset="0"/>
                <a:ea typeface="Verdana" pitchFamily="34" charset="-122"/>
                <a:cs typeface="Verdana" pitchFamily="34" charset="-120"/>
              </a:rPr>
              <a:t>Tool usage</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fetch docs first, never WebFetch</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Communication</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radically honest, never guess</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Coding</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TDD, SOLID, self-describing code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Git workflow</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branch naming, PR closes issue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Language-specific</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filtered by file extension</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On-demand. Compounding.</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Always available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Low-level access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On-demand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Higher-level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Loaded when needed</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your time building skills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from today’s pain points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Agent circled on docker postgres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Connected to test GCP service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Pulled a feature ticket via CLI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Analyzed a crash log → skill</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Parallel. Isolated. Full visibility.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914400"/>
            <a:ext cx="2194560" cy="457200"/>
          </a:xfrm>
          <a:prstGeom prst="roundRect">
            <a:avLst>
              <a:gd name="adj" fmla="val 12000"/>
            </a:avLst>
          </a:prstGeom>
          <a:solidFill>
            <a:srgbClr val="0A2540"/>
          </a:solidFill>
          <a:ln w="19050">
            <a:solidFill>
              <a:srgbClr val="635BFF"/>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A2540"/>
          </a:solidFill>
          <a:ln w="12700">
            <a:solidFill>
              <a:srgbClr val="8B95A5"/>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A2540"/>
          </a:solidFill>
          <a:ln w="12700">
            <a:solidFill>
              <a:srgbClr val="8B95A5"/>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A2540"/>
          </a:solidFill>
          <a:ln w="19050">
            <a:solidFill>
              <a:srgbClr val="635BFF"/>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A2540"/>
          </a:solidFill>
          <a:ln w="12700">
            <a:solidFill>
              <a:srgbClr val="8B95A5"/>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A2540"/>
          </a:solidFill>
          <a:ln w="12700">
            <a:solidFill>
              <a:srgbClr val="8B95A5"/>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A2540"/>
          </a:solidFill>
          <a:ln w="19050">
            <a:solidFill>
              <a:srgbClr val="635BFF"/>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A2540"/>
          </a:solidFill>
          <a:ln w="12700">
            <a:solidFill>
              <a:srgbClr val="8B95A5"/>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A2540"/>
          </a:solidFill>
          <a:ln w="12700">
            <a:solidFill>
              <a:srgbClr val="8B95A5"/>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8B95A5"/>
                </a:solidFill>
                <a:latin typeface="Verdana" pitchFamily="34" charset="0"/>
                <a:ea typeface="Verdana" pitchFamily="34" charset="-122"/>
                <a:cs typeface="Verdana" pitchFamily="34" charset="-120"/>
              </a:rPr>
              <a:t>3 sessions. 3 databases. Zero interference.</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productivity gains for AI agents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Latest features.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Always ahead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Parallel sessions.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One tab</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per worktree.</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8B95A5"/>
                </a:solidFill>
                <a:latin typeface="Georgia" pitchFamily="34" charset="0"/>
                <a:ea typeface="Georgia" pitchFamily="34" charset="-122"/>
                <a:cs typeface="Georgia" pitchFamily="34" charset="-120"/>
              </a:rPr>
              <a:t> / </a:t>
            </a:r>
            <a:pPr algn="ctr" indent="0" marL="0">
              <a:buNone/>
            </a:pPr>
            <a:r>
              <a:rPr lang="en-US" sz="10000" b="1" dirty="0">
                <a:solidFill>
                  <a:srgbClr val="635BFF"/>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 engineering / building the machine</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Be mercenaries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with tooling.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Best tool. Best model. Always.</a:t>
            </a:r>
            <a:endParaRPr 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Anthropic</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Latest models, best features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8B95A5"/>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GCP</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EU region models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Managed tool calls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Production logs, user data</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Compliance is architectural,</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not an afterthought.</a:t>
            </a:r>
            <a:endParaRPr lang="en-US"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Perfect context</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No hidden failures</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Firecrawl, Tool usage rules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Gated workflow</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Superpowers, Two-layer verification, CI/CD</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2026-02-23T15:13:30Z</dcterms:created>
  <dcterms:modified xsi:type="dcterms:W3CDTF">2026-02-23T15:13:30Z</dcterms:modified>
</cp:coreProperties>
</file>