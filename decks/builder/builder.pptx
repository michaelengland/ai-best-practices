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may be engineers who’ve seen the main deck, or senior engineers arriving fresh. No assumption of Claude Code familiarity.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Everything before Builder is covered in the main deck. This deck goes deep on what the Builder persona actually looks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The audience already knows this — validate it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 — this isn’t a niche practice anymore, it’s mainstream.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This stat is the anchor — it directly contradicts what people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the flag. Not the only way. Not a framework. A working setup from daily production use — what I’ve arrived at after going all-in on AI-assisted development. The principles transfer everywhere. The specific tools are what works best right now, and ‘right now’ changes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on one slide, not three separate pitches. (1) Best frontier model for coding: SWE-bench, agentic coding tasks, tool use. When the model does 90%+ of the work, model quality is the bottleneck. (2) Agentic-first, not copilot-adapted: built as an agent from the ground up, not a copilot retrofitted. Plans, executes, verifies. (3) Richest context engineering system: MCP servers, rules, skills, hooks — core design, not bolted on.
The honest caveat: be mercenaries with tooling. If something better arrives tomorrow, switch. The principles are tool-agnostic. These tools are the best implementation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is solved — AI agents give you speed. But the complication slides showed what happens: 19% slower, 1.7× more issues, 45% fail security. The question isn’t speed anymore. The question is: how does quality keep pace? This slide sets up the central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Quality keeps pace only if you invest in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earns itself. The audience knows the quality question (how does quality keep pace with speed?). The answer: by refusing to write code manually, you force yourself to invest in the infrastructure that makes AI output reliable. The constraint creates the discipline. If you still write code by hand, you can get away without rules, skills, or verification. If you don’t — you have to build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principles — how quality keeps pace. Every tool that follows maps to one or more. Perfect context: right information, right time. No hidden failures: every error surfaced. Gated workflow: staged verification, nothing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system that implements the three principles. We’ll walk through each layer. Rules tell the agent how to behave. MCP servers give it new capabilities. Skills are workflows loaded on demand. And the gated workflow — the approach that sits on top — keeps everything in stages. We’ll cover the tools first, then see how the gated workflow connects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tool sections. The audience has the three principles and the architecture map. Now they learn the instruments.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may not know what MCP is. MCP servers give the agent capabilities it doesn’t have natively — fetch live docs, navigate code with compiler-level precision, scrape the web reliably. Connect one and the agent gains new tools. They’re always available, not loaded on demand. Three are always loaded because the agent always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standing instructions the agent follows on every task. Your engineering standards, written as files, enforced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standing instructions the agent follows — how to write code, communicate, use git — written as files, enforced automatically. You write them once, the agent follows them forever. Think of linter rules, but for the agent’s entire behavior, not just code style. If you’ve used a CLAUDE.md file, rules are the modular evolution — instead of one file with everything, each concern gets its own file that declares when it activates.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carries a catalog of available skills. When your request matches one — either because you called it by name or the agent recognized the fit — it loads the full playbook for that task. Skills stay out of context until needed, because carrying every workflow at all times would be like reading every runbook before starting your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are set. Now the machine they run on. Environment is developer setup — parallel sessions, monorepo, permissions, compliance. Different category from the agent’s behavior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for general coding. You’re not removing safety, you’re moving it. GCP CLI not logged into prod. AWS credentials scoped to dev. The agent physically cannot touch production. Exception: PII sessions — no bypass, managed tool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ahead. Tabs, not sidebar — parallel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End of day: ~1 hour turning pain points into skills.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Default path: fast, full-featured, bypass permissions. PII path: GCP, EU region models, managed tool calls, no bypass.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that sits on top of the tools. Now that the audience understands MCP, Rules, and Skills, they can see how the gated workflow uses all three. This is the climax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 Rules enforce standards at every stage. MCP servers provide context during each stage. Skills like Superpowers define the workflow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 runs the tests, checks the linting, iterates. You catch design errors — does this actually solve the problem?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is an opinionated agentic workflow plugin — a skill, not an MCP server. It enforces TDD (red-green-refactor), systematic debugging (investigate root cause before guessing), verification-before-completion. The gated workflow as code. The agent can’t skip steps because the skill defines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together. Rules enforce quality at every stage. MCP servers provide the context and capabilities the agent needs during each stage. Skills — especially Superpowers — define the staged workflow itself. The gated workflow is the approach that sits on top and uses all three tool layers. This is the climax. The audience should now see the full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gated workflow is the approach on top — powered by Superpowers, enforced through two-layer verification, backstopped by CI/CD. The audience should see the system as a whole — not individual pieces, but an integrated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map? Now every box has been covered. The audience has seen each layer in detail. All boxes are lit up in accent color — the system is complete. This visual callback reinforces the architecture before the final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192024"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4" name="Text 2"/>
          <p:cNvSpPr/>
          <p:nvPr/>
        </p:nvSpPr>
        <p:spPr>
          <a:xfrm>
            <a:off x="192024"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Skeptic</a:t>
            </a:r>
            <a:endParaRPr lang="en-US" sz="1100" dirty="0"/>
          </a:p>
        </p:txBody>
      </p:sp>
      <p:sp>
        <p:nvSpPr>
          <p:cNvPr id="5" name="Text 3"/>
          <p:cNvSpPr/>
          <p:nvPr/>
        </p:nvSpPr>
        <p:spPr>
          <a:xfrm>
            <a:off x="1380744"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453896"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7" name="Text 5"/>
          <p:cNvSpPr/>
          <p:nvPr/>
        </p:nvSpPr>
        <p:spPr>
          <a:xfrm>
            <a:off x="1453896"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Explorer</a:t>
            </a:r>
            <a:endParaRPr lang="en-US" sz="1100" dirty="0"/>
          </a:p>
        </p:txBody>
      </p:sp>
      <p:sp>
        <p:nvSpPr>
          <p:cNvPr id="8" name="Text 6"/>
          <p:cNvSpPr/>
          <p:nvPr/>
        </p:nvSpPr>
        <p:spPr>
          <a:xfrm>
            <a:off x="2642616"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715768"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0" name="Text 8"/>
          <p:cNvSpPr/>
          <p:nvPr/>
        </p:nvSpPr>
        <p:spPr>
          <a:xfrm>
            <a:off x="2715768"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Whisperer</a:t>
            </a:r>
            <a:endParaRPr lang="en-US" sz="1100" dirty="0"/>
          </a:p>
        </p:txBody>
      </p:sp>
      <p:sp>
        <p:nvSpPr>
          <p:cNvPr id="11" name="Text 9"/>
          <p:cNvSpPr/>
          <p:nvPr/>
        </p:nvSpPr>
        <p:spPr>
          <a:xfrm>
            <a:off x="3904488"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3977640"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3" name="Text 11"/>
          <p:cNvSpPr/>
          <p:nvPr/>
        </p:nvSpPr>
        <p:spPr>
          <a:xfrm>
            <a:off x="3977640"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Strategist</a:t>
            </a:r>
            <a:endParaRPr lang="en-US" sz="1100" dirty="0"/>
          </a:p>
        </p:txBody>
      </p:sp>
      <p:sp>
        <p:nvSpPr>
          <p:cNvPr id="14" name="Text 12"/>
          <p:cNvSpPr/>
          <p:nvPr/>
        </p:nvSpPr>
        <p:spPr>
          <a:xfrm>
            <a:off x="5166360"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39512" y="1463040"/>
            <a:ext cx="1188720" cy="640080"/>
          </a:xfrm>
          <a:prstGeom prst="roundRect">
            <a:avLst>
              <a:gd name="adj" fmla="val 11429"/>
            </a:avLst>
          </a:prstGeom>
          <a:solidFill>
            <a:srgbClr val="0A2540">
              <a:alpha val="50000"/>
            </a:srgbClr>
          </a:solidFill>
          <a:ln w="19050">
            <a:solidFill>
              <a:srgbClr val="8B95A5"/>
            </a:solidFill>
            <a:prstDash val="solid"/>
          </a:ln>
        </p:spPr>
      </p:sp>
      <p:sp>
        <p:nvSpPr>
          <p:cNvPr id="16" name="Text 14"/>
          <p:cNvSpPr/>
          <p:nvPr/>
        </p:nvSpPr>
        <p:spPr>
          <a:xfrm>
            <a:off x="5239512"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Operator</a:t>
            </a:r>
            <a:endParaRPr lang="en-US" sz="1100" dirty="0"/>
          </a:p>
        </p:txBody>
      </p:sp>
      <p:sp>
        <p:nvSpPr>
          <p:cNvPr id="17" name="Text 15"/>
          <p:cNvSpPr/>
          <p:nvPr/>
        </p:nvSpPr>
        <p:spPr>
          <a:xfrm>
            <a:off x="6428232"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501384" y="1463040"/>
            <a:ext cx="1188720" cy="640080"/>
          </a:xfrm>
          <a:prstGeom prst="roundRect">
            <a:avLst>
              <a:gd name="adj" fmla="val 11429"/>
            </a:avLst>
          </a:prstGeom>
          <a:solidFill>
            <a:srgbClr val="0A2540">
              <a:alpha val="50000"/>
            </a:srgbClr>
          </a:solidFill>
          <a:ln w="19050">
            <a:solidFill>
              <a:srgbClr val="635BFF"/>
            </a:solidFill>
            <a:prstDash val="solid"/>
          </a:ln>
        </p:spPr>
      </p:sp>
      <p:sp>
        <p:nvSpPr>
          <p:cNvPr id="19" name="Text 17"/>
          <p:cNvSpPr/>
          <p:nvPr/>
        </p:nvSpPr>
        <p:spPr>
          <a:xfrm>
            <a:off x="6501384"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8B95A5"/>
                </a:solidFill>
                <a:latin typeface="Verdana" pitchFamily="34" charset="0"/>
                <a:ea typeface="Verdana" pitchFamily="34" charset="-122"/>
                <a:cs typeface="Verdana" pitchFamily="34" charset="-120"/>
              </a:rPr>
              <a:t>Orchestrator</a:t>
            </a:r>
            <a:endParaRPr lang="en-US" sz="1100" dirty="0"/>
          </a:p>
        </p:txBody>
      </p:sp>
      <p:sp>
        <p:nvSpPr>
          <p:cNvPr id="20" name="Text 18"/>
          <p:cNvSpPr/>
          <p:nvPr/>
        </p:nvSpPr>
        <p:spPr>
          <a:xfrm>
            <a:off x="7690104" y="1463040"/>
            <a:ext cx="73152"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763256" y="1463040"/>
            <a:ext cx="1188720" cy="640080"/>
          </a:xfrm>
          <a:prstGeom prst="roundRect">
            <a:avLst>
              <a:gd name="adj" fmla="val 11429"/>
            </a:avLst>
          </a:prstGeom>
          <a:solidFill>
            <a:srgbClr val="635BFF"/>
          </a:solidFill>
          <a:ln w="19050">
            <a:solidFill>
              <a:srgbClr val="635BFF"/>
            </a:solidFill>
            <a:prstDash val="solid"/>
          </a:ln>
        </p:spPr>
      </p:sp>
      <p:sp>
        <p:nvSpPr>
          <p:cNvPr id="22" name="Text 20"/>
          <p:cNvSpPr/>
          <p:nvPr/>
        </p:nvSpPr>
        <p:spPr>
          <a:xfrm>
            <a:off x="7763256" y="1463040"/>
            <a:ext cx="1188720" cy="64008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Builder</a:t>
            </a:r>
            <a:endParaRPr lang="en-US" sz="11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Karpathy tweet to Collins Word of the Year</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Claude Code is written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FF6B8A"/>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FF6B8A"/>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when developers rely on AI</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AI-generated code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8B95A5"/>
                </a:solidFill>
                <a:latin typeface="Verdana" pitchFamily="34" charset="0"/>
                <a:ea typeface="Verdana" pitchFamily="34" charset="-122"/>
                <a:cs typeface="Verdana" pitchFamily="34" charset="-120"/>
              </a:rPr>
              <a:t>, </a:t>
            </a:r>
            <a:pPr algn="r" indent="0" marL="0">
              <a:buNone/>
            </a:pPr>
            <a:r>
              <a:rPr lang="en-US" sz="1100" u="sng" dirty="0">
                <a:solidFill>
                  <a:srgbClr val="8B95A5"/>
                </a:solidFill>
                <a:latin typeface="Verdana" pitchFamily="34" charset="0"/>
                <a:ea typeface="Verdana" pitchFamily="34" charset="-122"/>
                <a:cs typeface="Verdana"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A1F36"/>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Level</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What you ship</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Why</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r>
              <a:tr h="640080">
                <a:tc>
                  <a:txBody>
                    <a:bodyPr/>
                    <a:lstStyle/>
                    <a:p>
                      <a:pPr indent="0" marL="0">
                        <a:buNone/>
                      </a:pPr>
                      <a:r>
                        <a:rPr lang="en-US" sz="2000" b="1" dirty="0">
                          <a:solidFill>
                            <a:srgbClr val="FF6B8A"/>
                          </a:solidFill>
                          <a:latin typeface="Verdana" pitchFamily="34" charset="0"/>
                          <a:ea typeface="Verdana" pitchFamily="34" charset="-122"/>
                          <a:cs typeface="Verdana" pitchFamily="34" charset="-120"/>
                        </a:rPr>
                        <a:t>Vibe coder</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Prototypes, demos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Can’t review output</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8B95A5"/>
                          </a:solidFill>
                          <a:latin typeface="Verdana" pitchFamily="34" charset="0"/>
                          <a:ea typeface="Verdana" pitchFamily="34" charset="-122"/>
                          <a:cs typeface="Verdana" pitchFamily="34" charset="-120"/>
                        </a:rPr>
                        <a:t>Developer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POCs, internal tools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Catches obvious issues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09825D"/>
                          </a:solidFill>
                          <a:latin typeface="Verdana" pitchFamily="34" charset="0"/>
                          <a:ea typeface="Verdana" pitchFamily="34" charset="-122"/>
                          <a:cs typeface="Verdana" pitchFamily="34" charset="-120"/>
                        </a:rPr>
                        <a:t>Engineer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Production systems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Verifies every stage</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how do you actually do this?</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This is my opinionated</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best practice.</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548640"/>
            <a:ext cx="822960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I chose Claude Code. Here’s why.</a:t>
            </a:r>
            <a:endParaRPr lang="en-US" sz="4000" dirty="0"/>
          </a:p>
        </p:txBody>
      </p:sp>
      <p:sp>
        <p:nvSpPr>
          <p:cNvPr id="4" name="Text 2"/>
          <p:cNvSpPr/>
          <p:nvPr/>
        </p:nvSpPr>
        <p:spPr>
          <a:xfrm>
            <a:off x="457200" y="164592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Best Model</a:t>
            </a:r>
            <a:endParaRPr lang="en-US" sz="2800" dirty="0"/>
          </a:p>
        </p:txBody>
      </p:sp>
      <p:sp>
        <p:nvSpPr>
          <p:cNvPr id="5" name="Text 3"/>
          <p:cNvSpPr/>
          <p:nvPr/>
        </p:nvSpPr>
        <p:spPr>
          <a:xfrm>
            <a:off x="457200" y="2560320"/>
            <a:ext cx="2560320" cy="14630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Frontier coding</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benchmarks.</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Not brand loyalty.</a:t>
            </a:r>
            <a:endParaRPr lang="en-US" sz="2000" dirty="0"/>
          </a:p>
        </p:txBody>
      </p:sp>
      <p:sp>
        <p:nvSpPr>
          <p:cNvPr id="6" name="Text 4"/>
          <p:cNvSpPr/>
          <p:nvPr/>
        </p:nvSpPr>
        <p:spPr>
          <a:xfrm>
            <a:off x="3383280" y="164592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Agentic-First</a:t>
            </a:r>
            <a:endParaRPr lang="en-US" sz="2800" dirty="0"/>
          </a:p>
        </p:txBody>
      </p:sp>
      <p:sp>
        <p:nvSpPr>
          <p:cNvPr id="7" name="Text 5"/>
          <p:cNvSpPr/>
          <p:nvPr/>
        </p:nvSpPr>
        <p:spPr>
          <a:xfrm>
            <a:off x="3383280" y="2560320"/>
            <a:ext cx="2560320" cy="14630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Terminal-native.</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Tool use,</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not autocomplete.</a:t>
            </a:r>
            <a:endParaRPr lang="en-US" sz="2000" dirty="0"/>
          </a:p>
        </p:txBody>
      </p:sp>
      <p:sp>
        <p:nvSpPr>
          <p:cNvPr id="8" name="Text 6"/>
          <p:cNvSpPr/>
          <p:nvPr/>
        </p:nvSpPr>
        <p:spPr>
          <a:xfrm>
            <a:off x="6309360" y="164592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Richest Context</a:t>
            </a:r>
            <a:endParaRPr lang="en-US" sz="2800" dirty="0"/>
          </a:p>
        </p:txBody>
      </p:sp>
      <p:sp>
        <p:nvSpPr>
          <p:cNvPr id="9" name="Text 7"/>
          <p:cNvSpPr/>
          <p:nvPr/>
        </p:nvSpPr>
        <p:spPr>
          <a:xfrm>
            <a:off x="6309360" y="2560320"/>
            <a:ext cx="2560320" cy="1463040"/>
          </a:xfrm>
          <a:prstGeom prst="rect">
            <a:avLst/>
          </a:prstGeom>
          <a:noFill/>
          <a:ln/>
        </p:spPr>
        <p:txBody>
          <a:bodyPr wrap="square" lIns="0" tIns="0" rIns="0" bIns="0" rtlCol="0" anchor="t"/>
          <a:lstStyle/>
          <a:p>
            <a:pPr algn="ctr" indent="0" marL="0">
              <a:buNone/>
            </a:pPr>
            <a:r>
              <a:rPr lang="en-US" sz="2000" dirty="0">
                <a:solidFill>
                  <a:srgbClr val="8B95A5"/>
                </a:solidFill>
                <a:latin typeface="Verdana" pitchFamily="34" charset="0"/>
                <a:ea typeface="Verdana" pitchFamily="34" charset="-122"/>
                <a:cs typeface="Verdana" pitchFamily="34" charset="-120"/>
              </a:rPr>
              <a:t>MCP, rules,</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skills, hooks.</a:t>
            </a:r>
            <a:endParaRPr lang="en-US" sz="2000" dirty="0"/>
          </a:p>
          <a:p>
            <a:pPr algn="ctr" indent="0" marL="0">
              <a:buNone/>
            </a:pPr>
            <a:r>
              <a:rPr lang="en-US" sz="2000" dirty="0">
                <a:solidFill>
                  <a:srgbClr val="8B95A5"/>
                </a:solidFill>
                <a:latin typeface="Verdana" pitchFamily="34" charset="0"/>
                <a:ea typeface="Verdana" pitchFamily="34" charset="-122"/>
                <a:cs typeface="Verdana" pitchFamily="34" charset="-120"/>
              </a:rPr>
              <a:t>Core design.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Improve the process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Build skills &amp;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Verify each stage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Review architecture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Catch what agents miss</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Forbes Tech Council, Feb 2026</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OR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Pick 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Every engineering decision</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answer was always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‘it depends.’</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Speed alone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catastrophic</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quality drop</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19% slower. 1.7× issues.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AND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CI/CD, linting, tests,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PR gates</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same best practices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enforced.</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This forces the investment.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Not too little.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Every failure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Stages, not yolo.</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Two layers of verification.</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2743200" y="822960"/>
            <a:ext cx="3657600" cy="457200"/>
          </a:xfrm>
          <a:prstGeom prst="rect">
            <a:avLst/>
          </a:prstGeom>
          <a:noFill/>
          <a:ln/>
        </p:spPr>
        <p:txBody>
          <a:bodyPr wrap="square" lIns="0" tIns="0" rIns="0" bIns="0" rtlCol="0" anchor="b"/>
          <a:lstStyle/>
          <a:p>
            <a:pPr algn="ctr" indent="0" marL="0">
              <a:buNone/>
            </a:pPr>
            <a:r>
              <a:rPr lang="en-US" sz="1800" i="1" dirty="0">
                <a:solidFill>
                  <a:srgbClr val="8B95A5"/>
                </a:solidFill>
                <a:latin typeface="Verdana" pitchFamily="34" charset="0"/>
                <a:ea typeface="Verdana" pitchFamily="34" charset="-122"/>
                <a:cs typeface="Verdana" pitchFamily="34" charset="-120"/>
              </a:rPr>
              <a:t>the approach</a:t>
            </a:r>
            <a:endParaRPr lang="en-US" sz="1800" dirty="0"/>
          </a:p>
        </p:txBody>
      </p:sp>
      <p:sp>
        <p:nvSpPr>
          <p:cNvPr id="4" name="Shape 2"/>
          <p:cNvSpPr/>
          <p:nvPr/>
        </p:nvSpPr>
        <p:spPr>
          <a:xfrm>
            <a:off x="2743200" y="1371600"/>
            <a:ext cx="3657600" cy="731520"/>
          </a:xfrm>
          <a:prstGeom prst="roundRect">
            <a:avLst>
              <a:gd name="adj" fmla="val 10000"/>
            </a:avLst>
          </a:prstGeom>
          <a:solidFill>
            <a:srgbClr val="0A2540"/>
          </a:solidFill>
          <a:ln w="31750">
            <a:solidFill>
              <a:srgbClr val="635BFF"/>
            </a:solidFill>
            <a:prstDash val="solid"/>
          </a:ln>
        </p:spPr>
      </p:sp>
      <p:sp>
        <p:nvSpPr>
          <p:cNvPr id="5" name="Text 3"/>
          <p:cNvSpPr/>
          <p:nvPr/>
        </p:nvSpPr>
        <p:spPr>
          <a:xfrm>
            <a:off x="2743200" y="1371600"/>
            <a:ext cx="36576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Georgia" pitchFamily="34" charset="0"/>
                <a:ea typeface="Georgia" pitchFamily="34" charset="-122"/>
                <a:cs typeface="Georgia" pitchFamily="34" charset="-120"/>
              </a:rPr>
              <a:t>Gated Workflow</a:t>
            </a:r>
            <a:endParaRPr lang="en-US" sz="2800" dirty="0"/>
          </a:p>
        </p:txBody>
      </p:sp>
      <p:sp>
        <p:nvSpPr>
          <p:cNvPr id="6" name="Text 4"/>
          <p:cNvSpPr/>
          <p:nvPr/>
        </p:nvSpPr>
        <p:spPr>
          <a:xfrm>
            <a:off x="3657600" y="2240280"/>
            <a:ext cx="1828800" cy="45720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7" name="Shape 5"/>
          <p:cNvSpPr/>
          <p:nvPr/>
        </p:nvSpPr>
        <p:spPr>
          <a:xfrm>
            <a:off x="914400" y="2834640"/>
            <a:ext cx="2194560" cy="731520"/>
          </a:xfrm>
          <a:prstGeom prst="roundRect">
            <a:avLst>
              <a:gd name="adj" fmla="val 10000"/>
            </a:avLst>
          </a:prstGeom>
          <a:solidFill>
            <a:srgbClr val="0A2540"/>
          </a:solidFill>
          <a:ln w="19050">
            <a:solidFill>
              <a:srgbClr val="8B95A5"/>
            </a:solidFill>
            <a:prstDash val="solid"/>
          </a:ln>
        </p:spPr>
      </p:sp>
      <p:sp>
        <p:nvSpPr>
          <p:cNvPr id="8" name="Text 6"/>
          <p:cNvSpPr/>
          <p:nvPr/>
        </p:nvSpPr>
        <p:spPr>
          <a:xfrm>
            <a:off x="914400" y="2834640"/>
            <a:ext cx="2194560" cy="731520"/>
          </a:xfrm>
          <a:prstGeom prst="rect">
            <a:avLst/>
          </a:prstGeom>
          <a:noFill/>
          <a:ln/>
        </p:spPr>
        <p:txBody>
          <a:bodyPr wrap="square" lIns="0" tIns="0" rIns="0" bIns="0" rtlCol="0" anchor="ctr"/>
          <a:lstStyle/>
          <a:p>
            <a:pPr algn="ctr" indent="0" marL="0">
              <a:buNone/>
            </a:pPr>
            <a:r>
              <a:rPr lang="en-US" sz="2400" b="1" dirty="0">
                <a:solidFill>
                  <a:srgbClr val="8B95A5"/>
                </a:solidFill>
                <a:latin typeface="Georgia" pitchFamily="34" charset="0"/>
                <a:ea typeface="Georgia" pitchFamily="34" charset="-122"/>
                <a:cs typeface="Georgia" pitchFamily="34" charset="-120"/>
              </a:rPr>
              <a:t>Rules</a:t>
            </a:r>
            <a:endParaRPr lang="en-US" sz="2400" dirty="0"/>
          </a:p>
        </p:txBody>
      </p:sp>
      <p:sp>
        <p:nvSpPr>
          <p:cNvPr id="9" name="Shape 7"/>
          <p:cNvSpPr/>
          <p:nvPr/>
        </p:nvSpPr>
        <p:spPr>
          <a:xfrm>
            <a:off x="3474720" y="2834640"/>
            <a:ext cx="2194560" cy="731520"/>
          </a:xfrm>
          <a:prstGeom prst="roundRect">
            <a:avLst>
              <a:gd name="adj" fmla="val 10000"/>
            </a:avLst>
          </a:prstGeom>
          <a:solidFill>
            <a:srgbClr val="0A2540"/>
          </a:solidFill>
          <a:ln w="19050">
            <a:solidFill>
              <a:srgbClr val="8B95A5"/>
            </a:solidFill>
            <a:prstDash val="solid"/>
          </a:ln>
        </p:spPr>
      </p:sp>
      <p:sp>
        <p:nvSpPr>
          <p:cNvPr id="10" name="Text 8"/>
          <p:cNvSpPr/>
          <p:nvPr/>
        </p:nvSpPr>
        <p:spPr>
          <a:xfrm>
            <a:off x="3474720" y="2834640"/>
            <a:ext cx="2194560" cy="731520"/>
          </a:xfrm>
          <a:prstGeom prst="rect">
            <a:avLst/>
          </a:prstGeom>
          <a:noFill/>
          <a:ln/>
        </p:spPr>
        <p:txBody>
          <a:bodyPr wrap="square" lIns="0" tIns="0" rIns="0" bIns="0" rtlCol="0" anchor="ctr"/>
          <a:lstStyle/>
          <a:p>
            <a:pPr algn="ctr" indent="0" marL="0">
              <a:buNone/>
            </a:pPr>
            <a:r>
              <a:rPr lang="en-US" sz="2400" b="1" dirty="0">
                <a:solidFill>
                  <a:srgbClr val="8B95A5"/>
                </a:solidFill>
                <a:latin typeface="Georgia" pitchFamily="34" charset="0"/>
                <a:ea typeface="Georgia" pitchFamily="34" charset="-122"/>
                <a:cs typeface="Georgia" pitchFamily="34" charset="-120"/>
              </a:rPr>
              <a:t>MCP Servers</a:t>
            </a:r>
            <a:endParaRPr lang="en-US" sz="2400" dirty="0"/>
          </a:p>
        </p:txBody>
      </p:sp>
      <p:sp>
        <p:nvSpPr>
          <p:cNvPr id="11" name="Shape 9"/>
          <p:cNvSpPr/>
          <p:nvPr/>
        </p:nvSpPr>
        <p:spPr>
          <a:xfrm>
            <a:off x="6035040" y="2834640"/>
            <a:ext cx="2194560" cy="731520"/>
          </a:xfrm>
          <a:prstGeom prst="roundRect">
            <a:avLst>
              <a:gd name="adj" fmla="val 10000"/>
            </a:avLst>
          </a:prstGeom>
          <a:solidFill>
            <a:srgbClr val="0A2540"/>
          </a:solidFill>
          <a:ln w="19050">
            <a:solidFill>
              <a:srgbClr val="8B95A5"/>
            </a:solidFill>
            <a:prstDash val="solid"/>
          </a:ln>
        </p:spPr>
      </p:sp>
      <p:sp>
        <p:nvSpPr>
          <p:cNvPr id="12" name="Text 10"/>
          <p:cNvSpPr/>
          <p:nvPr/>
        </p:nvSpPr>
        <p:spPr>
          <a:xfrm>
            <a:off x="6035040" y="2834640"/>
            <a:ext cx="2194560" cy="731520"/>
          </a:xfrm>
          <a:prstGeom prst="rect">
            <a:avLst/>
          </a:prstGeom>
          <a:noFill/>
          <a:ln/>
        </p:spPr>
        <p:txBody>
          <a:bodyPr wrap="square" lIns="0" tIns="0" rIns="0" bIns="0" rtlCol="0" anchor="ctr"/>
          <a:lstStyle/>
          <a:p>
            <a:pPr algn="ctr" indent="0" marL="0">
              <a:buNone/>
            </a:pPr>
            <a:r>
              <a:rPr lang="en-US" sz="2400" b="1" dirty="0">
                <a:solidFill>
                  <a:srgbClr val="8B95A5"/>
                </a:solidFill>
                <a:latin typeface="Georgia" pitchFamily="34" charset="0"/>
                <a:ea typeface="Georgia" pitchFamily="34" charset="-122"/>
                <a:cs typeface="Georgia" pitchFamily="34" charset="-120"/>
              </a:rPr>
              <a:t>Skills</a:t>
            </a:r>
            <a:endParaRPr lang="en-US" sz="2400" dirty="0"/>
          </a:p>
        </p:txBody>
      </p:sp>
      <p:sp>
        <p:nvSpPr>
          <p:cNvPr id="13" name="Text 11"/>
          <p:cNvSpPr/>
          <p:nvPr/>
        </p:nvSpPr>
        <p:spPr>
          <a:xfrm>
            <a:off x="2743200" y="3657600"/>
            <a:ext cx="3657600" cy="457200"/>
          </a:xfrm>
          <a:prstGeom prst="rect">
            <a:avLst/>
          </a:prstGeom>
          <a:noFill/>
          <a:ln/>
        </p:spPr>
        <p:txBody>
          <a:bodyPr wrap="square" lIns="0" tIns="0" rIns="0" bIns="0" rtlCol="0" anchor="t"/>
          <a:lstStyle/>
          <a:p>
            <a:pPr algn="ctr" indent="0" marL="0">
              <a:buNone/>
            </a:pPr>
            <a:r>
              <a:rPr lang="en-US" sz="1800" i="1" dirty="0">
                <a:solidFill>
                  <a:srgbClr val="8B95A5"/>
                </a:solidFill>
                <a:latin typeface="Verdana" pitchFamily="34" charset="0"/>
                <a:ea typeface="Verdana" pitchFamily="34" charset="-122"/>
                <a:cs typeface="Verdana" pitchFamily="34" charset="-120"/>
              </a:rPr>
              <a:t>the tools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Let’s start with the tools.</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New capabilities for the agent</a:t>
            </a:r>
            <a:endParaRPr lang="en-US"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Connect a server.</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Gain a capability.</a:t>
            </a:r>
            <a:endParaRPr lang="en-US" sz="5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Live docs at prompt time.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Compiler-level code navigation.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Reliable web access.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no hidden failures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Standing instructions, enforced automatically</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Linter rules,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but for the agent’s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entire behavior.</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635BFF"/>
                </a:solidFill>
                <a:latin typeface="Verdana" pitchFamily="34" charset="0"/>
                <a:ea typeface="Verdana" pitchFamily="34" charset="-122"/>
                <a:cs typeface="Verdana" pitchFamily="34" charset="-120"/>
              </a:rPr>
              <a:t>Tool usage</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fetch docs first, never WebFetch</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Communication</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radically honest, never guess</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Coding</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TDD, SOLID, self-describing code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Git workflow</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branch naming, PR closes issue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Language-specific</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filtered by file extension</a:t>
            </a:r>
            <a:endParaRPr lang="en-US" sz="2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Learned workflows, loaded when needed</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Rules are ‘always do this.’</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Skills are ‘here’s how,</a:t>
            </a:r>
            <a:endParaRPr lang="en-US" sz="3600" dirty="0"/>
          </a:p>
          <a:p>
            <a:pPr algn="ctr" indent="0" marL="0">
              <a:buNone/>
            </a:pPr>
            <a:r>
              <a:rPr lang="en-US" sz="3600" b="1" dirty="0">
                <a:solidFill>
                  <a:srgbClr val="FFFFFF"/>
                </a:solidFill>
                <a:latin typeface="Georgia" pitchFamily="34" charset="0"/>
                <a:ea typeface="Georgia" pitchFamily="34" charset="-122"/>
                <a:cs typeface="Georgia" pitchFamily="34" charset="-120"/>
              </a:rPr>
              <a:t>when the time comes.’</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Always available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Low-level access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On-demand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Higher-level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Loaded when needed</a:t>
            </a:r>
            <a:endParaRPr lang="en-US" sz="2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your time building skills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from today’s pain points</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Agent circled on docker postgres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Connected to test GCP service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Pulled a feature ticket via CLI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Analyzed a crash log → skill</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Where the system runs</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914400"/>
            <a:ext cx="2194560" cy="457200"/>
          </a:xfrm>
          <a:prstGeom prst="roundRect">
            <a:avLst>
              <a:gd name="adj" fmla="val 12000"/>
            </a:avLst>
          </a:prstGeom>
          <a:solidFill>
            <a:srgbClr val="0A2540"/>
          </a:solidFill>
          <a:ln w="19050">
            <a:solidFill>
              <a:srgbClr val="635BFF"/>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A2540"/>
          </a:solidFill>
          <a:ln w="12700">
            <a:solidFill>
              <a:srgbClr val="8B95A5"/>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A2540"/>
          </a:solidFill>
          <a:ln w="12700">
            <a:solidFill>
              <a:srgbClr val="8B95A5"/>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A2540"/>
          </a:solidFill>
          <a:ln w="19050">
            <a:solidFill>
              <a:srgbClr val="635BFF"/>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A2540"/>
          </a:solidFill>
          <a:ln w="12700">
            <a:solidFill>
              <a:srgbClr val="8B95A5"/>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A2540"/>
          </a:solidFill>
          <a:ln w="12700">
            <a:solidFill>
              <a:srgbClr val="8B95A5"/>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A2540"/>
          </a:solidFill>
          <a:ln w="19050">
            <a:solidFill>
              <a:srgbClr val="635BFF"/>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A2540"/>
          </a:solidFill>
          <a:ln w="12700">
            <a:solidFill>
              <a:srgbClr val="8B95A5"/>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A2540"/>
          </a:solidFill>
          <a:ln w="12700">
            <a:solidFill>
              <a:srgbClr val="8B95A5"/>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8B95A5"/>
                </a:solidFill>
                <a:latin typeface="Verdana" pitchFamily="34" charset="0"/>
                <a:ea typeface="Verdana" pitchFamily="34" charset="-122"/>
                <a:cs typeface="Verdana" pitchFamily="34" charset="-120"/>
              </a:rPr>
              <a:t>3 sessions. 3 databases. Zero interference.</a:t>
            </a:r>
            <a:endParaRPr lang="en-US" sz="2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productivity gains for AI agents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Latest features.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Always ahead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Parallel sessions.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One tab</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per worktree.</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8B95A5"/>
                </a:solidFill>
                <a:latin typeface="Georgia" pitchFamily="34" charset="0"/>
                <a:ea typeface="Georgia" pitchFamily="34" charset="-122"/>
                <a:cs typeface="Georgia" pitchFamily="34" charset="-120"/>
              </a:rPr>
              <a:t> / </a:t>
            </a:r>
            <a:pPr algn="ctr" indent="0" marL="0">
              <a:buNone/>
            </a:pPr>
            <a:r>
              <a:rPr lang="en-US" sz="10000" b="1" dirty="0">
                <a:solidFill>
                  <a:srgbClr val="635BFF"/>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 engineering / building the machine</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Anthropic</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Latest models, best features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8B95A5"/>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GCP</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EU region models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Managed tool calls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Production logs, user data</a:t>
            </a:r>
            <a:endParaRPr lang="en-US" sz="2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Gated Workflow</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How it all comes together</a:t>
            </a:r>
            <a:endParaRPr lang="en-US" sz="2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1828800"/>
            <a:ext cx="1920240" cy="73152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457200" y="1828800"/>
            <a:ext cx="192024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Brainstorm</a:t>
            </a:r>
            <a:endParaRPr lang="en-US" sz="1800" dirty="0"/>
          </a:p>
        </p:txBody>
      </p:sp>
      <p:sp>
        <p:nvSpPr>
          <p:cNvPr id="5" name="Text 3"/>
          <p:cNvSpPr/>
          <p:nvPr/>
        </p:nvSpPr>
        <p:spPr>
          <a:xfrm>
            <a:off x="2377440" y="1828800"/>
            <a:ext cx="182880" cy="731520"/>
          </a:xfrm>
          <a:prstGeom prst="rect">
            <a:avLst/>
          </a:prstGeom>
          <a:noFill/>
          <a:ln/>
        </p:spPr>
        <p:txBody>
          <a:bodyPr wrap="square" lIns="0" tIns="0" rIns="0" bIns="0" rtlCol="0" anchor="ctr"/>
          <a:lstStyle/>
          <a:p>
            <a:pPr algn="ctr" indent="0" marL="0">
              <a:buNone/>
            </a:pPr>
            <a:r>
              <a:rPr lang="en-US" sz="2000" b="1" dirty="0">
                <a:solidFill>
                  <a:srgbClr val="635BFF"/>
                </a:solidFill>
                <a:latin typeface="Verdana" pitchFamily="34" charset="0"/>
                <a:ea typeface="Verdana" pitchFamily="34" charset="-122"/>
                <a:cs typeface="Verdana" pitchFamily="34" charset="-120"/>
              </a:rPr>
              <a:t>→</a:t>
            </a:r>
            <a:endParaRPr lang="en-US" sz="2000" dirty="0"/>
          </a:p>
        </p:txBody>
      </p:sp>
      <p:sp>
        <p:nvSpPr>
          <p:cNvPr id="6" name="Shape 4"/>
          <p:cNvSpPr/>
          <p:nvPr/>
        </p:nvSpPr>
        <p:spPr>
          <a:xfrm>
            <a:off x="2560320" y="1828800"/>
            <a:ext cx="1920240" cy="73152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2560320" y="1828800"/>
            <a:ext cx="192024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Plan</a:t>
            </a:r>
            <a:endParaRPr lang="en-US" sz="1800" dirty="0"/>
          </a:p>
        </p:txBody>
      </p:sp>
      <p:sp>
        <p:nvSpPr>
          <p:cNvPr id="8" name="Text 6"/>
          <p:cNvSpPr/>
          <p:nvPr/>
        </p:nvSpPr>
        <p:spPr>
          <a:xfrm>
            <a:off x="4480560" y="1828800"/>
            <a:ext cx="182880" cy="731520"/>
          </a:xfrm>
          <a:prstGeom prst="rect">
            <a:avLst/>
          </a:prstGeom>
          <a:noFill/>
          <a:ln/>
        </p:spPr>
        <p:txBody>
          <a:bodyPr wrap="square" lIns="0" tIns="0" rIns="0" bIns="0" rtlCol="0" anchor="ctr"/>
          <a:lstStyle/>
          <a:p>
            <a:pPr algn="ctr" indent="0" marL="0">
              <a:buNone/>
            </a:pPr>
            <a:r>
              <a:rPr lang="en-US" sz="2000" b="1" dirty="0">
                <a:solidFill>
                  <a:srgbClr val="635BFF"/>
                </a:solidFill>
                <a:latin typeface="Verdana" pitchFamily="34" charset="0"/>
                <a:ea typeface="Verdana" pitchFamily="34" charset="-122"/>
                <a:cs typeface="Verdana" pitchFamily="34" charset="-120"/>
              </a:rPr>
              <a:t>→</a:t>
            </a:r>
            <a:endParaRPr lang="en-US" sz="2000" dirty="0"/>
          </a:p>
        </p:txBody>
      </p:sp>
      <p:sp>
        <p:nvSpPr>
          <p:cNvPr id="9" name="Shape 7"/>
          <p:cNvSpPr/>
          <p:nvPr/>
        </p:nvSpPr>
        <p:spPr>
          <a:xfrm>
            <a:off x="4663440" y="1828800"/>
            <a:ext cx="1920240" cy="73152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4663440" y="1828800"/>
            <a:ext cx="192024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Implement</a:t>
            </a:r>
            <a:endParaRPr lang="en-US" sz="1800" dirty="0"/>
          </a:p>
        </p:txBody>
      </p:sp>
      <p:sp>
        <p:nvSpPr>
          <p:cNvPr id="11" name="Text 9"/>
          <p:cNvSpPr/>
          <p:nvPr/>
        </p:nvSpPr>
        <p:spPr>
          <a:xfrm>
            <a:off x="6583680" y="1828800"/>
            <a:ext cx="182880" cy="731520"/>
          </a:xfrm>
          <a:prstGeom prst="rect">
            <a:avLst/>
          </a:prstGeom>
          <a:noFill/>
          <a:ln/>
        </p:spPr>
        <p:txBody>
          <a:bodyPr wrap="square" lIns="0" tIns="0" rIns="0" bIns="0" rtlCol="0" anchor="ctr"/>
          <a:lstStyle/>
          <a:p>
            <a:pPr algn="ctr" indent="0" marL="0">
              <a:buNone/>
            </a:pPr>
            <a:r>
              <a:rPr lang="en-US" sz="2000" b="1" dirty="0">
                <a:solidFill>
                  <a:srgbClr val="635BFF"/>
                </a:solidFill>
                <a:latin typeface="Verdana" pitchFamily="34" charset="0"/>
                <a:ea typeface="Verdana" pitchFamily="34" charset="-122"/>
                <a:cs typeface="Verdana" pitchFamily="34" charset="-120"/>
              </a:rPr>
              <a:t>→</a:t>
            </a:r>
            <a:endParaRPr lang="en-US" sz="2000" dirty="0"/>
          </a:p>
        </p:txBody>
      </p:sp>
      <p:sp>
        <p:nvSpPr>
          <p:cNvPr id="12" name="Shape 10"/>
          <p:cNvSpPr/>
          <p:nvPr/>
        </p:nvSpPr>
        <p:spPr>
          <a:xfrm>
            <a:off x="6766560" y="1828800"/>
            <a:ext cx="1920240" cy="731520"/>
          </a:xfrm>
          <a:prstGeom prst="roundRect">
            <a:avLst>
              <a:gd name="adj" fmla="val 10000"/>
            </a:avLst>
          </a:prstGeom>
          <a:solidFill>
            <a:srgbClr val="0A2540"/>
          </a:solidFill>
          <a:ln w="25400">
            <a:solidFill>
              <a:srgbClr val="635BFF"/>
            </a:solidFill>
            <a:prstDash val="solid"/>
          </a:ln>
        </p:spPr>
      </p:sp>
      <p:sp>
        <p:nvSpPr>
          <p:cNvPr id="13" name="Text 11"/>
          <p:cNvSpPr/>
          <p:nvPr/>
        </p:nvSpPr>
        <p:spPr>
          <a:xfrm>
            <a:off x="6766560" y="1828800"/>
            <a:ext cx="192024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Verdana" pitchFamily="34" charset="0"/>
                <a:ea typeface="Verdana" pitchFamily="34" charset="-122"/>
                <a:cs typeface="Verdana" pitchFamily="34" charset="-120"/>
              </a:rPr>
              <a:t>Review</a:t>
            </a:r>
            <a:endParaRPr lang="en-US" sz="18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Each stage produces an artifact.</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Each artifact gets validated.</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Runs tests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Checks linting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Solves the problem?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Meets requirements?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Architecturally sound?</a:t>
            </a:r>
            <a:endParaRPr lang="en-US" sz="2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The gated workflow, as a plugin.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gated workflow</a:t>
            </a:r>
            <a:endParaRPr lang="en-US" sz="16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200" b="1" dirty="0">
                <a:solidFill>
                  <a:srgbClr val="635BFF"/>
                </a:solidFill>
                <a:latin typeface="Georgia" pitchFamily="34" charset="0"/>
                <a:ea typeface="Georgia" pitchFamily="34" charset="-122"/>
                <a:cs typeface="Georgia" pitchFamily="34" charset="-120"/>
              </a:rPr>
              <a:t>Rules enforce standards.</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MCP provides context.</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Skills define the workflow.</a:t>
            </a:r>
            <a:endParaRPr lang="en-US" sz="3200" dirty="0"/>
          </a:p>
          <a:p>
            <a:pPr algn="ctr" indent="0" marL="0">
              <a:buNone/>
            </a:pPr>
            <a:r>
              <a:rPr lang="en-US" sz="3200" b="1" dirty="0">
                <a:solidFill>
                  <a:srgbClr val="635BFF"/>
                </a:solidFill>
                <a:latin typeface="Georgia" pitchFamily="34" charset="0"/>
                <a:ea typeface="Georgia" pitchFamily="34" charset="-122"/>
                <a:cs typeface="Georgia" pitchFamily="34" charset="-120"/>
              </a:rPr>
              <a:t>The approach connects them.</a:t>
            </a:r>
            <a:endParaRPr lang="en-US" sz="3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Perfect context</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No hidden failures</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Firecrawl, Tool usage rules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Gated workflow</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Superpowers, Two-layer verification, CI/CD</a:t>
            </a:r>
            <a:endParaRPr lang="en-US" sz="2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2743200" y="822960"/>
            <a:ext cx="3657600" cy="457200"/>
          </a:xfrm>
          <a:prstGeom prst="rect">
            <a:avLst/>
          </a:prstGeom>
          <a:noFill/>
          <a:ln/>
        </p:spPr>
        <p:txBody>
          <a:bodyPr wrap="square" lIns="0" tIns="0" rIns="0" bIns="0" rtlCol="0" anchor="b"/>
          <a:lstStyle/>
          <a:p>
            <a:pPr algn="ctr" indent="0" marL="0">
              <a:buNone/>
            </a:pPr>
            <a:r>
              <a:rPr lang="en-US" sz="1800" i="1" dirty="0">
                <a:solidFill>
                  <a:srgbClr val="635BFF"/>
                </a:solidFill>
                <a:latin typeface="Verdana" pitchFamily="34" charset="0"/>
                <a:ea typeface="Verdana" pitchFamily="34" charset="-122"/>
                <a:cs typeface="Verdana" pitchFamily="34" charset="-120"/>
              </a:rPr>
              <a:t>the approach</a:t>
            </a:r>
            <a:endParaRPr lang="en-US" sz="1800" dirty="0"/>
          </a:p>
        </p:txBody>
      </p:sp>
      <p:sp>
        <p:nvSpPr>
          <p:cNvPr id="4" name="Shape 2"/>
          <p:cNvSpPr/>
          <p:nvPr/>
        </p:nvSpPr>
        <p:spPr>
          <a:xfrm>
            <a:off x="2743200" y="1371600"/>
            <a:ext cx="3657600" cy="731520"/>
          </a:xfrm>
          <a:prstGeom prst="roundRect">
            <a:avLst>
              <a:gd name="adj" fmla="val 10000"/>
            </a:avLst>
          </a:prstGeom>
          <a:solidFill>
            <a:srgbClr val="0A2540"/>
          </a:solidFill>
          <a:ln w="31750">
            <a:solidFill>
              <a:srgbClr val="635BFF"/>
            </a:solidFill>
            <a:prstDash val="solid"/>
          </a:ln>
        </p:spPr>
      </p:sp>
      <p:sp>
        <p:nvSpPr>
          <p:cNvPr id="5" name="Text 3"/>
          <p:cNvSpPr/>
          <p:nvPr/>
        </p:nvSpPr>
        <p:spPr>
          <a:xfrm>
            <a:off x="2743200" y="1371600"/>
            <a:ext cx="365760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Georgia" pitchFamily="34" charset="0"/>
                <a:ea typeface="Georgia" pitchFamily="34" charset="-122"/>
                <a:cs typeface="Georgia" pitchFamily="34" charset="-120"/>
              </a:rPr>
              <a:t>Gated Workflow</a:t>
            </a:r>
            <a:endParaRPr lang="en-US" sz="2800" dirty="0"/>
          </a:p>
        </p:txBody>
      </p:sp>
      <p:sp>
        <p:nvSpPr>
          <p:cNvPr id="6" name="Text 4"/>
          <p:cNvSpPr/>
          <p:nvPr/>
        </p:nvSpPr>
        <p:spPr>
          <a:xfrm>
            <a:off x="3657600" y="2240280"/>
            <a:ext cx="1828800" cy="45720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7" name="Shape 5"/>
          <p:cNvSpPr/>
          <p:nvPr/>
        </p:nvSpPr>
        <p:spPr>
          <a:xfrm>
            <a:off x="914400" y="2834640"/>
            <a:ext cx="2194560" cy="731520"/>
          </a:xfrm>
          <a:prstGeom prst="roundRect">
            <a:avLst>
              <a:gd name="adj" fmla="val 10000"/>
            </a:avLst>
          </a:prstGeom>
          <a:solidFill>
            <a:srgbClr val="0A2540"/>
          </a:solidFill>
          <a:ln w="19050">
            <a:solidFill>
              <a:srgbClr val="635BFF"/>
            </a:solidFill>
            <a:prstDash val="solid"/>
          </a:ln>
        </p:spPr>
      </p:sp>
      <p:sp>
        <p:nvSpPr>
          <p:cNvPr id="8" name="Text 6"/>
          <p:cNvSpPr/>
          <p:nvPr/>
        </p:nvSpPr>
        <p:spPr>
          <a:xfrm>
            <a:off x="914400" y="2834640"/>
            <a:ext cx="2194560" cy="73152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Rules</a:t>
            </a:r>
            <a:endParaRPr lang="en-US" sz="2400" dirty="0"/>
          </a:p>
        </p:txBody>
      </p:sp>
      <p:sp>
        <p:nvSpPr>
          <p:cNvPr id="9" name="Shape 7"/>
          <p:cNvSpPr/>
          <p:nvPr/>
        </p:nvSpPr>
        <p:spPr>
          <a:xfrm>
            <a:off x="3474720" y="2834640"/>
            <a:ext cx="2194560" cy="731520"/>
          </a:xfrm>
          <a:prstGeom prst="roundRect">
            <a:avLst>
              <a:gd name="adj" fmla="val 10000"/>
            </a:avLst>
          </a:prstGeom>
          <a:solidFill>
            <a:srgbClr val="0A2540"/>
          </a:solidFill>
          <a:ln w="19050">
            <a:solidFill>
              <a:srgbClr val="635BFF"/>
            </a:solidFill>
            <a:prstDash val="solid"/>
          </a:ln>
        </p:spPr>
      </p:sp>
      <p:sp>
        <p:nvSpPr>
          <p:cNvPr id="10" name="Text 8"/>
          <p:cNvSpPr/>
          <p:nvPr/>
        </p:nvSpPr>
        <p:spPr>
          <a:xfrm>
            <a:off x="3474720" y="2834640"/>
            <a:ext cx="2194560" cy="73152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MCP Servers</a:t>
            </a:r>
            <a:endParaRPr lang="en-US" sz="2400" dirty="0"/>
          </a:p>
        </p:txBody>
      </p:sp>
      <p:sp>
        <p:nvSpPr>
          <p:cNvPr id="11" name="Shape 9"/>
          <p:cNvSpPr/>
          <p:nvPr/>
        </p:nvSpPr>
        <p:spPr>
          <a:xfrm>
            <a:off x="6035040" y="2834640"/>
            <a:ext cx="2194560" cy="731520"/>
          </a:xfrm>
          <a:prstGeom prst="roundRect">
            <a:avLst>
              <a:gd name="adj" fmla="val 10000"/>
            </a:avLst>
          </a:prstGeom>
          <a:solidFill>
            <a:srgbClr val="0A2540"/>
          </a:solidFill>
          <a:ln w="19050">
            <a:solidFill>
              <a:srgbClr val="635BFF"/>
            </a:solidFill>
            <a:prstDash val="solid"/>
          </a:ln>
        </p:spPr>
      </p:sp>
      <p:sp>
        <p:nvSpPr>
          <p:cNvPr id="12" name="Text 10"/>
          <p:cNvSpPr/>
          <p:nvPr/>
        </p:nvSpPr>
        <p:spPr>
          <a:xfrm>
            <a:off x="6035040" y="2834640"/>
            <a:ext cx="2194560" cy="731520"/>
          </a:xfrm>
          <a:prstGeom prst="rect">
            <a:avLst/>
          </a:prstGeom>
          <a:noFill/>
          <a:ln/>
        </p:spPr>
        <p:txBody>
          <a:bodyPr wrap="square" lIns="0" tIns="0" rIns="0" bIns="0" rtlCol="0" anchor="ctr"/>
          <a:lstStyle/>
          <a:p>
            <a:pPr algn="ctr" indent="0" marL="0">
              <a:buNone/>
            </a:pPr>
            <a:r>
              <a:rPr lang="en-US" sz="2400" b="1" dirty="0">
                <a:solidFill>
                  <a:srgbClr val="635BFF"/>
                </a:solidFill>
                <a:latin typeface="Georgia" pitchFamily="34" charset="0"/>
                <a:ea typeface="Georgia" pitchFamily="34" charset="-122"/>
                <a:cs typeface="Georgia" pitchFamily="34" charset="-120"/>
              </a:rPr>
              <a:t>Skills</a:t>
            </a:r>
            <a:endParaRPr lang="en-US" sz="2400" dirty="0"/>
          </a:p>
        </p:txBody>
      </p:sp>
      <p:sp>
        <p:nvSpPr>
          <p:cNvPr id="13" name="Text 11"/>
          <p:cNvSpPr/>
          <p:nvPr/>
        </p:nvSpPr>
        <p:spPr>
          <a:xfrm>
            <a:off x="2743200" y="3657600"/>
            <a:ext cx="3657600" cy="457200"/>
          </a:xfrm>
          <a:prstGeom prst="rect">
            <a:avLst/>
          </a:prstGeom>
          <a:noFill/>
          <a:ln/>
        </p:spPr>
        <p:txBody>
          <a:bodyPr wrap="square" lIns="0" tIns="0" rIns="0" bIns="0" rtlCol="0" anchor="t"/>
          <a:lstStyle/>
          <a:p>
            <a:pPr algn="ctr" indent="0" marL="0">
              <a:buNone/>
            </a:pPr>
            <a:r>
              <a:rPr lang="en-US" sz="1800" i="1" dirty="0">
                <a:solidFill>
                  <a:srgbClr val="635BFF"/>
                </a:solidFill>
                <a:latin typeface="Verdana" pitchFamily="34" charset="0"/>
                <a:ea typeface="Verdana" pitchFamily="34" charset="-122"/>
                <a:cs typeface="Verdana" pitchFamily="34" charset="-120"/>
              </a:rPr>
              <a:t>the tools</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2026-02-28T20:56:32Z</dcterms:created>
  <dcterms:modified xsi:type="dcterms:W3CDTF">2026-02-28T20:56:32Z</dcterms:modified>
</cp:coreProperties>
</file>