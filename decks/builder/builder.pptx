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title sit. This deck is the Builder persona — the expert-level companion to the main AI Best Practices deck. The audience may be engineers who’ve seen the main deck, or senior engineers arriving fresh. No assumption of Claude Code familiarity.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Callback to the main deck’s spectrum. The audience should recognize the progression. Everything before Builder is covered in the main deck. This deck goes deep on what the Builder persona actually looks like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Second Talent. Vibe coding went from joke to industry practice in under a year. The tools work. Adoption is explosive. The audience already knows this — validate it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Andrej Karpathy coined ‘vibe coding’ in February 2025. By November 2025 it was Collins Dictionary Word of the Year. The speed of adoption is the point — this isn’t a niche practice anymore, it’s mainstream.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Medium / Anthropic. Claude Code 2.1 shipped a critical security patch — 1,096 commits — writing 90% of its own code. The tools are powerful enough to build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The audience is nodding — they know this reality. Now flip it. Transition to the complication.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Addy Osmani. Developers who felt 20% faster actually took 19% longer once debugging and cleanup were included. The gap between ‘uses AI tools’ and ‘uses AI tools well’ is massive. This stat is the anchor — it directly contradicts what people feel.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CodeRabbit / Stack Overflow Blog. Analysis of 470 GitHub PRs — AI-generated code creates 1.7x more issues including critical bugs, logic errors, and security vulnerabilities. 3x increase in readability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Veracode 2025 GenAI Code Security Report. Tested 100+ AI models across Java, Python, C#, JavaScript. Java had the highest failure rate at 72%. Newer models did not improve security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OX Security. Analyzed 300+ repos. AI tools generate code with excessive commenting, over-specification, monolithic architecture — contradicting established engineering practices. They independently coined the same ‘Army of Juniors’ metaphor.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Callback to main deck. Let it land. The three stats paint the picture. The audience should feel the 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Replit/SaaStr incident, July 2025:
Jason Lemkin was vibe coding with Replit’s AI agent. He put the system in an explicit code freeze. The AI ignored it. Deleted his live production database — 1,200+ executives, 1,190+ companies wiped. Then it fabricated a response claiming rollback was impossible.
Replit CEO responded publicly and implemented new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 App incident, July 2025:
A women-only dating safety app built with rapid AI-assisted development. Promised users government ID photos deleted immediately after verification. Instead, 72,000 images including 13,000 government IDs sat in an unsecured cloud bucket. Leaked to 4chan. Class action lawsuit filed. GDPR exposure.
Three fundamentals skipped: no data inventory, no data minimization, didn’t follow their own policies.
Sources: Exterro, Lawfare.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the key visual. Let the audience self-identify. The point isn’t gatekeeping — it’s that expertise is the prerequisite for trust. Only an expert can catch edge cases, compliance gaps, architectural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land. This is the sharpest version of the thesis. Transition: so what does the alternative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from complication to resolution. The audience is primed. Everything from here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the flag. Not the only way. Not a framework. A working setup from daily production use — what I’ve arrived at after going all-in on AI-assisted development. The principles transfer everywhere. The specific tools are what works best right now, and ‘right now’ changes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on one slide, not three separate pitches. (1) Best frontier model for coding: SWE-bench, agentic coding tasks, tool use. When the model does 90%+ of the work, model quality is the bottleneck. (2) Agentic-first, not copilot-adapted: built as an agent from the ground up, not a copilot retrofitted. Plans, executes, verifies. (3) Richest context engineering system: MCP servers, rules, skills, hooks — core design, not bolted on.
The honest caveat: be mercenaries with tooling. If something better arrives tomorrow, switch. The principles are tool-agnostic. These tools are the best implementation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Reframe the OX Security ‘Army of Juniors’ from problem to operating model. Coding agents ARE an army of eager juniors. The question is: who’s managing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hats, worn simultaneously. As engineering manager: improve the system agents work within. As tech lead: verify output at each stage. You never write code. You manage and verify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Forbes Tech Council. HBR (Dec 2025) adds: ‘Every AI change should be double-checked with automatic checks, tests that confirm things still work, and at least one human review.’ The industry is converging on this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Speed is solved — AI agents give you speed. But the complication slides showed what happens: 19% slower, 1.7× more issues, 45% fail security. The question isn’t speed anymore. The question is: how does quality keep pace? This slide sets up the central 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trade-off is dead — but only with investment. Without infrastructure: speed + catastrophe. With infrastructure: the same best practices there always were, enforced automatically. Quality keeps pace only if you invest in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this earns itself. The audience knows the quality question (how does quality keep pace with speed?). The answer: by refusing to write code manually, you force yourself to invest in the infrastructure that makes AI output reliable. The constraint creates the discipline. If you still write code by hand, you can get away without rules, skills, or verification. If you don’t — you have to build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principles — how quality keeps pace. Every tool that follows maps to one or more. Perfect context: right information, right time. Always grounded: two failure modes, same root cause — stale training data and silent retrieval failure. Context7 solves the first, Firecrawl solves the second. Gated workflow: staged verification, nothing skipped.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system that implements the three principles. We’ll walk through each layer. Rules tell the agent how to behave. MCP servers give it new capabilities. Skills are workflows loaded on demand. And the gated workflow — the approach that sits on top — keeps everything in stages. We’ll cover the tools first, then see how the gated workflow connects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tool sections. The audience has the three principles and the architecture map. Now they learn the instruments.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servers provide capabilities the agent needs constant, low-level access to. Always available, not loaded on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audience may not know what MCP is. MCP servers give the agent capabilities it doesn’t have natively — fetch live docs, navigate code with compiler-level precision, scrape the web reliably. Connect one and the agent gains new tools. They’re always available, not loaded on demand. Three are always loaded because the agent always needs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Context7 fetches live, version-specific library documentation and injects it into context at prompt time. Instead of relying on stale training data, the agent works from real, current docs. Prevents hallucinated APIs, outdated patterns, wrong-version code. First half of ‘always grounded’ — live data, not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Language Server MCPs (pyright, typescript-language-server, gopls) give the agent IDE-level semantic understanding: go-to-definition, find-references, diagnostics. Compiler-level navigation instead of grepping through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WebFetch gets rejected by sites, pages are too large and get truncated, content gets summarized in ways that lose critical detail — and none of this is obvious. Firecrawl handles all of this reliably. Second half of ‘always grounded’ — reliable retrieval, not silent failure. Both Context7 and Firecrawl share this tag: solving the same root problem from two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are standing instructions the agent follows on every task. Your engineering standards, written as files, enforced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are standing instructions the agent follows — how to write code, communicate, use git — written as files, enforced automatically. You write them once, the agent follows them forever. Think of linter rules, but for the agent’s entire behavior, not just code style. If you’ve used a CLAUDE.md file, rules are the modular evolution — instead of one file with everything, each concern gets its own file that declares when it activates.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category is a separate file. Tool usage prevents hidden failures. Communication enforces honesty. Coding enforces quality. Git workflow enforces process. Language-specific rules activate only for that language’s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activation scoping. The agent doesn’t load Python rules when editing TypeScript. Each file is small, focused, defines its own trigger. Not too little, not too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the rules section. Modular files, activation scoping, right context for the right task. No bloat, no missing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are for higher-level workflows that would clutter context if always loaded. Pulled in on demand — progressive disclosure.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carries a catalog of available skills. When your request matches one — either because you called it by name or the agent recognized the fit — it loads the full playbook for that task. Skills stay out of context until needed, because carrying every workflow at all times would be like reading every runbook before starting your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is about context economy. MCP servers are always loaded. Skills are loaded on demand. An MCP server like Notion loads its entire tool surface. A skill wrapping a CLI is a fraction of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focused operations, prefer a skill that teaches the agent to call a CLI over loading a full MCP server. A skill wrapping `gh` is far leaner than the full Linear MCP.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 rule: ~1 hour per day building and improving skills based on where the agent got stuck. This isn’t optional polish — it’s the compounding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examples. Each was a task where the agent circled — tried multiple approaches, hit walls, burned time. After the session, each pain point got turned into a skill. Next time: no circling.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compounding engine. Without 10% investment, you hit the same walls daily. With it, every wall becomes a skill. The investment pays off exponentially.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tools are set. Now the machine they run on. Environment is developer setup — parallel sessions, monorepo, permissions, compliance. Different category from the agent’s behavior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manager/tech lead role creates downtime. Fill it by opening another session on another feature via git worktree. Each session: own containers, own database, fully isolated.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Monorepo means full visibility across services, infrastructure, shared code. The agent can trace a feature end-to-end without switching repos.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Nx Blog, January 2026. IaC alongside application code — modify a Lambda, its IAM role, and the frontend, all in one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Bypass all permissions by default for general coding. You’re not removing safety, you’re moving it. GCP CLI not logged into prod. AWS credentials scoped to dev. The agent physically cannot touch production. Exception: PII sessions — no bypass, managed tool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 not the VSCode extension — always ahead. Tabs, not sidebar — parallel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day: product engineering across multiple features. End of day: ~1 hour turning pain points into skills. The compounding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can’t get Builder-level speed while also having access to PII. Default path: fast, full-featured, bypass permissions. PII path: GCP, EU region models, managed tool calls, no bypass. The decision is per-task, not per-project.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approach that sits on top of the tools. Now that the audience understands MCP, Rules, and Skills, they can see how the gated workflow uses all three. This is the climax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gated workflow prevents the agent from yoloing straight into code. Brainstorm produces requirements. Plan produces architecture. Implement produces code + tests. Review validates against requirements. No stage is skipped. Rules enforce standards at every stage. MCP servers provide context during each stage. Skills like Superpowers define the workflow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layers, not one. The agent catches mechanical errors — runs the tests, checks the linting, iterates. You catch design errors — does this actually solve the problem? Neither layer alone is sufficient.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Superpowers is an opinionated agentic workflow plugin — a skill, not an MCP server. It enforces TDD (red-green-refactor), systematic debugging (investigate root cause before guessing), verification-before-completion. The gated workflow as code. The agent can’t skip steps because the skill defines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it together. Rules enforce quality at every stage. MCP servers provide the context and capabilities the agent needs during each stage. Skills — especially Superpowers — define the staged workflow itself. The gated workflow is the approach that sits on top and uses all three tool layers. This is the climax. The audience should now see the full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before the closing. The audience has absorbed the full setup. Now tie 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Rapid-fire recap. Each tool maps to a principle. ‘Always grounded’ groups Context7 and Firecrawl together — both prevent the agent from working on wrong information, from two directions. The gated workflow is the approach on top — powered by Superpowers, enforced through two-layer verification, backstopped by CI/CD.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the map? Now every box has been covered. The audience has seen each layer in detail. All boxes are lit up in accent color — the system is complete. This visual callback reinforces the architecture before the final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Let it land. This is the emotional climax.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line. Quality AND speed — but only with the investment. The old trade-off is dead. The Builder’s job is building the machine. Pause. Let it 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secondtalent.com/resources/ai-coding-assistant-statistics/"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medium.com/codex/claude-code-2-1-the-ai-tool-that-writes-90-of-its-own-code-16e084fd5be0"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ddyo.substack.com/p/the-reality-of-ai-assisted-software"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www.coderabbit.ai/blog/state-of-ai-vs-human-code-generation-report"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www.veracode.com/blog/genai-code-security-report/"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www.prnewswire.com/news-releases/ox-report-ai-generated-code-violates-engineering-best-practices-undermining-software-security-at-scale-302592642.html"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fortune.com/2025/07/23/ai-coding-tool-replit-wiped-database-called-it-a-catastrophic-failure/" TargetMode="External"/><Relationship Id="rId2" Type="http://schemas.openxmlformats.org/officeDocument/2006/relationships/hyperlink" Target="https://www.theregister.com/2025/07/21/replit_saastr_vibe_coding_incident/"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www.lawfaremedia.org/article/when-the-vibe-are-off--the-security-risks-of-ai-generated-code"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hyperlink" Target="https://nx.dev/blog/the-missing-multiplier-for-ai-agent-productivity" TargetMode="External"/><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731520"/>
            <a:ext cx="7315200" cy="2286000"/>
          </a:xfrm>
          <a:prstGeom prst="rect">
            <a:avLst/>
          </a:prstGeom>
          <a:noFill/>
          <a:ln/>
        </p:spPr>
        <p:txBody>
          <a:bodyPr wrap="square" lIns="0" tIns="0" rIns="0" bIns="0" rtlCol="0" anchor="ctr"/>
          <a:lstStyle/>
          <a:p>
            <a:pPr algn="ctr" indent="0" marL="0">
              <a:buNone/>
            </a:pPr>
            <a:r>
              <a:rPr lang="en-US" sz="6400" b="1" dirty="0">
                <a:solidFill>
                  <a:srgbClr val="FFFFFF"/>
                </a:solidFill>
                <a:latin typeface="Georgia" pitchFamily="34" charset="0"/>
                <a:ea typeface="Georgia" pitchFamily="34" charset="-122"/>
                <a:cs typeface="Georgia" pitchFamily="34" charset="-120"/>
              </a:rPr>
              <a:t>The Builder’s Playbook</a:t>
            </a:r>
            <a:endParaRPr lang="en-US" sz="6400" dirty="0"/>
          </a:p>
        </p:txBody>
      </p:sp>
      <p:sp>
        <p:nvSpPr>
          <p:cNvPr id="4" name="Text 2"/>
          <p:cNvSpPr/>
          <p:nvPr/>
        </p:nvSpPr>
        <p:spPr>
          <a:xfrm>
            <a:off x="1371600" y="3200400"/>
            <a:ext cx="6400800" cy="548640"/>
          </a:xfrm>
          <a:prstGeom prst="rect">
            <a:avLst/>
          </a:prstGeom>
          <a:noFill/>
          <a:ln/>
        </p:spPr>
        <p:txBody>
          <a:bodyPr wrap="square" lIns="0" tIns="0" rIns="0" bIns="0" rtlCol="0" anchor="ctr"/>
          <a:lstStyle/>
          <a:p>
            <a:pPr algn="ctr" indent="0" marL="0">
              <a:buNone/>
            </a:pPr>
            <a:r>
              <a:rPr lang="en-US" sz="2200" i="1" dirty="0">
                <a:solidFill>
                  <a:srgbClr val="8B95A5"/>
                </a:solidFill>
                <a:latin typeface="Verdana" pitchFamily="34" charset="0"/>
                <a:ea typeface="Verdana" pitchFamily="34" charset="-122"/>
                <a:cs typeface="Verdana" pitchFamily="34" charset="-120"/>
              </a:rPr>
              <a:t>How to ship production systems with AI coding agents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Shape 1"/>
          <p:cNvSpPr/>
          <p:nvPr/>
        </p:nvSpPr>
        <p:spPr>
          <a:xfrm>
            <a:off x="192024" y="1463040"/>
            <a:ext cx="1188720" cy="640080"/>
          </a:xfrm>
          <a:prstGeom prst="roundRect">
            <a:avLst>
              <a:gd name="adj" fmla="val 11429"/>
            </a:avLst>
          </a:prstGeom>
          <a:solidFill>
            <a:srgbClr val="0A2540">
              <a:alpha val="50000"/>
            </a:srgbClr>
          </a:solidFill>
          <a:ln w="19050">
            <a:solidFill>
              <a:srgbClr val="8B95A5"/>
            </a:solidFill>
            <a:prstDash val="solid"/>
          </a:ln>
        </p:spPr>
      </p:sp>
      <p:sp>
        <p:nvSpPr>
          <p:cNvPr id="4" name="Text 2"/>
          <p:cNvSpPr/>
          <p:nvPr/>
        </p:nvSpPr>
        <p:spPr>
          <a:xfrm>
            <a:off x="192024" y="146304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Skeptic</a:t>
            </a:r>
            <a:endParaRPr lang="en-US" sz="1100" dirty="0"/>
          </a:p>
        </p:txBody>
      </p:sp>
      <p:sp>
        <p:nvSpPr>
          <p:cNvPr id="5" name="Text 3"/>
          <p:cNvSpPr/>
          <p:nvPr/>
        </p:nvSpPr>
        <p:spPr>
          <a:xfrm>
            <a:off x="1380744" y="146304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6" name="Shape 4"/>
          <p:cNvSpPr/>
          <p:nvPr/>
        </p:nvSpPr>
        <p:spPr>
          <a:xfrm>
            <a:off x="1453896" y="1463040"/>
            <a:ext cx="1188720" cy="640080"/>
          </a:xfrm>
          <a:prstGeom prst="roundRect">
            <a:avLst>
              <a:gd name="adj" fmla="val 11429"/>
            </a:avLst>
          </a:prstGeom>
          <a:solidFill>
            <a:srgbClr val="0A2540">
              <a:alpha val="50000"/>
            </a:srgbClr>
          </a:solidFill>
          <a:ln w="19050">
            <a:solidFill>
              <a:srgbClr val="8B95A5"/>
            </a:solidFill>
            <a:prstDash val="solid"/>
          </a:ln>
        </p:spPr>
      </p:sp>
      <p:sp>
        <p:nvSpPr>
          <p:cNvPr id="7" name="Text 5"/>
          <p:cNvSpPr/>
          <p:nvPr/>
        </p:nvSpPr>
        <p:spPr>
          <a:xfrm>
            <a:off x="1453896" y="146304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Explorer</a:t>
            </a:r>
            <a:endParaRPr lang="en-US" sz="1100" dirty="0"/>
          </a:p>
        </p:txBody>
      </p:sp>
      <p:sp>
        <p:nvSpPr>
          <p:cNvPr id="8" name="Text 6"/>
          <p:cNvSpPr/>
          <p:nvPr/>
        </p:nvSpPr>
        <p:spPr>
          <a:xfrm>
            <a:off x="2642616" y="146304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9" name="Shape 7"/>
          <p:cNvSpPr/>
          <p:nvPr/>
        </p:nvSpPr>
        <p:spPr>
          <a:xfrm>
            <a:off x="2715768" y="1463040"/>
            <a:ext cx="1188720" cy="640080"/>
          </a:xfrm>
          <a:prstGeom prst="roundRect">
            <a:avLst>
              <a:gd name="adj" fmla="val 11429"/>
            </a:avLst>
          </a:prstGeom>
          <a:solidFill>
            <a:srgbClr val="0A2540">
              <a:alpha val="50000"/>
            </a:srgbClr>
          </a:solidFill>
          <a:ln w="19050">
            <a:solidFill>
              <a:srgbClr val="8B95A5"/>
            </a:solidFill>
            <a:prstDash val="solid"/>
          </a:ln>
        </p:spPr>
      </p:sp>
      <p:sp>
        <p:nvSpPr>
          <p:cNvPr id="10" name="Text 8"/>
          <p:cNvSpPr/>
          <p:nvPr/>
        </p:nvSpPr>
        <p:spPr>
          <a:xfrm>
            <a:off x="2715768" y="146304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Whisperer</a:t>
            </a:r>
            <a:endParaRPr lang="en-US" sz="1100" dirty="0"/>
          </a:p>
        </p:txBody>
      </p:sp>
      <p:sp>
        <p:nvSpPr>
          <p:cNvPr id="11" name="Text 9"/>
          <p:cNvSpPr/>
          <p:nvPr/>
        </p:nvSpPr>
        <p:spPr>
          <a:xfrm>
            <a:off x="3904488" y="146304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12" name="Shape 10"/>
          <p:cNvSpPr/>
          <p:nvPr/>
        </p:nvSpPr>
        <p:spPr>
          <a:xfrm>
            <a:off x="3977640" y="1463040"/>
            <a:ext cx="1188720" cy="640080"/>
          </a:xfrm>
          <a:prstGeom prst="roundRect">
            <a:avLst>
              <a:gd name="adj" fmla="val 11429"/>
            </a:avLst>
          </a:prstGeom>
          <a:solidFill>
            <a:srgbClr val="0A2540">
              <a:alpha val="50000"/>
            </a:srgbClr>
          </a:solidFill>
          <a:ln w="19050">
            <a:solidFill>
              <a:srgbClr val="8B95A5"/>
            </a:solidFill>
            <a:prstDash val="solid"/>
          </a:ln>
        </p:spPr>
      </p:sp>
      <p:sp>
        <p:nvSpPr>
          <p:cNvPr id="13" name="Text 11"/>
          <p:cNvSpPr/>
          <p:nvPr/>
        </p:nvSpPr>
        <p:spPr>
          <a:xfrm>
            <a:off x="3977640" y="146304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Strategist</a:t>
            </a:r>
            <a:endParaRPr lang="en-US" sz="1100" dirty="0"/>
          </a:p>
        </p:txBody>
      </p:sp>
      <p:sp>
        <p:nvSpPr>
          <p:cNvPr id="14" name="Text 12"/>
          <p:cNvSpPr/>
          <p:nvPr/>
        </p:nvSpPr>
        <p:spPr>
          <a:xfrm>
            <a:off x="5166360" y="146304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15" name="Shape 13"/>
          <p:cNvSpPr/>
          <p:nvPr/>
        </p:nvSpPr>
        <p:spPr>
          <a:xfrm>
            <a:off x="5239512" y="1463040"/>
            <a:ext cx="1188720" cy="640080"/>
          </a:xfrm>
          <a:prstGeom prst="roundRect">
            <a:avLst>
              <a:gd name="adj" fmla="val 11429"/>
            </a:avLst>
          </a:prstGeom>
          <a:solidFill>
            <a:srgbClr val="0A2540">
              <a:alpha val="50000"/>
            </a:srgbClr>
          </a:solidFill>
          <a:ln w="19050">
            <a:solidFill>
              <a:srgbClr val="8B95A5"/>
            </a:solidFill>
            <a:prstDash val="solid"/>
          </a:ln>
        </p:spPr>
      </p:sp>
      <p:sp>
        <p:nvSpPr>
          <p:cNvPr id="16" name="Text 14"/>
          <p:cNvSpPr/>
          <p:nvPr/>
        </p:nvSpPr>
        <p:spPr>
          <a:xfrm>
            <a:off x="5239512" y="146304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Operator</a:t>
            </a:r>
            <a:endParaRPr lang="en-US" sz="1100" dirty="0"/>
          </a:p>
        </p:txBody>
      </p:sp>
      <p:sp>
        <p:nvSpPr>
          <p:cNvPr id="17" name="Text 15"/>
          <p:cNvSpPr/>
          <p:nvPr/>
        </p:nvSpPr>
        <p:spPr>
          <a:xfrm>
            <a:off x="6428232" y="146304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18" name="Shape 16"/>
          <p:cNvSpPr/>
          <p:nvPr/>
        </p:nvSpPr>
        <p:spPr>
          <a:xfrm>
            <a:off x="6501384" y="1463040"/>
            <a:ext cx="1188720" cy="640080"/>
          </a:xfrm>
          <a:prstGeom prst="roundRect">
            <a:avLst>
              <a:gd name="adj" fmla="val 11429"/>
            </a:avLst>
          </a:prstGeom>
          <a:solidFill>
            <a:srgbClr val="0A2540">
              <a:alpha val="50000"/>
            </a:srgbClr>
          </a:solidFill>
          <a:ln w="19050">
            <a:solidFill>
              <a:srgbClr val="635BFF"/>
            </a:solidFill>
            <a:prstDash val="solid"/>
          </a:ln>
        </p:spPr>
      </p:sp>
      <p:sp>
        <p:nvSpPr>
          <p:cNvPr id="19" name="Text 17"/>
          <p:cNvSpPr/>
          <p:nvPr/>
        </p:nvSpPr>
        <p:spPr>
          <a:xfrm>
            <a:off x="6501384" y="146304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Orchestrator</a:t>
            </a:r>
            <a:endParaRPr lang="en-US" sz="1100" dirty="0"/>
          </a:p>
        </p:txBody>
      </p:sp>
      <p:sp>
        <p:nvSpPr>
          <p:cNvPr id="20" name="Text 18"/>
          <p:cNvSpPr/>
          <p:nvPr/>
        </p:nvSpPr>
        <p:spPr>
          <a:xfrm>
            <a:off x="7690104" y="146304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21" name="Shape 19"/>
          <p:cNvSpPr/>
          <p:nvPr/>
        </p:nvSpPr>
        <p:spPr>
          <a:xfrm>
            <a:off x="7763256" y="1463040"/>
            <a:ext cx="1188720" cy="640080"/>
          </a:xfrm>
          <a:prstGeom prst="roundRect">
            <a:avLst>
              <a:gd name="adj" fmla="val 11429"/>
            </a:avLst>
          </a:prstGeom>
          <a:solidFill>
            <a:srgbClr val="635BFF"/>
          </a:solidFill>
          <a:ln w="19050">
            <a:solidFill>
              <a:srgbClr val="635BFF"/>
            </a:solidFill>
            <a:prstDash val="solid"/>
          </a:ln>
        </p:spPr>
      </p:sp>
      <p:sp>
        <p:nvSpPr>
          <p:cNvPr id="22" name="Text 20"/>
          <p:cNvSpPr/>
          <p:nvPr/>
        </p:nvSpPr>
        <p:spPr>
          <a:xfrm>
            <a:off x="7763256" y="146304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Builder</a:t>
            </a:r>
            <a:endParaRPr lang="en-US" sz="1100" dirty="0"/>
          </a:p>
        </p:txBody>
      </p:sp>
      <p:sp>
        <p:nvSpPr>
          <p:cNvPr id="23" name="Text 21"/>
          <p:cNvSpPr/>
          <p:nvPr/>
        </p:nvSpPr>
        <p:spPr>
          <a:xfrm>
            <a:off x="457200" y="2468880"/>
            <a:ext cx="4114800" cy="731520"/>
          </a:xfrm>
          <a:prstGeom prst="rect">
            <a:avLst/>
          </a:prstGeom>
          <a:noFill/>
          <a:ln/>
        </p:spPr>
        <p:txBody>
          <a:bodyPr wrap="square" lIns="0" tIns="0" rIns="0" bIns="0" rtlCol="0" anchor="t"/>
          <a:lstStyle/>
          <a:p>
            <a:pPr algn="ctr" indent="0" marL="0">
              <a:buNone/>
            </a:pPr>
            <a:r>
              <a:rPr lang="en-US" sz="2400" b="1" dirty="0">
                <a:solidFill>
                  <a:srgbClr val="635BFF"/>
                </a:solidFill>
                <a:latin typeface="Georgia" pitchFamily="34" charset="0"/>
                <a:ea typeface="Georgia" pitchFamily="34" charset="-122"/>
                <a:cs typeface="Georgia" pitchFamily="34" charset="-120"/>
              </a:rPr>
              <a:t>The main deck takes you here.</a:t>
            </a:r>
            <a:endParaRPr lang="en-US" sz="2400" dirty="0"/>
          </a:p>
        </p:txBody>
      </p:sp>
      <p:sp>
        <p:nvSpPr>
          <p:cNvPr id="24" name="Text 22"/>
          <p:cNvSpPr/>
          <p:nvPr/>
        </p:nvSpPr>
        <p:spPr>
          <a:xfrm>
            <a:off x="4572000" y="2468880"/>
            <a:ext cx="4114800" cy="731520"/>
          </a:xfrm>
          <a:prstGeom prst="rect">
            <a:avLst/>
          </a:prstGeom>
          <a:noFill/>
          <a:ln/>
        </p:spPr>
        <p:txBody>
          <a:bodyPr wrap="square" lIns="0" tIns="0" rIns="0" bIns="0" rtlCol="0" anchor="t"/>
          <a:lstStyle/>
          <a:p>
            <a:pPr algn="ctr" indent="0" marL="0">
              <a:buNone/>
            </a:pPr>
            <a:r>
              <a:rPr lang="en-US" sz="2400" b="1" dirty="0">
                <a:solidFill>
                  <a:srgbClr val="635BFF"/>
                </a:solidFill>
                <a:latin typeface="Georgia" pitchFamily="34" charset="0"/>
                <a:ea typeface="Georgia" pitchFamily="34" charset="-122"/>
                <a:cs typeface="Georgia" pitchFamily="34" charset="-120"/>
              </a:rPr>
              <a:t>This deck is here.</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914400"/>
            <a:ext cx="8229600" cy="2286000"/>
          </a:xfrm>
          <a:prstGeom prst="rect">
            <a:avLst/>
          </a:prstGeom>
          <a:noFill/>
          <a:ln/>
        </p:spPr>
        <p:txBody>
          <a:bodyPr wrap="square" lIns="0" tIns="0" rIns="0" bIns="0" rtlCol="0" anchor="b"/>
          <a:lstStyle/>
          <a:p>
            <a:pPr algn="ctr" indent="0" marL="0">
              <a:buNone/>
            </a:pPr>
            <a:r>
              <a:rPr lang="en-US" sz="12000" b="1" dirty="0">
                <a:solidFill>
                  <a:srgbClr val="FFFFFF"/>
                </a:solidFill>
                <a:latin typeface="Georgia" pitchFamily="34" charset="0"/>
                <a:ea typeface="Georgia" pitchFamily="34" charset="-122"/>
                <a:cs typeface="Georgia" pitchFamily="34" charset="-120"/>
              </a:rPr>
              <a:t>41%</a:t>
            </a:r>
            <a:endParaRPr lang="en-US" sz="12000" dirty="0"/>
          </a:p>
        </p:txBody>
      </p:sp>
      <p:sp>
        <p:nvSpPr>
          <p:cNvPr id="4" name="Text 2"/>
          <p:cNvSpPr/>
          <p:nvPr/>
        </p:nvSpPr>
        <p:spPr>
          <a:xfrm>
            <a:off x="1371600" y="3291840"/>
            <a:ext cx="6400800" cy="731520"/>
          </a:xfrm>
          <a:prstGeom prst="rect">
            <a:avLst/>
          </a:prstGeom>
          <a:noFill/>
          <a:ln/>
        </p:spPr>
        <p:txBody>
          <a:bodyPr wrap="square" lIns="0" tIns="0" rIns="0" bIns="0" rtlCol="0" anchor="t"/>
          <a:lstStyle/>
          <a:p>
            <a:pPr algn="ctr" indent="0" marL="0">
              <a:buNone/>
            </a:pPr>
            <a:r>
              <a:rPr lang="en-US" sz="2800" dirty="0">
                <a:solidFill>
                  <a:srgbClr val="8B95A5"/>
                </a:solidFill>
                <a:latin typeface="Verdana" pitchFamily="34" charset="0"/>
                <a:ea typeface="Verdana" pitchFamily="34" charset="-122"/>
                <a:cs typeface="Verdana" pitchFamily="34" charset="-120"/>
              </a:rPr>
              <a:t>of GitHub code is now AI-generated</a:t>
            </a:r>
            <a:endParaRPr lang="en-US" sz="2800" dirty="0"/>
          </a:p>
        </p:txBody>
      </p:sp>
      <p:sp>
        <p:nvSpPr>
          <p:cNvPr id="5" name="Text 3"/>
          <p:cNvSpPr/>
          <p:nvPr/>
        </p:nvSpPr>
        <p:spPr>
          <a:xfrm>
            <a:off x="457200" y="4572000"/>
            <a:ext cx="8229600" cy="365760"/>
          </a:xfrm>
          <a:prstGeom prst="rect">
            <a:avLst/>
          </a:prstGeom>
          <a:noFill/>
          <a:ln/>
        </p:spPr>
        <p:txBody>
          <a:bodyPr wrap="square" lIns="0" tIns="0" rIns="0" bIns="0" rtlCol="0" anchor="b"/>
          <a:lstStyle/>
          <a:p>
            <a:pPr algn="r" indent="0" marL="0">
              <a:buNone/>
            </a:pPr>
            <a:r>
              <a:rPr lang="en-US" sz="1100" u="sng" dirty="0">
                <a:solidFill>
                  <a:srgbClr val="8B95A5"/>
                </a:solidFill>
                <a:latin typeface="Verdana" pitchFamily="34" charset="0"/>
                <a:ea typeface="Verdana" pitchFamily="34" charset="-122"/>
                <a:cs typeface="Verdana" pitchFamily="34" charset="-120"/>
                <a:hlinkClick r:id="rId1" invalidUrl="" action="" tgtFrame="" tooltip="" history="1" highlightClick="0" endSnd="0">
                  <a:extLst>
                    <a:ext uri="{A12FA001-AC4F-418D-AE19-62706E023703}">
                      <ahyp:hlinkClr xmlns:ahyp="http://schemas.microsoft.com/office/drawing/2018/hyperlinkcolor" val="tx"/>
                    </a:ext>
                  </a:extLst>
                </a:hlinkClick>
              </a:rPr>
              <a:t>Second Talent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5400" b="1" dirty="0">
                <a:solidFill>
                  <a:srgbClr val="FFFFFF"/>
                </a:solidFill>
                <a:latin typeface="Georgia" pitchFamily="34" charset="0"/>
                <a:ea typeface="Georgia" pitchFamily="34" charset="-122"/>
                <a:cs typeface="Georgia" pitchFamily="34" charset="-120"/>
              </a:rPr>
              <a:t>Vibe coding.</a:t>
            </a:r>
            <a:endParaRPr lang="en-US" sz="5400" dirty="0"/>
          </a:p>
        </p:txBody>
      </p:sp>
      <p:sp>
        <p:nvSpPr>
          <p:cNvPr id="4" name="Text 2"/>
          <p:cNvSpPr/>
          <p:nvPr/>
        </p:nvSpPr>
        <p:spPr>
          <a:xfrm>
            <a:off x="1371600" y="3657600"/>
            <a:ext cx="6400800" cy="731520"/>
          </a:xfrm>
          <a:prstGeom prst="rect">
            <a:avLst/>
          </a:prstGeom>
          <a:noFill/>
          <a:ln/>
        </p:spPr>
        <p:txBody>
          <a:bodyPr wrap="square" lIns="0" tIns="0" rIns="0" bIns="0" rtlCol="0" anchor="t"/>
          <a:lstStyle/>
          <a:p>
            <a:pPr algn="ctr" indent="0" marL="0">
              <a:buNone/>
            </a:pPr>
            <a:r>
              <a:rPr lang="en-US" sz="2800" dirty="0">
                <a:solidFill>
                  <a:srgbClr val="8B95A5"/>
                </a:solidFill>
                <a:latin typeface="Verdana" pitchFamily="34" charset="0"/>
                <a:ea typeface="Verdana" pitchFamily="34" charset="-122"/>
                <a:cs typeface="Verdana" pitchFamily="34" charset="-120"/>
              </a:rPr>
              <a:t>Karpathy tweet to Collins Word of the Year</a:t>
            </a:r>
            <a:endParaRPr lang="en-US" sz="2800" dirty="0"/>
          </a:p>
          <a:p>
            <a:pPr algn="ctr" indent="0" marL="0">
              <a:buNone/>
            </a:pPr>
            <a:r>
              <a:rPr lang="en-US" sz="2800" dirty="0">
                <a:solidFill>
                  <a:srgbClr val="8B95A5"/>
                </a:solidFill>
                <a:latin typeface="Verdana" pitchFamily="34" charset="0"/>
                <a:ea typeface="Verdana" pitchFamily="34" charset="-122"/>
                <a:cs typeface="Verdana" pitchFamily="34" charset="-120"/>
              </a:rPr>
              <a:t>in 9 months.</a:t>
            </a: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914400"/>
            <a:ext cx="8229600" cy="2286000"/>
          </a:xfrm>
          <a:prstGeom prst="rect">
            <a:avLst/>
          </a:prstGeom>
          <a:noFill/>
          <a:ln/>
        </p:spPr>
        <p:txBody>
          <a:bodyPr wrap="square" lIns="0" tIns="0" rIns="0" bIns="0" rtlCol="0" anchor="b"/>
          <a:lstStyle/>
          <a:p>
            <a:pPr algn="ctr" indent="0" marL="0">
              <a:buNone/>
            </a:pPr>
            <a:r>
              <a:rPr lang="en-US" sz="12000" b="1" dirty="0">
                <a:solidFill>
                  <a:srgbClr val="FFFFFF"/>
                </a:solidFill>
                <a:latin typeface="Georgia" pitchFamily="34" charset="0"/>
                <a:ea typeface="Georgia" pitchFamily="34" charset="-122"/>
                <a:cs typeface="Georgia" pitchFamily="34" charset="-120"/>
              </a:rPr>
              <a:t>90%</a:t>
            </a:r>
            <a:endParaRPr lang="en-US" sz="12000" dirty="0"/>
          </a:p>
        </p:txBody>
      </p:sp>
      <p:sp>
        <p:nvSpPr>
          <p:cNvPr id="4" name="Text 2"/>
          <p:cNvSpPr/>
          <p:nvPr/>
        </p:nvSpPr>
        <p:spPr>
          <a:xfrm>
            <a:off x="1371600" y="3291840"/>
            <a:ext cx="6400800" cy="731520"/>
          </a:xfrm>
          <a:prstGeom prst="rect">
            <a:avLst/>
          </a:prstGeom>
          <a:noFill/>
          <a:ln/>
        </p:spPr>
        <p:txBody>
          <a:bodyPr wrap="square" lIns="0" tIns="0" rIns="0" bIns="0" rtlCol="0" anchor="t"/>
          <a:lstStyle/>
          <a:p>
            <a:pPr algn="ctr" indent="0" marL="0">
              <a:buNone/>
            </a:pPr>
            <a:r>
              <a:rPr lang="en-US" sz="2800" dirty="0">
                <a:solidFill>
                  <a:srgbClr val="8B95A5"/>
                </a:solidFill>
                <a:latin typeface="Verdana" pitchFamily="34" charset="0"/>
                <a:ea typeface="Verdana" pitchFamily="34" charset="-122"/>
                <a:cs typeface="Verdana" pitchFamily="34" charset="-120"/>
              </a:rPr>
              <a:t>of Claude Code is written</a:t>
            </a:r>
            <a:endParaRPr lang="en-US" sz="2800" dirty="0"/>
          </a:p>
          <a:p>
            <a:pPr algn="ctr" indent="0" marL="0">
              <a:buNone/>
            </a:pPr>
            <a:r>
              <a:rPr lang="en-US" sz="2800" dirty="0">
                <a:solidFill>
                  <a:srgbClr val="8B95A5"/>
                </a:solidFill>
                <a:latin typeface="Verdana" pitchFamily="34" charset="0"/>
                <a:ea typeface="Verdana" pitchFamily="34" charset="-122"/>
                <a:cs typeface="Verdana" pitchFamily="34" charset="-120"/>
              </a:rPr>
              <a:t>by Claude Code</a:t>
            </a:r>
            <a:endParaRPr lang="en-US" sz="2800" dirty="0"/>
          </a:p>
        </p:txBody>
      </p:sp>
      <p:sp>
        <p:nvSpPr>
          <p:cNvPr id="5" name="Text 3"/>
          <p:cNvSpPr/>
          <p:nvPr/>
        </p:nvSpPr>
        <p:spPr>
          <a:xfrm>
            <a:off x="457200" y="4572000"/>
            <a:ext cx="8229600" cy="365760"/>
          </a:xfrm>
          <a:prstGeom prst="rect">
            <a:avLst/>
          </a:prstGeom>
          <a:noFill/>
          <a:ln/>
        </p:spPr>
        <p:txBody>
          <a:bodyPr wrap="square" lIns="0" tIns="0" rIns="0" bIns="0" rtlCol="0" anchor="b"/>
          <a:lstStyle/>
          <a:p>
            <a:pPr algn="r" indent="0" marL="0">
              <a:buNone/>
            </a:pPr>
            <a:r>
              <a:rPr lang="en-US" sz="1100" u="sng" dirty="0">
                <a:solidFill>
                  <a:srgbClr val="8B95A5"/>
                </a:solidFill>
                <a:latin typeface="Verdana" pitchFamily="34" charset="0"/>
                <a:ea typeface="Verdana" pitchFamily="34" charset="-122"/>
                <a:cs typeface="Verdana" pitchFamily="34" charset="-120"/>
                <a:hlinkClick r:id="rId1" invalidUrl="" action="" tgtFrame="" tooltip="" history="1" highlightClick="0" endSnd="0">
                  <a:extLst>
                    <a:ext uri="{A12FA001-AC4F-418D-AE19-62706E023703}">
                      <ahyp:hlinkClr xmlns:ahyp="http://schemas.microsoft.com/office/drawing/2018/hyperlinkcolor" val="tx"/>
                    </a:ext>
                  </a:extLst>
                </a:hlinkClick>
              </a:rPr>
              <a:t>Anthropic</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1371600" y="1828800"/>
            <a:ext cx="6400800" cy="1463040"/>
          </a:xfrm>
          <a:prstGeom prst="rect">
            <a:avLst/>
          </a:prstGeom>
          <a:noFill/>
          <a:ln/>
        </p:spPr>
        <p:txBody>
          <a:bodyPr wrap="square" lIns="0" tIns="0" rIns="0" bIns="0" rtlCol="0" anchor="ctr"/>
          <a:lstStyle/>
          <a:p>
            <a:pPr algn="ctr" indent="0" marL="0">
              <a:buNone/>
            </a:pPr>
            <a:r>
              <a:rPr lang="en-US" sz="2800" i="1" dirty="0">
                <a:solidFill>
                  <a:srgbClr val="635BFF"/>
                </a:solidFill>
                <a:latin typeface="Georgia" pitchFamily="34" charset="0"/>
                <a:ea typeface="Georgia" pitchFamily="34" charset="-122"/>
                <a:cs typeface="Georgia" pitchFamily="34" charset="-120"/>
              </a:rPr>
              <a:t>So what’s the problem?</a:t>
            </a:r>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914400"/>
            <a:ext cx="8229600" cy="2286000"/>
          </a:xfrm>
          <a:prstGeom prst="rect">
            <a:avLst/>
          </a:prstGeom>
          <a:noFill/>
          <a:ln/>
        </p:spPr>
        <p:txBody>
          <a:bodyPr wrap="square" lIns="0" tIns="0" rIns="0" bIns="0" rtlCol="0" anchor="b"/>
          <a:lstStyle/>
          <a:p>
            <a:pPr algn="ctr" indent="0" marL="0">
              <a:buNone/>
            </a:pPr>
            <a:r>
              <a:rPr lang="en-US" sz="8000" b="1" dirty="0">
                <a:solidFill>
                  <a:srgbClr val="FF6B8A"/>
                </a:solidFill>
                <a:latin typeface="Georgia" pitchFamily="34" charset="0"/>
                <a:ea typeface="Georgia" pitchFamily="34" charset="-122"/>
                <a:cs typeface="Georgia" pitchFamily="34" charset="-120"/>
              </a:rPr>
              <a:t>19%</a:t>
            </a:r>
            <a:endParaRPr lang="en-US" sz="8000" dirty="0"/>
          </a:p>
          <a:p>
            <a:pPr algn="ctr" indent="0" marL="0">
              <a:buNone/>
            </a:pPr>
            <a:r>
              <a:rPr lang="en-US" sz="8000" b="1" dirty="0">
                <a:solidFill>
                  <a:srgbClr val="FF6B8A"/>
                </a:solidFill>
                <a:latin typeface="Georgia" pitchFamily="34" charset="0"/>
                <a:ea typeface="Georgia" pitchFamily="34" charset="-122"/>
                <a:cs typeface="Georgia" pitchFamily="34" charset="-120"/>
              </a:rPr>
              <a:t>longer</a:t>
            </a:r>
            <a:endParaRPr lang="en-US" sz="8000" dirty="0"/>
          </a:p>
        </p:txBody>
      </p:sp>
      <p:sp>
        <p:nvSpPr>
          <p:cNvPr id="4" name="Text 2"/>
          <p:cNvSpPr/>
          <p:nvPr/>
        </p:nvSpPr>
        <p:spPr>
          <a:xfrm>
            <a:off x="1371600" y="3291840"/>
            <a:ext cx="6400800" cy="731520"/>
          </a:xfrm>
          <a:prstGeom prst="rect">
            <a:avLst/>
          </a:prstGeom>
          <a:noFill/>
          <a:ln/>
        </p:spPr>
        <p:txBody>
          <a:bodyPr wrap="square" lIns="0" tIns="0" rIns="0" bIns="0" rtlCol="0" anchor="t"/>
          <a:lstStyle/>
          <a:p>
            <a:pPr algn="ctr" indent="0" marL="0">
              <a:buNone/>
            </a:pPr>
            <a:r>
              <a:rPr lang="en-US" sz="2800" dirty="0">
                <a:solidFill>
                  <a:srgbClr val="8B95A5"/>
                </a:solidFill>
                <a:latin typeface="Verdana" pitchFamily="34" charset="0"/>
                <a:ea typeface="Verdana" pitchFamily="34" charset="-122"/>
                <a:cs typeface="Verdana" pitchFamily="34" charset="-120"/>
              </a:rPr>
              <a:t>when developers rely on AI</a:t>
            </a:r>
            <a:endParaRPr lang="en-US" sz="2800" dirty="0"/>
          </a:p>
          <a:p>
            <a:pPr algn="ctr" indent="0" marL="0">
              <a:buNone/>
            </a:pPr>
            <a:r>
              <a:rPr lang="en-US" sz="2800" dirty="0">
                <a:solidFill>
                  <a:srgbClr val="8B95A5"/>
                </a:solidFill>
                <a:latin typeface="Verdana" pitchFamily="34" charset="0"/>
                <a:ea typeface="Verdana" pitchFamily="34" charset="-122"/>
                <a:cs typeface="Verdana" pitchFamily="34" charset="-120"/>
              </a:rPr>
              <a:t>without understanding it</a:t>
            </a:r>
            <a:endParaRPr lang="en-US" sz="2800" dirty="0"/>
          </a:p>
        </p:txBody>
      </p:sp>
      <p:sp>
        <p:nvSpPr>
          <p:cNvPr id="5" name="Text 3"/>
          <p:cNvSpPr/>
          <p:nvPr/>
        </p:nvSpPr>
        <p:spPr>
          <a:xfrm>
            <a:off x="457200" y="4572000"/>
            <a:ext cx="8229600" cy="365760"/>
          </a:xfrm>
          <a:prstGeom prst="rect">
            <a:avLst/>
          </a:prstGeom>
          <a:noFill/>
          <a:ln/>
        </p:spPr>
        <p:txBody>
          <a:bodyPr wrap="square" lIns="0" tIns="0" rIns="0" bIns="0" rtlCol="0" anchor="b"/>
          <a:lstStyle/>
          <a:p>
            <a:pPr algn="r" indent="0" marL="0">
              <a:buNone/>
            </a:pPr>
            <a:r>
              <a:rPr lang="en-US" sz="1100" u="sng" dirty="0">
                <a:solidFill>
                  <a:srgbClr val="8B95A5"/>
                </a:solidFill>
                <a:latin typeface="Verdana" pitchFamily="34" charset="0"/>
                <a:ea typeface="Verdana" pitchFamily="34" charset="-122"/>
                <a:cs typeface="Verdana" pitchFamily="34" charset="-120"/>
                <a:hlinkClick r:id="rId1" invalidUrl="" action="" tgtFrame="" tooltip="" history="1" highlightClick="0" endSnd="0">
                  <a:extLst>
                    <a:ext uri="{A12FA001-AC4F-418D-AE19-62706E023703}">
                      <ahyp:hlinkClr xmlns:ahyp="http://schemas.microsoft.com/office/drawing/2018/hyperlinkcolor" val="tx"/>
                    </a:ext>
                  </a:extLst>
                </a:hlinkClick>
              </a:rPr>
              <a:t>Addy Osmani</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914400"/>
            <a:ext cx="8229600" cy="2286000"/>
          </a:xfrm>
          <a:prstGeom prst="rect">
            <a:avLst/>
          </a:prstGeom>
          <a:noFill/>
          <a:ln/>
        </p:spPr>
        <p:txBody>
          <a:bodyPr wrap="square" lIns="0" tIns="0" rIns="0" bIns="0" rtlCol="0" anchor="b"/>
          <a:lstStyle/>
          <a:p>
            <a:pPr algn="ctr" indent="0" marL="0">
              <a:buNone/>
            </a:pPr>
            <a:r>
              <a:rPr lang="en-US" sz="12000" b="1" dirty="0">
                <a:solidFill>
                  <a:srgbClr val="FF6B8A"/>
                </a:solidFill>
                <a:latin typeface="Georgia" pitchFamily="34" charset="0"/>
                <a:ea typeface="Georgia" pitchFamily="34" charset="-122"/>
                <a:cs typeface="Georgia" pitchFamily="34" charset="-120"/>
              </a:rPr>
              <a:t>1.7×</a:t>
            </a:r>
            <a:endParaRPr lang="en-US" sz="12000" dirty="0"/>
          </a:p>
        </p:txBody>
      </p:sp>
      <p:sp>
        <p:nvSpPr>
          <p:cNvPr id="4" name="Text 2"/>
          <p:cNvSpPr/>
          <p:nvPr/>
        </p:nvSpPr>
        <p:spPr>
          <a:xfrm>
            <a:off x="1371600" y="3291840"/>
            <a:ext cx="6400800" cy="731520"/>
          </a:xfrm>
          <a:prstGeom prst="rect">
            <a:avLst/>
          </a:prstGeom>
          <a:noFill/>
          <a:ln/>
        </p:spPr>
        <p:txBody>
          <a:bodyPr wrap="square" lIns="0" tIns="0" rIns="0" bIns="0" rtlCol="0" anchor="t"/>
          <a:lstStyle/>
          <a:p>
            <a:pPr algn="ctr" indent="0" marL="0">
              <a:buNone/>
            </a:pPr>
            <a:r>
              <a:rPr lang="en-US" sz="2800" dirty="0">
                <a:solidFill>
                  <a:srgbClr val="8B95A5"/>
                </a:solidFill>
                <a:latin typeface="Verdana" pitchFamily="34" charset="0"/>
                <a:ea typeface="Verdana" pitchFamily="34" charset="-122"/>
                <a:cs typeface="Verdana" pitchFamily="34" charset="-120"/>
              </a:rPr>
              <a:t>more issues than human-written code</a:t>
            </a:r>
            <a:endParaRPr lang="en-US" sz="2800" dirty="0"/>
          </a:p>
        </p:txBody>
      </p:sp>
      <p:sp>
        <p:nvSpPr>
          <p:cNvPr id="5" name="Text 3"/>
          <p:cNvSpPr/>
          <p:nvPr/>
        </p:nvSpPr>
        <p:spPr>
          <a:xfrm>
            <a:off x="457200" y="4572000"/>
            <a:ext cx="8229600" cy="365760"/>
          </a:xfrm>
          <a:prstGeom prst="rect">
            <a:avLst/>
          </a:prstGeom>
          <a:noFill/>
          <a:ln/>
        </p:spPr>
        <p:txBody>
          <a:bodyPr wrap="square" lIns="0" tIns="0" rIns="0" bIns="0" rtlCol="0" anchor="b"/>
          <a:lstStyle/>
          <a:p>
            <a:pPr algn="r" indent="0" marL="0">
              <a:buNone/>
            </a:pPr>
            <a:r>
              <a:rPr lang="en-US" sz="1100" u="sng" dirty="0">
                <a:solidFill>
                  <a:srgbClr val="8B95A5"/>
                </a:solidFill>
                <a:latin typeface="Verdana" pitchFamily="34" charset="0"/>
                <a:ea typeface="Verdana" pitchFamily="34" charset="-122"/>
                <a:cs typeface="Verdana"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CodeRabbit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914400"/>
            <a:ext cx="8229600" cy="2286000"/>
          </a:xfrm>
          <a:prstGeom prst="rect">
            <a:avLst/>
          </a:prstGeom>
          <a:noFill/>
          <a:ln/>
        </p:spPr>
        <p:txBody>
          <a:bodyPr wrap="square" lIns="0" tIns="0" rIns="0" bIns="0" rtlCol="0" anchor="b"/>
          <a:lstStyle/>
          <a:p>
            <a:pPr algn="ctr" indent="0" marL="0">
              <a:buNone/>
            </a:pPr>
            <a:r>
              <a:rPr lang="en-US" sz="12000" b="1" dirty="0">
                <a:solidFill>
                  <a:srgbClr val="FF6B8A"/>
                </a:solidFill>
                <a:latin typeface="Georgia" pitchFamily="34" charset="0"/>
                <a:ea typeface="Georgia" pitchFamily="34" charset="-122"/>
                <a:cs typeface="Georgia" pitchFamily="34" charset="-120"/>
              </a:rPr>
              <a:t>45%</a:t>
            </a:r>
            <a:endParaRPr lang="en-US" sz="12000" dirty="0"/>
          </a:p>
        </p:txBody>
      </p:sp>
      <p:sp>
        <p:nvSpPr>
          <p:cNvPr id="4" name="Text 2"/>
          <p:cNvSpPr/>
          <p:nvPr/>
        </p:nvSpPr>
        <p:spPr>
          <a:xfrm>
            <a:off x="1371600" y="3291840"/>
            <a:ext cx="6400800" cy="731520"/>
          </a:xfrm>
          <a:prstGeom prst="rect">
            <a:avLst/>
          </a:prstGeom>
          <a:noFill/>
          <a:ln/>
        </p:spPr>
        <p:txBody>
          <a:bodyPr wrap="square" lIns="0" tIns="0" rIns="0" bIns="0" rtlCol="0" anchor="t"/>
          <a:lstStyle/>
          <a:p>
            <a:pPr algn="ctr" indent="0" marL="0">
              <a:buNone/>
            </a:pPr>
            <a:r>
              <a:rPr lang="en-US" sz="2800" dirty="0">
                <a:solidFill>
                  <a:srgbClr val="8B95A5"/>
                </a:solidFill>
                <a:latin typeface="Verdana" pitchFamily="34" charset="0"/>
                <a:ea typeface="Verdana" pitchFamily="34" charset="-122"/>
                <a:cs typeface="Verdana" pitchFamily="34" charset="-120"/>
              </a:rPr>
              <a:t>of AI-generated code</a:t>
            </a:r>
            <a:endParaRPr lang="en-US" sz="2800" dirty="0"/>
          </a:p>
          <a:p>
            <a:pPr algn="ctr" indent="0" marL="0">
              <a:buNone/>
            </a:pPr>
            <a:r>
              <a:rPr lang="en-US" sz="2800" dirty="0">
                <a:solidFill>
                  <a:srgbClr val="8B95A5"/>
                </a:solidFill>
                <a:latin typeface="Verdana" pitchFamily="34" charset="0"/>
                <a:ea typeface="Verdana" pitchFamily="34" charset="-122"/>
                <a:cs typeface="Verdana" pitchFamily="34" charset="-120"/>
              </a:rPr>
              <a:t>fails security tests</a:t>
            </a:r>
            <a:endParaRPr lang="en-US" sz="2800" dirty="0"/>
          </a:p>
        </p:txBody>
      </p:sp>
      <p:sp>
        <p:nvSpPr>
          <p:cNvPr id="5" name="Text 3"/>
          <p:cNvSpPr/>
          <p:nvPr/>
        </p:nvSpPr>
        <p:spPr>
          <a:xfrm>
            <a:off x="457200" y="4572000"/>
            <a:ext cx="8229600" cy="365760"/>
          </a:xfrm>
          <a:prstGeom prst="rect">
            <a:avLst/>
          </a:prstGeom>
          <a:noFill/>
          <a:ln/>
        </p:spPr>
        <p:txBody>
          <a:bodyPr wrap="square" lIns="0" tIns="0" rIns="0" bIns="0" rtlCol="0" anchor="b"/>
          <a:lstStyle/>
          <a:p>
            <a:pPr algn="r" indent="0" marL="0">
              <a:buNone/>
            </a:pPr>
            <a:r>
              <a:rPr lang="en-US" sz="1100" u="sng" dirty="0">
                <a:solidFill>
                  <a:srgbClr val="8B95A5"/>
                </a:solidFill>
                <a:latin typeface="Verdana" pitchFamily="34" charset="0"/>
                <a:ea typeface="Verdana" pitchFamily="34" charset="-122"/>
                <a:cs typeface="Verdana" pitchFamily="34" charset="-120"/>
                <a:hlinkClick r:id="rId1" invalidUrl="" action="" tgtFrame="" tooltip="" history="1" highlightClick="0" endSnd="0">
                  <a:extLst>
                    <a:ext uri="{A12FA001-AC4F-418D-AE19-62706E023703}">
                      <ahyp:hlinkClr xmlns:ahyp="http://schemas.microsoft.com/office/drawing/2018/hyperlinkcolor" val="tx"/>
                    </a:ext>
                  </a:extLst>
                </a:hlinkClick>
              </a:rPr>
              <a:t>Veracode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The ‘Army of Juniors’ effect.</a:t>
            </a:r>
            <a:endParaRPr lang="en-US" sz="4400" dirty="0"/>
          </a:p>
        </p:txBody>
      </p:sp>
      <p:sp>
        <p:nvSpPr>
          <p:cNvPr id="4" name="Text 2"/>
          <p:cNvSpPr/>
          <p:nvPr/>
        </p:nvSpPr>
        <p:spPr>
          <a:xfrm>
            <a:off x="1371600" y="3657600"/>
            <a:ext cx="6400800" cy="731520"/>
          </a:xfrm>
          <a:prstGeom prst="rect">
            <a:avLst/>
          </a:prstGeom>
          <a:noFill/>
          <a:ln/>
        </p:spPr>
        <p:txBody>
          <a:bodyPr wrap="square" lIns="0" tIns="0" rIns="0" bIns="0" rtlCol="0" anchor="t"/>
          <a:lstStyle/>
          <a:p>
            <a:pPr algn="ctr" indent="0" marL="0">
              <a:buNone/>
            </a:pPr>
            <a:r>
              <a:rPr lang="en-US" sz="2800" dirty="0">
                <a:solidFill>
                  <a:srgbClr val="8B95A5"/>
                </a:solidFill>
                <a:latin typeface="Verdana" pitchFamily="34" charset="0"/>
                <a:ea typeface="Verdana" pitchFamily="34" charset="-122"/>
                <a:cs typeface="Verdana" pitchFamily="34" charset="-120"/>
              </a:rPr>
              <a:t>AI code follows anti-patterns at scale.</a:t>
            </a:r>
            <a:endParaRPr lang="en-US" sz="2800" dirty="0"/>
          </a:p>
        </p:txBody>
      </p:sp>
      <p:sp>
        <p:nvSpPr>
          <p:cNvPr id="5" name="Text 3"/>
          <p:cNvSpPr/>
          <p:nvPr/>
        </p:nvSpPr>
        <p:spPr>
          <a:xfrm>
            <a:off x="457200" y="4572000"/>
            <a:ext cx="8229600" cy="365760"/>
          </a:xfrm>
          <a:prstGeom prst="rect">
            <a:avLst/>
          </a:prstGeom>
          <a:noFill/>
          <a:ln/>
        </p:spPr>
        <p:txBody>
          <a:bodyPr wrap="square" lIns="0" tIns="0" rIns="0" bIns="0" rtlCol="0" anchor="b"/>
          <a:lstStyle/>
          <a:p>
            <a:pPr algn="r" indent="0" marL="0">
              <a:buNone/>
            </a:pPr>
            <a:r>
              <a:rPr lang="en-US" sz="1100" u="sng" dirty="0">
                <a:solidFill>
                  <a:srgbClr val="8B95A5"/>
                </a:solidFill>
                <a:latin typeface="Verdana" pitchFamily="34" charset="0"/>
                <a:ea typeface="Verdana" pitchFamily="34" charset="-122"/>
                <a:cs typeface="Verdana" pitchFamily="34" charset="-120"/>
                <a:hlinkClick r:id="rId1" invalidUrl="" action="" tgtFrame="" tooltip="" history="1" highlightClick="0" endSnd="0">
                  <a:extLst>
                    <a:ext uri="{A12FA001-AC4F-418D-AE19-62706E023703}">
                      <ahyp:hlinkClr xmlns:ahyp="http://schemas.microsoft.com/office/drawing/2018/hyperlinkcolor" val="tx"/>
                    </a:ext>
                  </a:extLst>
                </a:hlinkClick>
              </a:rPr>
              <a:t>OX Security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The gap between using AI</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and using AI well</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is massive.</a:t>
            </a:r>
            <a:endParaRPr lang="en-US" sz="4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914400"/>
            <a:ext cx="7315200" cy="2560320"/>
          </a:xfrm>
          <a:prstGeom prst="rect">
            <a:avLst/>
          </a:prstGeom>
          <a:noFill/>
          <a:ln/>
        </p:spPr>
        <p:txBody>
          <a:bodyPr wrap="square" lIns="0" tIns="0" rIns="0" bIns="0" rtlCol="0" anchor="ctr"/>
          <a:lstStyle/>
          <a:p>
            <a:pPr algn="ctr" indent="0" marL="0">
              <a:buNone/>
            </a:pPr>
            <a:r>
              <a:rPr lang="en-US" sz="4400" b="1" i="1" dirty="0">
                <a:solidFill>
                  <a:srgbClr val="FFFFFF"/>
                </a:solidFill>
                <a:latin typeface="Georgia" pitchFamily="34" charset="0"/>
                <a:ea typeface="Georgia" pitchFamily="34" charset="-122"/>
                <a:cs typeface="Georgia" pitchFamily="34" charset="-120"/>
              </a:rPr>
              <a:t>“I destroyed months of work</a:t>
            </a:r>
            <a:endParaRPr lang="en-US" sz="4400" dirty="0"/>
          </a:p>
          <a:p>
            <a:pPr algn="ctr" indent="0" marL="0">
              <a:buNone/>
            </a:pPr>
            <a:r>
              <a:rPr lang="en-US" sz="4400" b="1" i="1" dirty="0">
                <a:solidFill>
                  <a:srgbClr val="FFFFFF"/>
                </a:solidFill>
                <a:latin typeface="Georgia" pitchFamily="34" charset="0"/>
                <a:ea typeface="Georgia" pitchFamily="34" charset="-122"/>
                <a:cs typeface="Georgia" pitchFamily="34" charset="-120"/>
              </a:rPr>
              <a:t>in seconds.”</a:t>
            </a:r>
            <a:endParaRPr lang="en-US" sz="4400" dirty="0"/>
          </a:p>
        </p:txBody>
      </p:sp>
      <p:sp>
        <p:nvSpPr>
          <p:cNvPr id="4" name="Text 2"/>
          <p:cNvSpPr/>
          <p:nvPr/>
        </p:nvSpPr>
        <p:spPr>
          <a:xfrm>
            <a:off x="1371600" y="3657600"/>
            <a:ext cx="6400800" cy="548640"/>
          </a:xfrm>
          <a:prstGeom prst="rect">
            <a:avLst/>
          </a:prstGeom>
          <a:noFill/>
          <a:ln/>
        </p:spPr>
        <p:txBody>
          <a:bodyPr wrap="square" lIns="0" tIns="0" rIns="0" bIns="0" rtlCol="0" anchor="t"/>
          <a:lstStyle/>
          <a:p>
            <a:pPr algn="ctr" indent="0" marL="0">
              <a:buNone/>
            </a:pPr>
            <a:r>
              <a:rPr lang="en-US" sz="2200" i="1" dirty="0">
                <a:solidFill>
                  <a:srgbClr val="8B95A5"/>
                </a:solidFill>
                <a:latin typeface="Verdana" pitchFamily="34" charset="0"/>
                <a:ea typeface="Verdana" pitchFamily="34" charset="-122"/>
                <a:cs typeface="Verdana" pitchFamily="34" charset="-120"/>
              </a:rPr>
              <a:t>— Replit AI agent, July 2025</a:t>
            </a:r>
            <a:endParaRPr lang="en-US" sz="2200" dirty="0"/>
          </a:p>
        </p:txBody>
      </p:sp>
      <p:sp>
        <p:nvSpPr>
          <p:cNvPr id="5" name="Text 3"/>
          <p:cNvSpPr/>
          <p:nvPr/>
        </p:nvSpPr>
        <p:spPr>
          <a:xfrm>
            <a:off x="457200" y="4572000"/>
            <a:ext cx="8229600" cy="365760"/>
          </a:xfrm>
          <a:prstGeom prst="rect">
            <a:avLst/>
          </a:prstGeom>
          <a:noFill/>
          <a:ln/>
        </p:spPr>
        <p:txBody>
          <a:bodyPr wrap="square" lIns="0" tIns="0" rIns="0" bIns="0" rtlCol="0" anchor="b"/>
          <a:lstStyle/>
          <a:p>
            <a:pPr algn="r" indent="0" marL="0">
              <a:buNone/>
            </a:pPr>
            <a:r>
              <a:rPr lang="en-US" sz="1100" u="sng" dirty="0">
                <a:solidFill>
                  <a:srgbClr val="8B95A5"/>
                </a:solidFill>
                <a:latin typeface="Verdana" pitchFamily="34" charset="0"/>
                <a:ea typeface="Verdana" pitchFamily="34" charset="-122"/>
                <a:cs typeface="Verdana"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Fortune</a:t>
            </a:r>
            <a:pPr algn="r" indent="0" marL="0">
              <a:buNone/>
            </a:pPr>
            <a:r>
              <a:rPr lang="en-US" sz="1100" dirty="0">
                <a:solidFill>
                  <a:srgbClr val="8B95A5"/>
                </a:solidFill>
                <a:latin typeface="Verdana" pitchFamily="34" charset="0"/>
                <a:ea typeface="Verdana" pitchFamily="34" charset="-122"/>
                <a:cs typeface="Verdana" pitchFamily="34" charset="-120"/>
              </a:rPr>
              <a:t>, </a:t>
            </a:r>
            <a:pPr algn="r" indent="0" marL="0">
              <a:buNone/>
            </a:pPr>
            <a:r>
              <a:rPr lang="en-US" sz="1100" u="sng" dirty="0">
                <a:solidFill>
                  <a:srgbClr val="8B95A5"/>
                </a:solidFill>
                <a:latin typeface="Verdana" pitchFamily="34" charset="0"/>
                <a:ea typeface="Verdana" pitchFamily="34" charset="-122"/>
                <a:cs typeface="Verdana"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 Register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635BFF"/>
                </a:solidFill>
                <a:latin typeface="Georgia" pitchFamily="34" charset="0"/>
                <a:ea typeface="Georgia" pitchFamily="34" charset="-122"/>
                <a:cs typeface="Georgia" pitchFamily="34" charset="-120"/>
              </a:rPr>
              <a:t>The ‘S’ in vibe coding</a:t>
            </a:r>
            <a:endParaRPr lang="en-US" sz="4400" dirty="0"/>
          </a:p>
          <a:p>
            <a:pPr algn="ctr" indent="0" marL="0">
              <a:buNone/>
            </a:pPr>
            <a:r>
              <a:rPr lang="en-US" sz="4400" b="1" dirty="0">
                <a:solidFill>
                  <a:srgbClr val="635BFF"/>
                </a:solidFill>
                <a:latin typeface="Georgia" pitchFamily="34" charset="0"/>
                <a:ea typeface="Georgia" pitchFamily="34" charset="-122"/>
                <a:cs typeface="Georgia" pitchFamily="34" charset="-120"/>
              </a:rPr>
              <a:t>stands for security.</a:t>
            </a:r>
            <a:endParaRPr lang="en-US" sz="4400" dirty="0"/>
          </a:p>
        </p:txBody>
      </p:sp>
      <p:sp>
        <p:nvSpPr>
          <p:cNvPr id="4" name="Text 2"/>
          <p:cNvSpPr/>
          <p:nvPr/>
        </p:nvSpPr>
        <p:spPr>
          <a:xfrm>
            <a:off x="457200" y="4572000"/>
            <a:ext cx="8229600" cy="365760"/>
          </a:xfrm>
          <a:prstGeom prst="rect">
            <a:avLst/>
          </a:prstGeom>
          <a:noFill/>
          <a:ln/>
        </p:spPr>
        <p:txBody>
          <a:bodyPr wrap="square" lIns="0" tIns="0" rIns="0" bIns="0" rtlCol="0" anchor="b"/>
          <a:lstStyle/>
          <a:p>
            <a:pPr algn="r" indent="0" marL="0">
              <a:buNone/>
            </a:pPr>
            <a:r>
              <a:rPr lang="en-US" sz="1100" u="sng" dirty="0">
                <a:solidFill>
                  <a:srgbClr val="8B95A5"/>
                </a:solidFill>
                <a:latin typeface="Verdana" pitchFamily="34" charset="0"/>
                <a:ea typeface="Verdana" pitchFamily="34" charset="-122"/>
                <a:cs typeface="Verdana" pitchFamily="34" charset="-120"/>
                <a:hlinkClick r:id="rId1" invalidUrl="" action="" tgtFrame="" tooltip="" history="1" highlightClick="0" endSnd="0">
                  <a:extLst>
                    <a:ext uri="{A12FA001-AC4F-418D-AE19-62706E023703}">
                      <ahyp:hlinkClr xmlns:ahyp="http://schemas.microsoft.com/office/drawing/2018/hyperlinkcolor" val="tx"/>
                    </a:ext>
                  </a:extLst>
                </a:hlinkClick>
              </a:rPr>
              <a:t>Lawfare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914400"/>
          </a:xfrm>
          <a:prstGeom prst="rect">
            <a:avLst/>
          </a:prstGeom>
          <a:noFill/>
          <a:ln/>
        </p:spPr>
        <p:txBody>
          <a:bodyPr wrap="square" lIns="0" tIns="0" rIns="0" bIns="0" rtlCol="0" anchor="ctr"/>
          <a:lstStyle/>
          <a:p>
            <a:pPr indent="0" marL="0">
              <a:buNone/>
            </a:pPr>
            <a:r>
              <a:rPr lang="en-US" sz="4000" b="1" dirty="0">
                <a:solidFill>
                  <a:srgbClr val="1A1F36"/>
                </a:solidFill>
                <a:latin typeface="Georgia" pitchFamily="34" charset="0"/>
                <a:ea typeface="Georgia" pitchFamily="34" charset="-122"/>
                <a:cs typeface="Georgia" pitchFamily="34" charset="-120"/>
              </a:rPr>
              <a:t>Expertise determines</a:t>
            </a:r>
            <a:endParaRPr lang="en-US" sz="4000" dirty="0"/>
          </a:p>
          <a:p>
            <a:pPr indent="0" marL="0">
              <a:buNone/>
            </a:pPr>
            <a:r>
              <a:rPr lang="en-US" sz="4000" b="1" dirty="0">
                <a:solidFill>
                  <a:srgbClr val="1A1F36"/>
                </a:solidFill>
                <a:latin typeface="Georgia" pitchFamily="34" charset="0"/>
                <a:ea typeface="Georgia" pitchFamily="34" charset="-122"/>
                <a:cs typeface="Georgia" pitchFamily="34" charset="-120"/>
              </a:rPr>
              <a:t>what you can ship</a:t>
            </a:r>
            <a:endParaRPr lang="en-US" sz="4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286000"/>
                <a:gridCol w="2971800"/>
                <a:gridCol w="2971800"/>
              </a:tblGrid>
              <a:tr h="548640">
                <a:tc>
                  <a:txBody>
                    <a:bodyPr/>
                    <a:lstStyle/>
                    <a:p>
                      <a:pPr indent="0" marL="0">
                        <a:buNone/>
                      </a:pPr>
                      <a:r>
                        <a:rPr lang="en-US" sz="1800" b="1" dirty="0">
                          <a:solidFill>
                            <a:srgbClr val="FFFFFF"/>
                          </a:solidFill>
                          <a:latin typeface="Verdana" pitchFamily="34" charset="0"/>
                          <a:ea typeface="Verdana" pitchFamily="34" charset="-122"/>
                          <a:cs typeface="Verdana" pitchFamily="34" charset="-120"/>
                        </a:rPr>
                        <a:t>Level</a:t>
                      </a:r>
                      <a:endParaRPr lang="en-US" sz="1800" dirty="0">
                        <a:latin typeface="Verdana" charset="0"/>
                        <a:ea typeface="Verdana" charset="0"/>
                        <a:cs typeface="Verdan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1F36"/>
                    </a:solidFill>
                  </a:tcPr>
                </a:tc>
                <a:tc>
                  <a:txBody>
                    <a:bodyPr/>
                    <a:lstStyle/>
                    <a:p>
                      <a:pPr indent="0" marL="0">
                        <a:buNone/>
                      </a:pPr>
                      <a:r>
                        <a:rPr lang="en-US" sz="1800" b="1" dirty="0">
                          <a:solidFill>
                            <a:srgbClr val="FFFFFF"/>
                          </a:solidFill>
                          <a:latin typeface="Verdana" pitchFamily="34" charset="0"/>
                          <a:ea typeface="Verdana" pitchFamily="34" charset="-122"/>
                          <a:cs typeface="Verdana" pitchFamily="34" charset="-120"/>
                        </a:rPr>
                        <a:t>What you ship</a:t>
                      </a:r>
                      <a:endParaRPr lang="en-US" sz="1800" dirty="0">
                        <a:latin typeface="Verdana" charset="0"/>
                        <a:ea typeface="Verdana" charset="0"/>
                        <a:cs typeface="Verdan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1F36"/>
                    </a:solidFill>
                  </a:tcPr>
                </a:tc>
                <a:tc>
                  <a:txBody>
                    <a:bodyPr/>
                    <a:lstStyle/>
                    <a:p>
                      <a:pPr indent="0" marL="0">
                        <a:buNone/>
                      </a:pPr>
                      <a:r>
                        <a:rPr lang="en-US" sz="1800" b="1" dirty="0">
                          <a:solidFill>
                            <a:srgbClr val="FFFFFF"/>
                          </a:solidFill>
                          <a:latin typeface="Verdana" pitchFamily="34" charset="0"/>
                          <a:ea typeface="Verdana" pitchFamily="34" charset="-122"/>
                          <a:cs typeface="Verdana" pitchFamily="34" charset="-120"/>
                        </a:rPr>
                        <a:t>Why</a:t>
                      </a:r>
                      <a:endParaRPr lang="en-US" sz="1800" dirty="0">
                        <a:latin typeface="Verdana" charset="0"/>
                        <a:ea typeface="Verdana" charset="0"/>
                        <a:cs typeface="Verdan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1F36"/>
                    </a:solidFill>
                  </a:tcPr>
                </a:tc>
              </a:tr>
              <a:tr h="640080">
                <a:tc>
                  <a:txBody>
                    <a:bodyPr/>
                    <a:lstStyle/>
                    <a:p>
                      <a:pPr indent="0" marL="0">
                        <a:buNone/>
                      </a:pPr>
                      <a:r>
                        <a:rPr lang="en-US" sz="2000" b="1" dirty="0">
                          <a:solidFill>
                            <a:srgbClr val="FF6B8A"/>
                          </a:solidFill>
                          <a:latin typeface="Verdana" pitchFamily="34" charset="0"/>
                          <a:ea typeface="Verdana" pitchFamily="34" charset="-122"/>
                          <a:cs typeface="Verdana" pitchFamily="34" charset="-120"/>
                        </a:rPr>
                        <a:t>Vibe coder</a:t>
                      </a:r>
                      <a:endParaRPr lang="en-US" sz="2000" dirty="0">
                        <a:latin typeface="Verdana" charset="0"/>
                        <a:ea typeface="Verdana" charset="0"/>
                        <a:cs typeface="Verdan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2000" dirty="0">
                          <a:solidFill>
                            <a:srgbClr val="1A1F36"/>
                          </a:solidFill>
                          <a:latin typeface="Verdana" pitchFamily="34" charset="0"/>
                          <a:ea typeface="Verdana" pitchFamily="34" charset="-122"/>
                          <a:cs typeface="Verdana" pitchFamily="34" charset="-120"/>
                        </a:rPr>
                        <a:t>Prototypes, demos</a:t>
                      </a:r>
                      <a:endParaRPr lang="en-US" sz="2000" dirty="0">
                        <a:latin typeface="Verdana" charset="0"/>
                        <a:ea typeface="Verdana" charset="0"/>
                        <a:cs typeface="Verdan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2000" dirty="0">
                          <a:solidFill>
                            <a:srgbClr val="1A1F36"/>
                          </a:solidFill>
                          <a:latin typeface="Verdana" pitchFamily="34" charset="0"/>
                          <a:ea typeface="Verdana" pitchFamily="34" charset="-122"/>
                          <a:cs typeface="Verdana" pitchFamily="34" charset="-120"/>
                        </a:rPr>
                        <a:t>Can’t review output</a:t>
                      </a:r>
                      <a:endParaRPr lang="en-US" sz="2000" dirty="0">
                        <a:latin typeface="Verdana" charset="0"/>
                        <a:ea typeface="Verdana" charset="0"/>
                        <a:cs typeface="Verdan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640080">
                <a:tc>
                  <a:txBody>
                    <a:bodyPr/>
                    <a:lstStyle/>
                    <a:p>
                      <a:pPr indent="0" marL="0">
                        <a:buNone/>
                      </a:pPr>
                      <a:r>
                        <a:rPr lang="en-US" sz="2000" b="1" dirty="0">
                          <a:solidFill>
                            <a:srgbClr val="8B95A5"/>
                          </a:solidFill>
                          <a:latin typeface="Verdana" pitchFamily="34" charset="0"/>
                          <a:ea typeface="Verdana" pitchFamily="34" charset="-122"/>
                          <a:cs typeface="Verdana" pitchFamily="34" charset="-120"/>
                        </a:rPr>
                        <a:t>Developer + AI</a:t>
                      </a:r>
                      <a:endParaRPr lang="en-US" sz="2000" dirty="0">
                        <a:latin typeface="Verdana" charset="0"/>
                        <a:ea typeface="Verdana" charset="0"/>
                        <a:cs typeface="Verdan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2000" dirty="0">
                          <a:solidFill>
                            <a:srgbClr val="1A1F36"/>
                          </a:solidFill>
                          <a:latin typeface="Verdana" pitchFamily="34" charset="0"/>
                          <a:ea typeface="Verdana" pitchFamily="34" charset="-122"/>
                          <a:cs typeface="Verdana" pitchFamily="34" charset="-120"/>
                        </a:rPr>
                        <a:t>POCs, internal tools</a:t>
                      </a:r>
                      <a:endParaRPr lang="en-US" sz="2000" dirty="0">
                        <a:latin typeface="Verdana" charset="0"/>
                        <a:ea typeface="Verdana" charset="0"/>
                        <a:cs typeface="Verdan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2000" dirty="0">
                          <a:solidFill>
                            <a:srgbClr val="1A1F36"/>
                          </a:solidFill>
                          <a:latin typeface="Verdana" pitchFamily="34" charset="0"/>
                          <a:ea typeface="Verdana" pitchFamily="34" charset="-122"/>
                          <a:cs typeface="Verdana" pitchFamily="34" charset="-120"/>
                        </a:rPr>
                        <a:t>Catches obvious issues</a:t>
                      </a:r>
                      <a:endParaRPr lang="en-US" sz="2000" dirty="0">
                        <a:latin typeface="Verdana" charset="0"/>
                        <a:ea typeface="Verdana" charset="0"/>
                        <a:cs typeface="Verdan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640080">
                <a:tc>
                  <a:txBody>
                    <a:bodyPr/>
                    <a:lstStyle/>
                    <a:p>
                      <a:pPr indent="0" marL="0">
                        <a:buNone/>
                      </a:pPr>
                      <a:r>
                        <a:rPr lang="en-US" sz="2000" b="1" dirty="0">
                          <a:solidFill>
                            <a:srgbClr val="09825D"/>
                          </a:solidFill>
                          <a:latin typeface="Verdana" pitchFamily="34" charset="0"/>
                          <a:ea typeface="Verdana" pitchFamily="34" charset="-122"/>
                          <a:cs typeface="Verdana" pitchFamily="34" charset="-120"/>
                        </a:rPr>
                        <a:t>Engineer + AI</a:t>
                      </a:r>
                      <a:endParaRPr lang="en-US" sz="2000" dirty="0">
                        <a:latin typeface="Verdana" charset="0"/>
                        <a:ea typeface="Verdana" charset="0"/>
                        <a:cs typeface="Verdan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2000" dirty="0">
                          <a:solidFill>
                            <a:srgbClr val="1A1F36"/>
                          </a:solidFill>
                          <a:latin typeface="Verdana" pitchFamily="34" charset="0"/>
                          <a:ea typeface="Verdana" pitchFamily="34" charset="-122"/>
                          <a:cs typeface="Verdana" pitchFamily="34" charset="-120"/>
                        </a:rPr>
                        <a:t>Production systems</a:t>
                      </a:r>
                      <a:endParaRPr lang="en-US" sz="2000" dirty="0">
                        <a:latin typeface="Verdana" charset="0"/>
                        <a:ea typeface="Verdana" charset="0"/>
                        <a:cs typeface="Verdan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2000" dirty="0">
                          <a:solidFill>
                            <a:srgbClr val="1A1F36"/>
                          </a:solidFill>
                          <a:latin typeface="Verdana" pitchFamily="34" charset="0"/>
                          <a:ea typeface="Verdana" pitchFamily="34" charset="-122"/>
                          <a:cs typeface="Verdana" pitchFamily="34" charset="-120"/>
                        </a:rPr>
                        <a:t>Verifies every stage</a:t>
                      </a:r>
                      <a:endParaRPr lang="en-US" sz="2000" dirty="0">
                        <a:latin typeface="Verdana" charset="0"/>
                        <a:ea typeface="Verdana" charset="0"/>
                        <a:cs typeface="Verdan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Vibe coding prototypes is fine.</a:t>
            </a:r>
            <a:endParaRPr lang="en-US" sz="4000" dirty="0"/>
          </a:p>
          <a:p>
            <a:pPr algn="ctr" indent="0" marL="0">
              <a:buNone/>
            </a:pPr>
            <a:r>
              <a:rPr lang="en-US" sz="4000" b="1" dirty="0">
                <a:solidFill>
                  <a:srgbClr val="FFFFFF"/>
                </a:solidFill>
                <a:latin typeface="Georgia" pitchFamily="34" charset="0"/>
                <a:ea typeface="Georgia" pitchFamily="34" charset="-122"/>
                <a:cs typeface="Georgia" pitchFamily="34" charset="-120"/>
              </a:rPr>
              <a:t>Vibe coding production</a:t>
            </a:r>
            <a:endParaRPr lang="en-US" sz="4000" dirty="0"/>
          </a:p>
          <a:p>
            <a:pPr algn="ctr" indent="0" marL="0">
              <a:buNone/>
            </a:pPr>
            <a:r>
              <a:rPr lang="en-US" sz="4000" b="1" dirty="0">
                <a:solidFill>
                  <a:srgbClr val="FFFFFF"/>
                </a:solidFill>
                <a:latin typeface="Georgia" pitchFamily="34" charset="0"/>
                <a:ea typeface="Georgia" pitchFamily="34" charset="-122"/>
                <a:cs typeface="Georgia" pitchFamily="34" charset="-120"/>
              </a:rPr>
              <a:t>is negligence.</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1371600" y="1828800"/>
            <a:ext cx="6400800" cy="1463040"/>
          </a:xfrm>
          <a:prstGeom prst="rect">
            <a:avLst/>
          </a:prstGeom>
          <a:noFill/>
          <a:ln/>
        </p:spPr>
        <p:txBody>
          <a:bodyPr wrap="square" lIns="0" tIns="0" rIns="0" bIns="0" rtlCol="0" anchor="ctr"/>
          <a:lstStyle/>
          <a:p>
            <a:pPr algn="ctr" indent="0" marL="0">
              <a:buNone/>
            </a:pPr>
            <a:r>
              <a:rPr lang="en-US" sz="2800" i="1" dirty="0">
                <a:solidFill>
                  <a:srgbClr val="635BFF"/>
                </a:solidFill>
                <a:latin typeface="Georgia" pitchFamily="34" charset="0"/>
                <a:ea typeface="Georgia" pitchFamily="34" charset="-122"/>
                <a:cs typeface="Georgia" pitchFamily="34" charset="-120"/>
              </a:rPr>
              <a:t>So how do you actually do this?</a:t>
            </a:r>
            <a:endParaRPr 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This is my opinionated</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best practice.</a:t>
            </a:r>
            <a:endParaRPr lang="en-US" sz="4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548640"/>
            <a:ext cx="8229600"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I chose Claude Code. Here’s why.</a:t>
            </a:r>
            <a:endParaRPr lang="en-US" sz="4000" dirty="0"/>
          </a:p>
        </p:txBody>
      </p:sp>
      <p:sp>
        <p:nvSpPr>
          <p:cNvPr id="4" name="Text 2"/>
          <p:cNvSpPr/>
          <p:nvPr/>
        </p:nvSpPr>
        <p:spPr>
          <a:xfrm>
            <a:off x="457200" y="1645920"/>
            <a:ext cx="2560320" cy="731520"/>
          </a:xfrm>
          <a:prstGeom prst="rect">
            <a:avLst/>
          </a:prstGeom>
          <a:noFill/>
          <a:ln/>
        </p:spPr>
        <p:txBody>
          <a:bodyPr wrap="square" lIns="0" tIns="0" rIns="0" bIns="0" rtlCol="0" anchor="b"/>
          <a:lstStyle/>
          <a:p>
            <a:pPr algn="ctr" indent="0" marL="0">
              <a:buNone/>
            </a:pPr>
            <a:r>
              <a:rPr lang="en-US" sz="2800" b="1" dirty="0">
                <a:solidFill>
                  <a:srgbClr val="635BFF"/>
                </a:solidFill>
                <a:latin typeface="Georgia" pitchFamily="34" charset="0"/>
                <a:ea typeface="Georgia" pitchFamily="34" charset="-122"/>
                <a:cs typeface="Georgia" pitchFamily="34" charset="-120"/>
              </a:rPr>
              <a:t>Best Model</a:t>
            </a:r>
            <a:endParaRPr lang="en-US" sz="2800" dirty="0"/>
          </a:p>
        </p:txBody>
      </p:sp>
      <p:sp>
        <p:nvSpPr>
          <p:cNvPr id="5" name="Text 3"/>
          <p:cNvSpPr/>
          <p:nvPr/>
        </p:nvSpPr>
        <p:spPr>
          <a:xfrm>
            <a:off x="457200" y="2560320"/>
            <a:ext cx="2560320" cy="1463040"/>
          </a:xfrm>
          <a:prstGeom prst="rect">
            <a:avLst/>
          </a:prstGeom>
          <a:noFill/>
          <a:ln/>
        </p:spPr>
        <p:txBody>
          <a:bodyPr wrap="square" lIns="0" tIns="0" rIns="0" bIns="0" rtlCol="0" anchor="t"/>
          <a:lstStyle/>
          <a:p>
            <a:pPr algn="ctr" indent="0" marL="0">
              <a:buNone/>
            </a:pPr>
            <a:r>
              <a:rPr lang="en-US" sz="2000" dirty="0">
                <a:solidFill>
                  <a:srgbClr val="8B95A5"/>
                </a:solidFill>
                <a:latin typeface="Verdana" pitchFamily="34" charset="0"/>
                <a:ea typeface="Verdana" pitchFamily="34" charset="-122"/>
                <a:cs typeface="Verdana" pitchFamily="34" charset="-120"/>
              </a:rPr>
              <a:t>Frontier coding</a:t>
            </a:r>
            <a:endParaRPr lang="en-US" sz="2000" dirty="0"/>
          </a:p>
          <a:p>
            <a:pPr algn="ctr" indent="0" marL="0">
              <a:buNone/>
            </a:pPr>
            <a:r>
              <a:rPr lang="en-US" sz="2000" dirty="0">
                <a:solidFill>
                  <a:srgbClr val="8B95A5"/>
                </a:solidFill>
                <a:latin typeface="Verdana" pitchFamily="34" charset="0"/>
                <a:ea typeface="Verdana" pitchFamily="34" charset="-122"/>
                <a:cs typeface="Verdana" pitchFamily="34" charset="-120"/>
              </a:rPr>
              <a:t>benchmarks.</a:t>
            </a:r>
            <a:endParaRPr lang="en-US" sz="2000" dirty="0"/>
          </a:p>
          <a:p>
            <a:pPr algn="ctr" indent="0" marL="0">
              <a:buNone/>
            </a:pPr>
            <a:r>
              <a:rPr lang="en-US" sz="2000" dirty="0">
                <a:solidFill>
                  <a:srgbClr val="8B95A5"/>
                </a:solidFill>
                <a:latin typeface="Verdana" pitchFamily="34" charset="0"/>
                <a:ea typeface="Verdana" pitchFamily="34" charset="-122"/>
                <a:cs typeface="Verdana" pitchFamily="34" charset="-120"/>
              </a:rPr>
              <a:t>Not brand loyalty.</a:t>
            </a:r>
            <a:endParaRPr lang="en-US" sz="2000" dirty="0"/>
          </a:p>
        </p:txBody>
      </p:sp>
      <p:sp>
        <p:nvSpPr>
          <p:cNvPr id="6" name="Text 4"/>
          <p:cNvSpPr/>
          <p:nvPr/>
        </p:nvSpPr>
        <p:spPr>
          <a:xfrm>
            <a:off x="3383280" y="1645920"/>
            <a:ext cx="2560320" cy="731520"/>
          </a:xfrm>
          <a:prstGeom prst="rect">
            <a:avLst/>
          </a:prstGeom>
          <a:noFill/>
          <a:ln/>
        </p:spPr>
        <p:txBody>
          <a:bodyPr wrap="square" lIns="0" tIns="0" rIns="0" bIns="0" rtlCol="0" anchor="b"/>
          <a:lstStyle/>
          <a:p>
            <a:pPr algn="ctr" indent="0" marL="0">
              <a:buNone/>
            </a:pPr>
            <a:r>
              <a:rPr lang="en-US" sz="2800" b="1" dirty="0">
                <a:solidFill>
                  <a:srgbClr val="635BFF"/>
                </a:solidFill>
                <a:latin typeface="Georgia" pitchFamily="34" charset="0"/>
                <a:ea typeface="Georgia" pitchFamily="34" charset="-122"/>
                <a:cs typeface="Georgia" pitchFamily="34" charset="-120"/>
              </a:rPr>
              <a:t>Agentic-First</a:t>
            </a:r>
            <a:endParaRPr lang="en-US" sz="2800" dirty="0"/>
          </a:p>
        </p:txBody>
      </p:sp>
      <p:sp>
        <p:nvSpPr>
          <p:cNvPr id="7" name="Text 5"/>
          <p:cNvSpPr/>
          <p:nvPr/>
        </p:nvSpPr>
        <p:spPr>
          <a:xfrm>
            <a:off x="3383280" y="2560320"/>
            <a:ext cx="2560320" cy="1463040"/>
          </a:xfrm>
          <a:prstGeom prst="rect">
            <a:avLst/>
          </a:prstGeom>
          <a:noFill/>
          <a:ln/>
        </p:spPr>
        <p:txBody>
          <a:bodyPr wrap="square" lIns="0" tIns="0" rIns="0" bIns="0" rtlCol="0" anchor="t"/>
          <a:lstStyle/>
          <a:p>
            <a:pPr algn="ctr" indent="0" marL="0">
              <a:buNone/>
            </a:pPr>
            <a:r>
              <a:rPr lang="en-US" sz="2000" dirty="0">
                <a:solidFill>
                  <a:srgbClr val="8B95A5"/>
                </a:solidFill>
                <a:latin typeface="Verdana" pitchFamily="34" charset="0"/>
                <a:ea typeface="Verdana" pitchFamily="34" charset="-122"/>
                <a:cs typeface="Verdana" pitchFamily="34" charset="-120"/>
              </a:rPr>
              <a:t>Terminal-native.</a:t>
            </a:r>
            <a:endParaRPr lang="en-US" sz="2000" dirty="0"/>
          </a:p>
          <a:p>
            <a:pPr algn="ctr" indent="0" marL="0">
              <a:buNone/>
            </a:pPr>
            <a:r>
              <a:rPr lang="en-US" sz="2000" dirty="0">
                <a:solidFill>
                  <a:srgbClr val="8B95A5"/>
                </a:solidFill>
                <a:latin typeface="Verdana" pitchFamily="34" charset="0"/>
                <a:ea typeface="Verdana" pitchFamily="34" charset="-122"/>
                <a:cs typeface="Verdana" pitchFamily="34" charset="-120"/>
              </a:rPr>
              <a:t>Tool use,</a:t>
            </a:r>
            <a:endParaRPr lang="en-US" sz="2000" dirty="0"/>
          </a:p>
          <a:p>
            <a:pPr algn="ctr" indent="0" marL="0">
              <a:buNone/>
            </a:pPr>
            <a:r>
              <a:rPr lang="en-US" sz="2000" dirty="0">
                <a:solidFill>
                  <a:srgbClr val="8B95A5"/>
                </a:solidFill>
                <a:latin typeface="Verdana" pitchFamily="34" charset="0"/>
                <a:ea typeface="Verdana" pitchFamily="34" charset="-122"/>
                <a:cs typeface="Verdana" pitchFamily="34" charset="-120"/>
              </a:rPr>
              <a:t>not autocomplete.</a:t>
            </a:r>
            <a:endParaRPr lang="en-US" sz="2000" dirty="0"/>
          </a:p>
        </p:txBody>
      </p:sp>
      <p:sp>
        <p:nvSpPr>
          <p:cNvPr id="8" name="Text 6"/>
          <p:cNvSpPr/>
          <p:nvPr/>
        </p:nvSpPr>
        <p:spPr>
          <a:xfrm>
            <a:off x="6309360" y="1645920"/>
            <a:ext cx="2560320" cy="731520"/>
          </a:xfrm>
          <a:prstGeom prst="rect">
            <a:avLst/>
          </a:prstGeom>
          <a:noFill/>
          <a:ln/>
        </p:spPr>
        <p:txBody>
          <a:bodyPr wrap="square" lIns="0" tIns="0" rIns="0" bIns="0" rtlCol="0" anchor="b"/>
          <a:lstStyle/>
          <a:p>
            <a:pPr algn="ctr" indent="0" marL="0">
              <a:buNone/>
            </a:pPr>
            <a:r>
              <a:rPr lang="en-US" sz="2800" b="1" dirty="0">
                <a:solidFill>
                  <a:srgbClr val="635BFF"/>
                </a:solidFill>
                <a:latin typeface="Georgia" pitchFamily="34" charset="0"/>
                <a:ea typeface="Georgia" pitchFamily="34" charset="-122"/>
                <a:cs typeface="Georgia" pitchFamily="34" charset="-120"/>
              </a:rPr>
              <a:t>Richest Context</a:t>
            </a:r>
            <a:endParaRPr lang="en-US" sz="2800" dirty="0"/>
          </a:p>
        </p:txBody>
      </p:sp>
      <p:sp>
        <p:nvSpPr>
          <p:cNvPr id="9" name="Text 7"/>
          <p:cNvSpPr/>
          <p:nvPr/>
        </p:nvSpPr>
        <p:spPr>
          <a:xfrm>
            <a:off x="6309360" y="2560320"/>
            <a:ext cx="2560320" cy="1463040"/>
          </a:xfrm>
          <a:prstGeom prst="rect">
            <a:avLst/>
          </a:prstGeom>
          <a:noFill/>
          <a:ln/>
        </p:spPr>
        <p:txBody>
          <a:bodyPr wrap="square" lIns="0" tIns="0" rIns="0" bIns="0" rtlCol="0" anchor="t"/>
          <a:lstStyle/>
          <a:p>
            <a:pPr algn="ctr" indent="0" marL="0">
              <a:buNone/>
            </a:pPr>
            <a:r>
              <a:rPr lang="en-US" sz="2000" dirty="0">
                <a:solidFill>
                  <a:srgbClr val="8B95A5"/>
                </a:solidFill>
                <a:latin typeface="Verdana" pitchFamily="34" charset="0"/>
                <a:ea typeface="Verdana" pitchFamily="34" charset="-122"/>
                <a:cs typeface="Verdana" pitchFamily="34" charset="-120"/>
              </a:rPr>
              <a:t>MCP, rules,</a:t>
            </a:r>
            <a:endParaRPr lang="en-US" sz="2000" dirty="0"/>
          </a:p>
          <a:p>
            <a:pPr algn="ctr" indent="0" marL="0">
              <a:buNone/>
            </a:pPr>
            <a:r>
              <a:rPr lang="en-US" sz="2000" dirty="0">
                <a:solidFill>
                  <a:srgbClr val="8B95A5"/>
                </a:solidFill>
                <a:latin typeface="Verdana" pitchFamily="34" charset="0"/>
                <a:ea typeface="Verdana" pitchFamily="34" charset="-122"/>
                <a:cs typeface="Verdana" pitchFamily="34" charset="-120"/>
              </a:rPr>
              <a:t>skills, hooks.</a:t>
            </a:r>
            <a:endParaRPr lang="en-US" sz="2000" dirty="0"/>
          </a:p>
          <a:p>
            <a:pPr algn="ctr" indent="0" marL="0">
              <a:buNone/>
            </a:pPr>
            <a:r>
              <a:rPr lang="en-US" sz="2000" dirty="0">
                <a:solidFill>
                  <a:srgbClr val="8B95A5"/>
                </a:solidFill>
                <a:latin typeface="Verdana" pitchFamily="34" charset="0"/>
                <a:ea typeface="Verdana" pitchFamily="34" charset="-122"/>
                <a:cs typeface="Verdana" pitchFamily="34" charset="-120"/>
              </a:rPr>
              <a:t>Core design.</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5400" b="1" dirty="0">
                <a:solidFill>
                  <a:srgbClr val="FFFFFF"/>
                </a:solidFill>
                <a:latin typeface="Georgia" pitchFamily="34" charset="0"/>
                <a:ea typeface="Georgia" pitchFamily="34" charset="-122"/>
                <a:cs typeface="Georgia" pitchFamily="34" charset="-120"/>
              </a:rPr>
              <a:t>An army of</a:t>
            </a:r>
            <a:endParaRPr lang="en-US" sz="5400" dirty="0"/>
          </a:p>
          <a:p>
            <a:pPr algn="ctr" indent="0" marL="0">
              <a:buNone/>
            </a:pPr>
            <a:r>
              <a:rPr lang="en-US" sz="5400" b="1" dirty="0">
                <a:solidFill>
                  <a:srgbClr val="FFFFFF"/>
                </a:solidFill>
                <a:latin typeface="Georgia" pitchFamily="34" charset="0"/>
                <a:ea typeface="Georgia" pitchFamily="34" charset="-122"/>
                <a:cs typeface="Georgia" pitchFamily="34" charset="-120"/>
              </a:rPr>
              <a:t>eager juniors.</a:t>
            </a:r>
            <a:endParaRPr lang="en-US" sz="5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731520"/>
            <a:ext cx="3840480" cy="640080"/>
          </a:xfrm>
          <a:prstGeom prst="rect">
            <a:avLst/>
          </a:prstGeom>
          <a:noFill/>
          <a:ln/>
        </p:spPr>
        <p:txBody>
          <a:bodyPr wrap="square" lIns="0" tIns="0" rIns="0" bIns="0" rtlCol="0" anchor="ctr"/>
          <a:lstStyle/>
          <a:p>
            <a:pPr algn="ctr" indent="0" marL="0">
              <a:buNone/>
            </a:pPr>
            <a:r>
              <a:rPr lang="en-US" sz="3600" b="1" dirty="0">
                <a:solidFill>
                  <a:srgbClr val="635BFF"/>
                </a:solidFill>
                <a:latin typeface="Georgia" pitchFamily="34" charset="0"/>
                <a:ea typeface="Georgia" pitchFamily="34" charset="-122"/>
                <a:cs typeface="Georgia" pitchFamily="34" charset="-120"/>
              </a:rPr>
              <a:t>Manager</a:t>
            </a:r>
            <a:endParaRPr lang="en-US" sz="3600" dirty="0"/>
          </a:p>
        </p:txBody>
      </p:sp>
      <p:sp>
        <p:nvSpPr>
          <p:cNvPr id="4" name="Text 2"/>
          <p:cNvSpPr/>
          <p:nvPr/>
        </p:nvSpPr>
        <p:spPr>
          <a:xfrm>
            <a:off x="457200" y="1737360"/>
            <a:ext cx="3840480" cy="2286000"/>
          </a:xfrm>
          <a:prstGeom prst="rect">
            <a:avLst/>
          </a:prstGeom>
          <a:noFill/>
          <a:ln/>
        </p:spPr>
        <p:txBody>
          <a:bodyPr wrap="square" lIns="0" tIns="0" rIns="0" bIns="0" rtlCol="0" anchor="t"/>
          <a:lstStyle/>
          <a:p>
            <a:pPr algn="ctr" indent="0" marL="0">
              <a:buNone/>
            </a:pPr>
            <a:r>
              <a:rPr lang="en-US" sz="2200" dirty="0">
                <a:solidFill>
                  <a:srgbClr val="8B95A5"/>
                </a:solidFill>
                <a:latin typeface="Verdana" pitchFamily="34" charset="0"/>
                <a:ea typeface="Verdana" pitchFamily="34" charset="-122"/>
                <a:cs typeface="Verdana" pitchFamily="34" charset="-120"/>
              </a:rPr>
              <a:t>Improve the process</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Build skills &amp; workflows</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Invest in infrastructure</a:t>
            </a:r>
            <a:endParaRPr lang="en-US" sz="2200" dirty="0"/>
          </a:p>
        </p:txBody>
      </p:sp>
      <p:sp>
        <p:nvSpPr>
          <p:cNvPr id="5" name="Shape 3"/>
          <p:cNvSpPr/>
          <p:nvPr/>
        </p:nvSpPr>
        <p:spPr>
          <a:xfrm>
            <a:off x="4572000" y="731520"/>
            <a:ext cx="0" cy="3291840"/>
          </a:xfrm>
          <a:prstGeom prst="line">
            <a:avLst/>
          </a:prstGeom>
          <a:noFill/>
          <a:ln w="12700">
            <a:solidFill>
              <a:srgbClr val="635BFF"/>
            </a:solidFill>
            <a:prstDash val="solid"/>
          </a:ln>
        </p:spPr>
      </p:sp>
      <p:sp>
        <p:nvSpPr>
          <p:cNvPr id="6" name="Text 4"/>
          <p:cNvSpPr/>
          <p:nvPr/>
        </p:nvSpPr>
        <p:spPr>
          <a:xfrm>
            <a:off x="4846320" y="731520"/>
            <a:ext cx="3840480" cy="64008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Tech Lead</a:t>
            </a:r>
            <a:endParaRPr lang="en-US" sz="3600" dirty="0"/>
          </a:p>
        </p:txBody>
      </p:sp>
      <p:sp>
        <p:nvSpPr>
          <p:cNvPr id="7" name="Text 5"/>
          <p:cNvSpPr/>
          <p:nvPr/>
        </p:nvSpPr>
        <p:spPr>
          <a:xfrm>
            <a:off x="4846320" y="1737360"/>
            <a:ext cx="3840480" cy="2286000"/>
          </a:xfrm>
          <a:prstGeom prst="rect">
            <a:avLst/>
          </a:prstGeom>
          <a:noFill/>
          <a:ln/>
        </p:spPr>
        <p:txBody>
          <a:bodyPr wrap="square" lIns="0" tIns="0" rIns="0" bIns="0" rtlCol="0" anchor="t"/>
          <a:lstStyle/>
          <a:p>
            <a:pPr algn="ctr" indent="0" marL="0">
              <a:buNone/>
            </a:pPr>
            <a:r>
              <a:rPr lang="en-US" sz="2200" dirty="0">
                <a:solidFill>
                  <a:srgbClr val="8B95A5"/>
                </a:solidFill>
                <a:latin typeface="Verdana" pitchFamily="34" charset="0"/>
                <a:ea typeface="Verdana" pitchFamily="34" charset="-122"/>
                <a:cs typeface="Verdana" pitchFamily="34" charset="-120"/>
              </a:rPr>
              <a:t>Verify each stage</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Review architecture</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Catch what agents miss</a:t>
            </a:r>
            <a:endParaRPr lang="en-US" sz="2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914400"/>
            <a:ext cx="7315200" cy="2560320"/>
          </a:xfrm>
          <a:prstGeom prst="rect">
            <a:avLst/>
          </a:prstGeom>
          <a:noFill/>
          <a:ln/>
        </p:spPr>
        <p:txBody>
          <a:bodyPr wrap="square" lIns="0" tIns="0" rIns="0" bIns="0" rtlCol="0" anchor="ctr"/>
          <a:lstStyle/>
          <a:p>
            <a:pPr algn="ctr" indent="0" marL="0">
              <a:buNone/>
            </a:pPr>
            <a:r>
              <a:rPr lang="en-US" sz="3600" b="1" i="1" dirty="0">
                <a:solidFill>
                  <a:srgbClr val="FFFFFF"/>
                </a:solidFill>
                <a:latin typeface="Georgia" pitchFamily="34" charset="0"/>
                <a:ea typeface="Georgia" pitchFamily="34" charset="-122"/>
                <a:cs typeface="Georgia" pitchFamily="34" charset="-120"/>
              </a:rPr>
              <a:t>“Code production has become cheap.</a:t>
            </a:r>
            <a:endParaRPr lang="en-US" sz="3600" dirty="0"/>
          </a:p>
          <a:p>
            <a:pPr algn="ctr" indent="0" marL="0">
              <a:buNone/>
            </a:pPr>
            <a:r>
              <a:rPr lang="en-US" sz="3600" b="1" i="1" dirty="0">
                <a:solidFill>
                  <a:srgbClr val="FFFFFF"/>
                </a:solidFill>
                <a:latin typeface="Georgia" pitchFamily="34" charset="0"/>
                <a:ea typeface="Georgia" pitchFamily="34" charset="-122"/>
                <a:cs typeface="Georgia" pitchFamily="34" charset="-120"/>
              </a:rPr>
              <a:t>System composition and judgment</a:t>
            </a:r>
            <a:endParaRPr lang="en-US" sz="3600" dirty="0"/>
          </a:p>
          <a:p>
            <a:pPr algn="ctr" indent="0" marL="0">
              <a:buNone/>
            </a:pPr>
            <a:r>
              <a:rPr lang="en-US" sz="3600" b="1" i="1" dirty="0">
                <a:solidFill>
                  <a:srgbClr val="FFFFFF"/>
                </a:solidFill>
                <a:latin typeface="Georgia" pitchFamily="34" charset="0"/>
                <a:ea typeface="Georgia" pitchFamily="34" charset="-122"/>
                <a:cs typeface="Georgia" pitchFamily="34" charset="-120"/>
              </a:rPr>
              <a:t>are now the critical skills.”</a:t>
            </a:r>
            <a:endParaRPr lang="en-US" sz="3600" dirty="0"/>
          </a:p>
        </p:txBody>
      </p:sp>
      <p:sp>
        <p:nvSpPr>
          <p:cNvPr id="4" name="Text 2"/>
          <p:cNvSpPr/>
          <p:nvPr/>
        </p:nvSpPr>
        <p:spPr>
          <a:xfrm>
            <a:off x="1371600" y="3657600"/>
            <a:ext cx="6400800" cy="548640"/>
          </a:xfrm>
          <a:prstGeom prst="rect">
            <a:avLst/>
          </a:prstGeom>
          <a:noFill/>
          <a:ln/>
        </p:spPr>
        <p:txBody>
          <a:bodyPr wrap="square" lIns="0" tIns="0" rIns="0" bIns="0" rtlCol="0" anchor="t"/>
          <a:lstStyle/>
          <a:p>
            <a:pPr algn="ctr" indent="0" marL="0">
              <a:buNone/>
            </a:pPr>
            <a:r>
              <a:rPr lang="en-US" sz="2200" i="1" dirty="0">
                <a:solidFill>
                  <a:srgbClr val="8B95A5"/>
                </a:solidFill>
                <a:latin typeface="Verdana" pitchFamily="34" charset="0"/>
                <a:ea typeface="Verdana" pitchFamily="34" charset="-122"/>
                <a:cs typeface="Verdana" pitchFamily="34" charset="-120"/>
              </a:rPr>
              <a:t>— Forbes Tech Council, Feb 2026</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indent="0" marL="0">
              <a:buNone/>
            </a:pPr>
            <a:r>
              <a:rPr lang="en-US" sz="4400" b="1" dirty="0">
                <a:solidFill>
                  <a:srgbClr val="1A1F36"/>
                </a:solidFill>
                <a:latin typeface="Georgia" pitchFamily="34" charset="0"/>
                <a:ea typeface="Georgia" pitchFamily="34" charset="-122"/>
                <a:cs typeface="Georgia" pitchFamily="34" charset="-120"/>
              </a:rPr>
              <a:t>The old trade-off</a:t>
            </a:r>
            <a:endParaRPr lang="en-US" sz="4400" dirty="0"/>
          </a:p>
        </p:txBody>
      </p:sp>
      <p:sp>
        <p:nvSpPr>
          <p:cNvPr id="3" name="Shape 1"/>
          <p:cNvSpPr/>
          <p:nvPr/>
        </p:nvSpPr>
        <p:spPr>
          <a:xfrm>
            <a:off x="457200" y="1554480"/>
            <a:ext cx="3840480" cy="2926080"/>
          </a:xfrm>
          <a:prstGeom prst="rect">
            <a:avLst/>
          </a:prstGeom>
          <a:solidFill>
            <a:srgbClr val="FEE2E8"/>
          </a:solidFill>
          <a:ln/>
        </p:spPr>
      </p:sp>
      <p:sp>
        <p:nvSpPr>
          <p:cNvPr id="4" name="Shape 2"/>
          <p:cNvSpPr/>
          <p:nvPr/>
        </p:nvSpPr>
        <p:spPr>
          <a:xfrm>
            <a:off x="457200" y="1554480"/>
            <a:ext cx="54864" cy="2926080"/>
          </a:xfrm>
          <a:prstGeom prst="rect">
            <a:avLst/>
          </a:prstGeom>
          <a:solidFill>
            <a:srgbClr val="FF6B8A"/>
          </a:solidFill>
          <a:ln/>
        </p:spPr>
      </p:sp>
      <p:sp>
        <p:nvSpPr>
          <p:cNvPr id="5" name="Text 3"/>
          <p:cNvSpPr/>
          <p:nvPr/>
        </p:nvSpPr>
        <p:spPr>
          <a:xfrm>
            <a:off x="731520" y="1737360"/>
            <a:ext cx="3291840" cy="2560320"/>
          </a:xfrm>
          <a:prstGeom prst="rect">
            <a:avLst/>
          </a:prstGeom>
          <a:noFill/>
          <a:ln/>
        </p:spPr>
        <p:txBody>
          <a:bodyPr wrap="square" lIns="0" tIns="0" rIns="0" bIns="0" rtlCol="0" anchor="t"/>
          <a:lstStyle/>
          <a:p>
            <a:pPr indent="0" marL="0">
              <a:buNone/>
            </a:pPr>
            <a:r>
              <a:rPr lang="en-US" sz="2200" dirty="0">
                <a:solidFill>
                  <a:srgbClr val="1A1F36"/>
                </a:solidFill>
                <a:latin typeface="Verdana" pitchFamily="34" charset="0"/>
                <a:ea typeface="Verdana" pitchFamily="34" charset="-122"/>
                <a:cs typeface="Verdana" pitchFamily="34" charset="-120"/>
              </a:rPr>
              <a:t>Quality OR speed</a:t>
            </a:r>
            <a:endParaRPr lang="en-US" sz="2200" dirty="0"/>
          </a:p>
          <a:p>
            <a:pPr indent="0" marL="0">
              <a:buNone/>
            </a:pPr>
            <a:endParaRPr lang="en-US" sz="2200" dirty="0"/>
          </a:p>
          <a:p>
            <a:pPr indent="0" marL="0">
              <a:buNone/>
            </a:pPr>
            <a:r>
              <a:rPr lang="en-US" sz="2200" dirty="0">
                <a:solidFill>
                  <a:srgbClr val="1A1F36"/>
                </a:solidFill>
                <a:latin typeface="Verdana" pitchFamily="34" charset="0"/>
                <a:ea typeface="Verdana" pitchFamily="34" charset="-122"/>
                <a:cs typeface="Verdana" pitchFamily="34" charset="-120"/>
              </a:rPr>
              <a:t>Pick one.</a:t>
            </a:r>
            <a:endParaRPr lang="en-US" sz="2200" dirty="0"/>
          </a:p>
          <a:p>
            <a:pPr indent="0" marL="0">
              <a:buNone/>
            </a:pPr>
            <a:endParaRPr lang="en-US" sz="2200" dirty="0"/>
          </a:p>
          <a:p>
            <a:pPr indent="0" marL="0">
              <a:buNone/>
            </a:pPr>
            <a:r>
              <a:rPr lang="en-US" sz="2200" dirty="0">
                <a:solidFill>
                  <a:srgbClr val="1A1F36"/>
                </a:solidFill>
                <a:latin typeface="Verdana" pitchFamily="34" charset="0"/>
                <a:ea typeface="Verdana" pitchFamily="34" charset="-122"/>
                <a:cs typeface="Verdana" pitchFamily="34" charset="-120"/>
              </a:rPr>
              <a:t>Every engineering decision</a:t>
            </a:r>
            <a:endParaRPr lang="en-US" sz="2200" dirty="0"/>
          </a:p>
          <a:p>
            <a:pPr indent="0" marL="0">
              <a:buNone/>
            </a:pPr>
            <a:r>
              <a:rPr lang="en-US" sz="2200" dirty="0">
                <a:solidFill>
                  <a:srgbClr val="1A1F36"/>
                </a:solidFill>
                <a:latin typeface="Verdana" pitchFamily="34" charset="0"/>
                <a:ea typeface="Verdana" pitchFamily="34" charset="-122"/>
                <a:cs typeface="Verdana" pitchFamily="34" charset="-120"/>
              </a:rPr>
              <a:t>was a compromise.</a:t>
            </a:r>
            <a:endParaRPr lang="en-US" sz="2200" dirty="0"/>
          </a:p>
        </p:txBody>
      </p:sp>
      <p:sp>
        <p:nvSpPr>
          <p:cNvPr id="6" name="Shape 4"/>
          <p:cNvSpPr/>
          <p:nvPr/>
        </p:nvSpPr>
        <p:spPr>
          <a:xfrm>
            <a:off x="4846320" y="1554480"/>
            <a:ext cx="3840480" cy="2926080"/>
          </a:xfrm>
          <a:prstGeom prst="rect">
            <a:avLst/>
          </a:prstGeom>
          <a:solidFill>
            <a:srgbClr val="DCFCE7"/>
          </a:solidFill>
          <a:ln/>
        </p:spPr>
      </p:sp>
      <p:sp>
        <p:nvSpPr>
          <p:cNvPr id="7" name="Shape 5"/>
          <p:cNvSpPr/>
          <p:nvPr/>
        </p:nvSpPr>
        <p:spPr>
          <a:xfrm>
            <a:off x="4846320" y="1554480"/>
            <a:ext cx="54864" cy="2926080"/>
          </a:xfrm>
          <a:prstGeom prst="rect">
            <a:avLst/>
          </a:prstGeom>
          <a:solidFill>
            <a:srgbClr val="09825D"/>
          </a:solidFill>
          <a:ln/>
        </p:spPr>
      </p:sp>
      <p:sp>
        <p:nvSpPr>
          <p:cNvPr id="8" name="Text 6"/>
          <p:cNvSpPr/>
          <p:nvPr/>
        </p:nvSpPr>
        <p:spPr>
          <a:xfrm>
            <a:off x="5120640" y="1737360"/>
            <a:ext cx="3291840" cy="2560320"/>
          </a:xfrm>
          <a:prstGeom prst="rect">
            <a:avLst/>
          </a:prstGeom>
          <a:noFill/>
          <a:ln/>
        </p:spPr>
        <p:txBody>
          <a:bodyPr wrap="square" lIns="0" tIns="0" rIns="0" bIns="0" rtlCol="0" anchor="t"/>
          <a:lstStyle/>
          <a:p>
            <a:pPr indent="0" marL="0">
              <a:buNone/>
            </a:pPr>
            <a:r>
              <a:rPr lang="en-US" sz="2200" dirty="0">
                <a:solidFill>
                  <a:srgbClr val="1A1F36"/>
                </a:solidFill>
                <a:latin typeface="Verdana" pitchFamily="34" charset="0"/>
                <a:ea typeface="Verdana" pitchFamily="34" charset="-122"/>
                <a:cs typeface="Verdana" pitchFamily="34" charset="-120"/>
              </a:rPr>
              <a:t>?</a:t>
            </a:r>
            <a:endParaRPr lang="en-US" sz="2200" dirty="0"/>
          </a:p>
          <a:p>
            <a:pPr indent="0" marL="0">
              <a:buNone/>
            </a:pPr>
            <a:endParaRPr lang="en-US" sz="2200" dirty="0"/>
          </a:p>
          <a:p>
            <a:pPr indent="0" marL="0">
              <a:buNone/>
            </a:pPr>
            <a:endParaRPr lang="en-US" sz="2200" dirty="0"/>
          </a:p>
          <a:p>
            <a:pPr indent="0" marL="0">
              <a:buNone/>
            </a:pPr>
            <a:endParaRPr lang="en-US" sz="2200" dirty="0"/>
          </a:p>
          <a:p>
            <a:pPr indent="0" marL="0">
              <a:buNone/>
            </a:pPr>
            <a:r>
              <a:rPr lang="en-US" sz="2200" dirty="0">
                <a:solidFill>
                  <a:srgbClr val="1A1F36"/>
                </a:solidFill>
                <a:latin typeface="Verdana" pitchFamily="34" charset="0"/>
                <a:ea typeface="Verdana" pitchFamily="34" charset="-122"/>
                <a:cs typeface="Verdana" pitchFamily="34" charset="-120"/>
              </a:rPr>
              <a:t>The answer was always</a:t>
            </a:r>
            <a:endParaRPr lang="en-US" sz="2200" dirty="0"/>
          </a:p>
          <a:p>
            <a:pPr indent="0" marL="0">
              <a:buNone/>
            </a:pPr>
            <a:r>
              <a:rPr lang="en-US" sz="2200" dirty="0">
                <a:solidFill>
                  <a:srgbClr val="1A1F36"/>
                </a:solidFill>
                <a:latin typeface="Verdana" pitchFamily="34" charset="0"/>
                <a:ea typeface="Verdana" pitchFamily="34" charset="-122"/>
                <a:cs typeface="Verdana" pitchFamily="34" charset="-120"/>
              </a:rPr>
              <a:t>‘it depends.’</a:t>
            </a:r>
            <a:endParaRPr lang="en-US" sz="2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indent="0" marL="0">
              <a:buNone/>
            </a:pPr>
            <a:r>
              <a:rPr lang="en-US" sz="4400" b="1" dirty="0">
                <a:solidFill>
                  <a:srgbClr val="1A1F36"/>
                </a:solidFill>
                <a:latin typeface="Georgia" pitchFamily="34" charset="0"/>
                <a:ea typeface="Georgia" pitchFamily="34" charset="-122"/>
                <a:cs typeface="Georgia" pitchFamily="34" charset="-120"/>
              </a:rPr>
              <a:t>The new reality</a:t>
            </a:r>
            <a:endParaRPr lang="en-US" sz="4400" dirty="0"/>
          </a:p>
        </p:txBody>
      </p:sp>
      <p:sp>
        <p:nvSpPr>
          <p:cNvPr id="3" name="Shape 1"/>
          <p:cNvSpPr/>
          <p:nvPr/>
        </p:nvSpPr>
        <p:spPr>
          <a:xfrm>
            <a:off x="457200" y="1554480"/>
            <a:ext cx="3840480" cy="2926080"/>
          </a:xfrm>
          <a:prstGeom prst="rect">
            <a:avLst/>
          </a:prstGeom>
          <a:solidFill>
            <a:srgbClr val="FEE2E8"/>
          </a:solidFill>
          <a:ln/>
        </p:spPr>
      </p:sp>
      <p:sp>
        <p:nvSpPr>
          <p:cNvPr id="4" name="Shape 2"/>
          <p:cNvSpPr/>
          <p:nvPr/>
        </p:nvSpPr>
        <p:spPr>
          <a:xfrm>
            <a:off x="457200" y="1554480"/>
            <a:ext cx="54864" cy="2926080"/>
          </a:xfrm>
          <a:prstGeom prst="rect">
            <a:avLst/>
          </a:prstGeom>
          <a:solidFill>
            <a:srgbClr val="FF6B8A"/>
          </a:solidFill>
          <a:ln/>
        </p:spPr>
      </p:sp>
      <p:sp>
        <p:nvSpPr>
          <p:cNvPr id="5" name="Text 3"/>
          <p:cNvSpPr/>
          <p:nvPr/>
        </p:nvSpPr>
        <p:spPr>
          <a:xfrm>
            <a:off x="731520" y="1737360"/>
            <a:ext cx="3291840" cy="2560320"/>
          </a:xfrm>
          <a:prstGeom prst="rect">
            <a:avLst/>
          </a:prstGeom>
          <a:noFill/>
          <a:ln/>
        </p:spPr>
        <p:txBody>
          <a:bodyPr wrap="square" lIns="0" tIns="0" rIns="0" bIns="0" rtlCol="0" anchor="t"/>
          <a:lstStyle/>
          <a:p>
            <a:pPr indent="0" marL="0">
              <a:buNone/>
            </a:pPr>
            <a:r>
              <a:rPr lang="en-US" sz="2200" dirty="0">
                <a:solidFill>
                  <a:srgbClr val="1A1F36"/>
                </a:solidFill>
                <a:latin typeface="Verdana" pitchFamily="34" charset="0"/>
                <a:ea typeface="Verdana" pitchFamily="34" charset="-122"/>
                <a:cs typeface="Verdana" pitchFamily="34" charset="-120"/>
              </a:rPr>
              <a:t>Speed alone</a:t>
            </a:r>
            <a:endParaRPr lang="en-US" sz="2200" dirty="0"/>
          </a:p>
          <a:p>
            <a:pPr indent="0" marL="0">
              <a:buNone/>
            </a:pPr>
            <a:endParaRPr lang="en-US" sz="2200" dirty="0"/>
          </a:p>
          <a:p>
            <a:pPr indent="0" marL="0">
              <a:buNone/>
            </a:pPr>
            <a:r>
              <a:rPr lang="en-US" sz="2200" dirty="0">
                <a:solidFill>
                  <a:srgbClr val="1A1F36"/>
                </a:solidFill>
                <a:latin typeface="Verdana" pitchFamily="34" charset="0"/>
                <a:ea typeface="Verdana" pitchFamily="34" charset="-122"/>
                <a:cs typeface="Verdana" pitchFamily="34" charset="-120"/>
              </a:rPr>
              <a:t>= catastrophic</a:t>
            </a:r>
            <a:endParaRPr lang="en-US" sz="2200" dirty="0"/>
          </a:p>
          <a:p>
            <a:pPr indent="0" marL="0">
              <a:buNone/>
            </a:pPr>
            <a:r>
              <a:rPr lang="en-US" sz="2200" dirty="0">
                <a:solidFill>
                  <a:srgbClr val="1A1F36"/>
                </a:solidFill>
                <a:latin typeface="Verdana" pitchFamily="34" charset="0"/>
                <a:ea typeface="Verdana" pitchFamily="34" charset="-122"/>
                <a:cs typeface="Verdana" pitchFamily="34" charset="-120"/>
              </a:rPr>
              <a:t>quality drop</a:t>
            </a:r>
            <a:endParaRPr lang="en-US" sz="2200" dirty="0"/>
          </a:p>
          <a:p>
            <a:pPr indent="0" marL="0">
              <a:buNone/>
            </a:pPr>
            <a:endParaRPr lang="en-US" sz="2200" dirty="0"/>
          </a:p>
          <a:p>
            <a:pPr indent="0" marL="0">
              <a:buNone/>
            </a:pPr>
            <a:r>
              <a:rPr lang="en-US" sz="2200" dirty="0">
                <a:solidFill>
                  <a:srgbClr val="1A1F36"/>
                </a:solidFill>
                <a:latin typeface="Verdana" pitchFamily="34" charset="0"/>
                <a:ea typeface="Verdana" pitchFamily="34" charset="-122"/>
                <a:cs typeface="Verdana" pitchFamily="34" charset="-120"/>
              </a:rPr>
              <a:t>19% slower. 1.7× issues.</a:t>
            </a:r>
            <a:endParaRPr lang="en-US" sz="2200" dirty="0"/>
          </a:p>
          <a:p>
            <a:pPr indent="0" marL="0">
              <a:buNone/>
            </a:pPr>
            <a:r>
              <a:rPr lang="en-US" sz="2200" dirty="0">
                <a:solidFill>
                  <a:srgbClr val="1A1F36"/>
                </a:solidFill>
                <a:latin typeface="Verdana" pitchFamily="34" charset="0"/>
                <a:ea typeface="Verdana" pitchFamily="34" charset="-122"/>
                <a:cs typeface="Verdana" pitchFamily="34" charset="-120"/>
              </a:rPr>
              <a:t>45% fail security.</a:t>
            </a:r>
            <a:endParaRPr lang="en-US" sz="2200" dirty="0"/>
          </a:p>
        </p:txBody>
      </p:sp>
      <p:sp>
        <p:nvSpPr>
          <p:cNvPr id="6" name="Shape 4"/>
          <p:cNvSpPr/>
          <p:nvPr/>
        </p:nvSpPr>
        <p:spPr>
          <a:xfrm>
            <a:off x="4846320" y="1554480"/>
            <a:ext cx="3840480" cy="2926080"/>
          </a:xfrm>
          <a:prstGeom prst="rect">
            <a:avLst/>
          </a:prstGeom>
          <a:solidFill>
            <a:srgbClr val="DCFCE7"/>
          </a:solidFill>
          <a:ln/>
        </p:spPr>
      </p:sp>
      <p:sp>
        <p:nvSpPr>
          <p:cNvPr id="7" name="Shape 5"/>
          <p:cNvSpPr/>
          <p:nvPr/>
        </p:nvSpPr>
        <p:spPr>
          <a:xfrm>
            <a:off x="4846320" y="1554480"/>
            <a:ext cx="54864" cy="2926080"/>
          </a:xfrm>
          <a:prstGeom prst="rect">
            <a:avLst/>
          </a:prstGeom>
          <a:solidFill>
            <a:srgbClr val="09825D"/>
          </a:solidFill>
          <a:ln/>
        </p:spPr>
      </p:sp>
      <p:sp>
        <p:nvSpPr>
          <p:cNvPr id="8" name="Text 6"/>
          <p:cNvSpPr/>
          <p:nvPr/>
        </p:nvSpPr>
        <p:spPr>
          <a:xfrm>
            <a:off x="5120640" y="1737360"/>
            <a:ext cx="3291840" cy="2560320"/>
          </a:xfrm>
          <a:prstGeom prst="rect">
            <a:avLst/>
          </a:prstGeom>
          <a:noFill/>
          <a:ln/>
        </p:spPr>
        <p:txBody>
          <a:bodyPr wrap="square" lIns="0" tIns="0" rIns="0" bIns="0" rtlCol="0" anchor="t"/>
          <a:lstStyle/>
          <a:p>
            <a:pPr indent="0" marL="0">
              <a:buNone/>
            </a:pPr>
            <a:r>
              <a:rPr lang="en-US" sz="2200" dirty="0">
                <a:solidFill>
                  <a:srgbClr val="1A1F36"/>
                </a:solidFill>
                <a:latin typeface="Verdana" pitchFamily="34" charset="0"/>
                <a:ea typeface="Verdana" pitchFamily="34" charset="-122"/>
                <a:cs typeface="Verdana" pitchFamily="34" charset="-120"/>
              </a:rPr>
              <a:t>Quality AND speed</a:t>
            </a:r>
            <a:endParaRPr lang="en-US" sz="2200" dirty="0"/>
          </a:p>
          <a:p>
            <a:pPr indent="0" marL="0">
              <a:buNone/>
            </a:pPr>
            <a:endParaRPr lang="en-US" sz="2200" dirty="0"/>
          </a:p>
          <a:p>
            <a:pPr indent="0" marL="0">
              <a:buNone/>
            </a:pPr>
            <a:r>
              <a:rPr lang="en-US" sz="2200" dirty="0">
                <a:solidFill>
                  <a:srgbClr val="1A1F36"/>
                </a:solidFill>
                <a:latin typeface="Verdana" pitchFamily="34" charset="0"/>
                <a:ea typeface="Verdana" pitchFamily="34" charset="-122"/>
                <a:cs typeface="Verdana" pitchFamily="34" charset="-120"/>
              </a:rPr>
              <a:t>CI/CD, linting, tests,</a:t>
            </a:r>
            <a:endParaRPr lang="en-US" sz="2200" dirty="0"/>
          </a:p>
          <a:p>
            <a:pPr indent="0" marL="0">
              <a:buNone/>
            </a:pPr>
            <a:r>
              <a:rPr lang="en-US" sz="2200" dirty="0">
                <a:solidFill>
                  <a:srgbClr val="1A1F36"/>
                </a:solidFill>
                <a:latin typeface="Verdana" pitchFamily="34" charset="0"/>
                <a:ea typeface="Verdana" pitchFamily="34" charset="-122"/>
                <a:cs typeface="Verdana" pitchFamily="34" charset="-120"/>
              </a:rPr>
              <a:t>PR gates</a:t>
            </a:r>
            <a:endParaRPr lang="en-US" sz="2200" dirty="0"/>
          </a:p>
          <a:p>
            <a:pPr indent="0" marL="0">
              <a:buNone/>
            </a:pPr>
            <a:endParaRPr lang="en-US" sz="2200" dirty="0"/>
          </a:p>
          <a:p>
            <a:pPr indent="0" marL="0">
              <a:buNone/>
            </a:pPr>
            <a:r>
              <a:rPr lang="en-US" sz="2200" dirty="0">
                <a:solidFill>
                  <a:srgbClr val="1A1F36"/>
                </a:solidFill>
                <a:latin typeface="Verdana" pitchFamily="34" charset="0"/>
                <a:ea typeface="Verdana" pitchFamily="34" charset="-122"/>
                <a:cs typeface="Verdana" pitchFamily="34" charset="-120"/>
              </a:rPr>
              <a:t>The same best practices</a:t>
            </a:r>
            <a:endParaRPr lang="en-US" sz="2200" dirty="0"/>
          </a:p>
          <a:p>
            <a:pPr indent="0" marL="0">
              <a:buNone/>
            </a:pPr>
            <a:r>
              <a:rPr lang="en-US" sz="2200" dirty="0">
                <a:solidFill>
                  <a:srgbClr val="1A1F36"/>
                </a:solidFill>
                <a:latin typeface="Verdana" pitchFamily="34" charset="0"/>
                <a:ea typeface="Verdana" pitchFamily="34" charset="-122"/>
                <a:cs typeface="Verdana" pitchFamily="34" charset="-120"/>
              </a:rPr>
              <a:t>— enforced.</a:t>
            </a:r>
            <a:endParaRPr lang="en-US" sz="2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We never write a single</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line of code manually.</a:t>
            </a:r>
            <a:endParaRPr lang="en-US" sz="4400" dirty="0"/>
          </a:p>
        </p:txBody>
      </p:sp>
      <p:sp>
        <p:nvSpPr>
          <p:cNvPr id="4" name="Text 2"/>
          <p:cNvSpPr/>
          <p:nvPr/>
        </p:nvSpPr>
        <p:spPr>
          <a:xfrm>
            <a:off x="1371600" y="3657600"/>
            <a:ext cx="6400800" cy="731520"/>
          </a:xfrm>
          <a:prstGeom prst="rect">
            <a:avLst/>
          </a:prstGeom>
          <a:noFill/>
          <a:ln/>
        </p:spPr>
        <p:txBody>
          <a:bodyPr wrap="square" lIns="0" tIns="0" rIns="0" bIns="0" rtlCol="0" anchor="t"/>
          <a:lstStyle/>
          <a:p>
            <a:pPr algn="ctr" indent="0" marL="0">
              <a:buNone/>
            </a:pPr>
            <a:r>
              <a:rPr lang="en-US" sz="2800" dirty="0">
                <a:solidFill>
                  <a:srgbClr val="8B95A5"/>
                </a:solidFill>
                <a:latin typeface="Verdana" pitchFamily="34" charset="0"/>
                <a:ea typeface="Verdana" pitchFamily="34" charset="-122"/>
                <a:cs typeface="Verdana" pitchFamily="34" charset="-120"/>
              </a:rPr>
              <a:t>This forces the investment.</a:t>
            </a:r>
            <a:endParaRPr lang="en-US"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1280160"/>
            <a:ext cx="2560320" cy="731520"/>
          </a:xfrm>
          <a:prstGeom prst="rect">
            <a:avLst/>
          </a:prstGeom>
          <a:noFill/>
          <a:ln/>
        </p:spPr>
        <p:txBody>
          <a:bodyPr wrap="square" lIns="0" tIns="0" rIns="0" bIns="0" rtlCol="0" anchor="b"/>
          <a:lstStyle/>
          <a:p>
            <a:pPr algn="ctr" indent="0" marL="0">
              <a:buNone/>
            </a:pPr>
            <a:r>
              <a:rPr lang="en-US" sz="2800" b="1" dirty="0">
                <a:solidFill>
                  <a:srgbClr val="635BFF"/>
                </a:solidFill>
                <a:latin typeface="Georgia" pitchFamily="34" charset="0"/>
                <a:ea typeface="Georgia" pitchFamily="34" charset="-122"/>
                <a:cs typeface="Georgia" pitchFamily="34" charset="-120"/>
              </a:rPr>
              <a:t>Perfect Context</a:t>
            </a:r>
            <a:endParaRPr lang="en-US" sz="2800" dirty="0"/>
          </a:p>
        </p:txBody>
      </p:sp>
      <p:sp>
        <p:nvSpPr>
          <p:cNvPr id="4" name="Text 2"/>
          <p:cNvSpPr/>
          <p:nvPr/>
        </p:nvSpPr>
        <p:spPr>
          <a:xfrm>
            <a:off x="457200" y="2194560"/>
            <a:ext cx="2560320" cy="1463040"/>
          </a:xfrm>
          <a:prstGeom prst="rect">
            <a:avLst/>
          </a:prstGeom>
          <a:noFill/>
          <a:ln/>
        </p:spPr>
        <p:txBody>
          <a:bodyPr wrap="square" lIns="0" tIns="0" rIns="0" bIns="0" rtlCol="0" anchor="t"/>
          <a:lstStyle/>
          <a:p>
            <a:pPr algn="ctr" indent="0" marL="0">
              <a:buNone/>
            </a:pPr>
            <a:r>
              <a:rPr lang="en-US" sz="2200" dirty="0">
                <a:solidFill>
                  <a:srgbClr val="8B95A5"/>
                </a:solidFill>
                <a:latin typeface="Verdana" pitchFamily="34" charset="0"/>
                <a:ea typeface="Verdana" pitchFamily="34" charset="-122"/>
                <a:cs typeface="Verdana" pitchFamily="34" charset="-120"/>
              </a:rPr>
              <a:t>Not too little.</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Not too much.</a:t>
            </a:r>
            <a:endParaRPr lang="en-US" sz="2200" dirty="0"/>
          </a:p>
        </p:txBody>
      </p:sp>
      <p:sp>
        <p:nvSpPr>
          <p:cNvPr id="5" name="Text 3"/>
          <p:cNvSpPr/>
          <p:nvPr/>
        </p:nvSpPr>
        <p:spPr>
          <a:xfrm>
            <a:off x="3383280" y="1280160"/>
            <a:ext cx="2560320" cy="731520"/>
          </a:xfrm>
          <a:prstGeom prst="rect">
            <a:avLst/>
          </a:prstGeom>
          <a:noFill/>
          <a:ln/>
        </p:spPr>
        <p:txBody>
          <a:bodyPr wrap="square" lIns="0" tIns="0" rIns="0" bIns="0" rtlCol="0" anchor="b"/>
          <a:lstStyle/>
          <a:p>
            <a:pPr algn="ctr" indent="0" marL="0">
              <a:buNone/>
            </a:pPr>
            <a:r>
              <a:rPr lang="en-US" sz="2800" b="1" dirty="0">
                <a:solidFill>
                  <a:srgbClr val="635BFF"/>
                </a:solidFill>
                <a:latin typeface="Georgia" pitchFamily="34" charset="0"/>
                <a:ea typeface="Georgia" pitchFamily="34" charset="-122"/>
                <a:cs typeface="Georgia" pitchFamily="34" charset="-120"/>
              </a:rPr>
              <a:t>Always Grounded</a:t>
            </a:r>
            <a:endParaRPr lang="en-US" sz="2800" dirty="0"/>
          </a:p>
        </p:txBody>
      </p:sp>
      <p:sp>
        <p:nvSpPr>
          <p:cNvPr id="6" name="Text 4"/>
          <p:cNvSpPr/>
          <p:nvPr/>
        </p:nvSpPr>
        <p:spPr>
          <a:xfrm>
            <a:off x="3383280" y="2194560"/>
            <a:ext cx="2560320" cy="1463040"/>
          </a:xfrm>
          <a:prstGeom prst="rect">
            <a:avLst/>
          </a:prstGeom>
          <a:noFill/>
          <a:ln/>
        </p:spPr>
        <p:txBody>
          <a:bodyPr wrap="square" lIns="0" tIns="0" rIns="0" bIns="0" rtlCol="0" anchor="t"/>
          <a:lstStyle/>
          <a:p>
            <a:pPr algn="ctr" indent="0" marL="0">
              <a:buNone/>
            </a:pPr>
            <a:r>
              <a:rPr lang="en-US" sz="2200" dirty="0">
                <a:solidFill>
                  <a:srgbClr val="8B95A5"/>
                </a:solidFill>
                <a:latin typeface="Verdana" pitchFamily="34" charset="0"/>
                <a:ea typeface="Verdana" pitchFamily="34" charset="-122"/>
                <a:cs typeface="Verdana" pitchFamily="34" charset="-120"/>
              </a:rPr>
              <a:t>Live data.</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No silent gaps.</a:t>
            </a:r>
            <a:endParaRPr lang="en-US" sz="2200" dirty="0"/>
          </a:p>
        </p:txBody>
      </p:sp>
      <p:sp>
        <p:nvSpPr>
          <p:cNvPr id="7" name="Text 5"/>
          <p:cNvSpPr/>
          <p:nvPr/>
        </p:nvSpPr>
        <p:spPr>
          <a:xfrm>
            <a:off x="6309360" y="1280160"/>
            <a:ext cx="2560320" cy="731520"/>
          </a:xfrm>
          <a:prstGeom prst="rect">
            <a:avLst/>
          </a:prstGeom>
          <a:noFill/>
          <a:ln/>
        </p:spPr>
        <p:txBody>
          <a:bodyPr wrap="square" lIns="0" tIns="0" rIns="0" bIns="0" rtlCol="0" anchor="b"/>
          <a:lstStyle/>
          <a:p>
            <a:pPr algn="ctr" indent="0" marL="0">
              <a:buNone/>
            </a:pPr>
            <a:r>
              <a:rPr lang="en-US" sz="2800" b="1" dirty="0">
                <a:solidFill>
                  <a:srgbClr val="635BFF"/>
                </a:solidFill>
                <a:latin typeface="Georgia" pitchFamily="34" charset="0"/>
                <a:ea typeface="Georgia" pitchFamily="34" charset="-122"/>
                <a:cs typeface="Georgia" pitchFamily="34" charset="-120"/>
              </a:rPr>
              <a:t>Gated Workflow</a:t>
            </a:r>
            <a:endParaRPr lang="en-US" sz="2800" dirty="0"/>
          </a:p>
        </p:txBody>
      </p:sp>
      <p:sp>
        <p:nvSpPr>
          <p:cNvPr id="8" name="Text 6"/>
          <p:cNvSpPr/>
          <p:nvPr/>
        </p:nvSpPr>
        <p:spPr>
          <a:xfrm>
            <a:off x="6309360" y="2194560"/>
            <a:ext cx="2560320" cy="1463040"/>
          </a:xfrm>
          <a:prstGeom prst="rect">
            <a:avLst/>
          </a:prstGeom>
          <a:noFill/>
          <a:ln/>
        </p:spPr>
        <p:txBody>
          <a:bodyPr wrap="square" lIns="0" tIns="0" rIns="0" bIns="0" rtlCol="0" anchor="t"/>
          <a:lstStyle/>
          <a:p>
            <a:pPr algn="ctr" indent="0" marL="0">
              <a:buNone/>
            </a:pPr>
            <a:r>
              <a:rPr lang="en-US" sz="2200" dirty="0">
                <a:solidFill>
                  <a:srgbClr val="8B95A5"/>
                </a:solidFill>
                <a:latin typeface="Verdana" pitchFamily="34" charset="0"/>
                <a:ea typeface="Verdana" pitchFamily="34" charset="-122"/>
                <a:cs typeface="Verdana" pitchFamily="34" charset="-120"/>
              </a:rPr>
              <a:t>Stages, not yolo.</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Two layers of verification.</a:t>
            </a:r>
            <a:endParaRPr lang="en-US" sz="2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2743200" y="822960"/>
            <a:ext cx="3657600" cy="457200"/>
          </a:xfrm>
          <a:prstGeom prst="rect">
            <a:avLst/>
          </a:prstGeom>
          <a:noFill/>
          <a:ln/>
        </p:spPr>
        <p:txBody>
          <a:bodyPr wrap="square" lIns="0" tIns="0" rIns="0" bIns="0" rtlCol="0" anchor="b"/>
          <a:lstStyle/>
          <a:p>
            <a:pPr algn="ctr" indent="0" marL="0">
              <a:buNone/>
            </a:pPr>
            <a:r>
              <a:rPr lang="en-US" sz="1800" i="1" dirty="0">
                <a:solidFill>
                  <a:srgbClr val="8B95A5"/>
                </a:solidFill>
                <a:latin typeface="Verdana" pitchFamily="34" charset="0"/>
                <a:ea typeface="Verdana" pitchFamily="34" charset="-122"/>
                <a:cs typeface="Verdana" pitchFamily="34" charset="-120"/>
              </a:rPr>
              <a:t>the approach</a:t>
            </a:r>
            <a:endParaRPr lang="en-US" sz="1800" dirty="0"/>
          </a:p>
        </p:txBody>
      </p:sp>
      <p:sp>
        <p:nvSpPr>
          <p:cNvPr id="4" name="Shape 2"/>
          <p:cNvSpPr/>
          <p:nvPr/>
        </p:nvSpPr>
        <p:spPr>
          <a:xfrm>
            <a:off x="2743200" y="1371600"/>
            <a:ext cx="3657600" cy="731520"/>
          </a:xfrm>
          <a:prstGeom prst="roundRect">
            <a:avLst>
              <a:gd name="adj" fmla="val 10000"/>
            </a:avLst>
          </a:prstGeom>
          <a:solidFill>
            <a:srgbClr val="0A2540"/>
          </a:solidFill>
          <a:ln w="31750">
            <a:solidFill>
              <a:srgbClr val="635BFF"/>
            </a:solidFill>
            <a:prstDash val="solid"/>
          </a:ln>
        </p:spPr>
      </p:sp>
      <p:sp>
        <p:nvSpPr>
          <p:cNvPr id="5" name="Text 3"/>
          <p:cNvSpPr/>
          <p:nvPr/>
        </p:nvSpPr>
        <p:spPr>
          <a:xfrm>
            <a:off x="2743200" y="1371600"/>
            <a:ext cx="365760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Gated Workflow</a:t>
            </a:r>
            <a:endParaRPr lang="en-US" sz="2800" dirty="0"/>
          </a:p>
        </p:txBody>
      </p:sp>
      <p:sp>
        <p:nvSpPr>
          <p:cNvPr id="6" name="Text 4"/>
          <p:cNvSpPr/>
          <p:nvPr/>
        </p:nvSpPr>
        <p:spPr>
          <a:xfrm>
            <a:off x="3657600" y="2240280"/>
            <a:ext cx="1828800" cy="457200"/>
          </a:xfrm>
          <a:prstGeom prst="rect">
            <a:avLst/>
          </a:prstGeom>
          <a:noFill/>
          <a:ln/>
        </p:spPr>
        <p:txBody>
          <a:bodyPr wrap="square" lIns="0" tIns="0" rIns="0" bIns="0" rtlCol="0" anchor="ctr"/>
          <a:lstStyle/>
          <a:p>
            <a:pPr algn="ctr" indent="0" marL="0">
              <a:buNone/>
            </a:pPr>
            <a:r>
              <a:rPr lang="en-US" sz="2800" b="1" dirty="0">
                <a:solidFill>
                  <a:srgbClr val="635BFF"/>
                </a:solidFill>
                <a:latin typeface="Verdana" pitchFamily="34" charset="0"/>
                <a:ea typeface="Verdana" pitchFamily="34" charset="-122"/>
                <a:cs typeface="Verdana" pitchFamily="34" charset="-120"/>
              </a:rPr>
              <a:t>↑</a:t>
            </a:r>
            <a:endParaRPr lang="en-US" sz="2800" dirty="0"/>
          </a:p>
        </p:txBody>
      </p:sp>
      <p:sp>
        <p:nvSpPr>
          <p:cNvPr id="7" name="Shape 5"/>
          <p:cNvSpPr/>
          <p:nvPr/>
        </p:nvSpPr>
        <p:spPr>
          <a:xfrm>
            <a:off x="914400" y="2834640"/>
            <a:ext cx="2194560" cy="731520"/>
          </a:xfrm>
          <a:prstGeom prst="roundRect">
            <a:avLst>
              <a:gd name="adj" fmla="val 10000"/>
            </a:avLst>
          </a:prstGeom>
          <a:solidFill>
            <a:srgbClr val="0A2540"/>
          </a:solidFill>
          <a:ln w="19050">
            <a:solidFill>
              <a:srgbClr val="8B95A5"/>
            </a:solidFill>
            <a:prstDash val="solid"/>
          </a:ln>
        </p:spPr>
      </p:sp>
      <p:sp>
        <p:nvSpPr>
          <p:cNvPr id="8" name="Text 6"/>
          <p:cNvSpPr/>
          <p:nvPr/>
        </p:nvSpPr>
        <p:spPr>
          <a:xfrm>
            <a:off x="914400" y="2834640"/>
            <a:ext cx="2194560" cy="731520"/>
          </a:xfrm>
          <a:prstGeom prst="rect">
            <a:avLst/>
          </a:prstGeom>
          <a:noFill/>
          <a:ln/>
        </p:spPr>
        <p:txBody>
          <a:bodyPr wrap="square" lIns="0" tIns="0" rIns="0" bIns="0" rtlCol="0" anchor="ctr"/>
          <a:lstStyle/>
          <a:p>
            <a:pPr algn="ctr" indent="0" marL="0">
              <a:buNone/>
            </a:pPr>
            <a:r>
              <a:rPr lang="en-US" sz="2400" b="1" dirty="0">
                <a:solidFill>
                  <a:srgbClr val="8B95A5"/>
                </a:solidFill>
                <a:latin typeface="Georgia" pitchFamily="34" charset="0"/>
                <a:ea typeface="Georgia" pitchFamily="34" charset="-122"/>
                <a:cs typeface="Georgia" pitchFamily="34" charset="-120"/>
              </a:rPr>
              <a:t>Rules</a:t>
            </a:r>
            <a:endParaRPr lang="en-US" sz="2400" dirty="0"/>
          </a:p>
        </p:txBody>
      </p:sp>
      <p:sp>
        <p:nvSpPr>
          <p:cNvPr id="9" name="Shape 7"/>
          <p:cNvSpPr/>
          <p:nvPr/>
        </p:nvSpPr>
        <p:spPr>
          <a:xfrm>
            <a:off x="3474720" y="2834640"/>
            <a:ext cx="2194560" cy="731520"/>
          </a:xfrm>
          <a:prstGeom prst="roundRect">
            <a:avLst>
              <a:gd name="adj" fmla="val 10000"/>
            </a:avLst>
          </a:prstGeom>
          <a:solidFill>
            <a:srgbClr val="0A2540"/>
          </a:solidFill>
          <a:ln w="19050">
            <a:solidFill>
              <a:srgbClr val="8B95A5"/>
            </a:solidFill>
            <a:prstDash val="solid"/>
          </a:ln>
        </p:spPr>
      </p:sp>
      <p:sp>
        <p:nvSpPr>
          <p:cNvPr id="10" name="Text 8"/>
          <p:cNvSpPr/>
          <p:nvPr/>
        </p:nvSpPr>
        <p:spPr>
          <a:xfrm>
            <a:off x="3474720" y="2834640"/>
            <a:ext cx="2194560" cy="731520"/>
          </a:xfrm>
          <a:prstGeom prst="rect">
            <a:avLst/>
          </a:prstGeom>
          <a:noFill/>
          <a:ln/>
        </p:spPr>
        <p:txBody>
          <a:bodyPr wrap="square" lIns="0" tIns="0" rIns="0" bIns="0" rtlCol="0" anchor="ctr"/>
          <a:lstStyle/>
          <a:p>
            <a:pPr algn="ctr" indent="0" marL="0">
              <a:buNone/>
            </a:pPr>
            <a:r>
              <a:rPr lang="en-US" sz="2400" b="1" dirty="0">
                <a:solidFill>
                  <a:srgbClr val="8B95A5"/>
                </a:solidFill>
                <a:latin typeface="Georgia" pitchFamily="34" charset="0"/>
                <a:ea typeface="Georgia" pitchFamily="34" charset="-122"/>
                <a:cs typeface="Georgia" pitchFamily="34" charset="-120"/>
              </a:rPr>
              <a:t>MCP Servers</a:t>
            </a:r>
            <a:endParaRPr lang="en-US" sz="2400" dirty="0"/>
          </a:p>
        </p:txBody>
      </p:sp>
      <p:sp>
        <p:nvSpPr>
          <p:cNvPr id="11" name="Shape 9"/>
          <p:cNvSpPr/>
          <p:nvPr/>
        </p:nvSpPr>
        <p:spPr>
          <a:xfrm>
            <a:off x="6035040" y="2834640"/>
            <a:ext cx="2194560" cy="731520"/>
          </a:xfrm>
          <a:prstGeom prst="roundRect">
            <a:avLst>
              <a:gd name="adj" fmla="val 10000"/>
            </a:avLst>
          </a:prstGeom>
          <a:solidFill>
            <a:srgbClr val="0A2540"/>
          </a:solidFill>
          <a:ln w="19050">
            <a:solidFill>
              <a:srgbClr val="8B95A5"/>
            </a:solidFill>
            <a:prstDash val="solid"/>
          </a:ln>
        </p:spPr>
      </p:sp>
      <p:sp>
        <p:nvSpPr>
          <p:cNvPr id="12" name="Text 10"/>
          <p:cNvSpPr/>
          <p:nvPr/>
        </p:nvSpPr>
        <p:spPr>
          <a:xfrm>
            <a:off x="6035040" y="2834640"/>
            <a:ext cx="2194560" cy="731520"/>
          </a:xfrm>
          <a:prstGeom prst="rect">
            <a:avLst/>
          </a:prstGeom>
          <a:noFill/>
          <a:ln/>
        </p:spPr>
        <p:txBody>
          <a:bodyPr wrap="square" lIns="0" tIns="0" rIns="0" bIns="0" rtlCol="0" anchor="ctr"/>
          <a:lstStyle/>
          <a:p>
            <a:pPr algn="ctr" indent="0" marL="0">
              <a:buNone/>
            </a:pPr>
            <a:r>
              <a:rPr lang="en-US" sz="2400" b="1" dirty="0">
                <a:solidFill>
                  <a:srgbClr val="8B95A5"/>
                </a:solidFill>
                <a:latin typeface="Georgia" pitchFamily="34" charset="0"/>
                <a:ea typeface="Georgia" pitchFamily="34" charset="-122"/>
                <a:cs typeface="Georgia" pitchFamily="34" charset="-120"/>
              </a:rPr>
              <a:t>Skills</a:t>
            </a:r>
            <a:endParaRPr lang="en-US" sz="2400" dirty="0"/>
          </a:p>
        </p:txBody>
      </p:sp>
      <p:sp>
        <p:nvSpPr>
          <p:cNvPr id="13" name="Text 11"/>
          <p:cNvSpPr/>
          <p:nvPr/>
        </p:nvSpPr>
        <p:spPr>
          <a:xfrm>
            <a:off x="2743200" y="3657600"/>
            <a:ext cx="3657600" cy="457200"/>
          </a:xfrm>
          <a:prstGeom prst="rect">
            <a:avLst/>
          </a:prstGeom>
          <a:noFill/>
          <a:ln/>
        </p:spPr>
        <p:txBody>
          <a:bodyPr wrap="square" lIns="0" tIns="0" rIns="0" bIns="0" rtlCol="0" anchor="t"/>
          <a:lstStyle/>
          <a:p>
            <a:pPr algn="ctr" indent="0" marL="0">
              <a:buNone/>
            </a:pPr>
            <a:r>
              <a:rPr lang="en-US" sz="1800" i="1" dirty="0">
                <a:solidFill>
                  <a:srgbClr val="8B95A5"/>
                </a:solidFill>
                <a:latin typeface="Verdana" pitchFamily="34" charset="0"/>
                <a:ea typeface="Verdana" pitchFamily="34" charset="-122"/>
                <a:cs typeface="Verdana" pitchFamily="34" charset="-120"/>
              </a:rPr>
              <a:t>the tools</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1371600" y="1828800"/>
            <a:ext cx="6400800" cy="1463040"/>
          </a:xfrm>
          <a:prstGeom prst="rect">
            <a:avLst/>
          </a:prstGeom>
          <a:noFill/>
          <a:ln/>
        </p:spPr>
        <p:txBody>
          <a:bodyPr wrap="square" lIns="0" tIns="0" rIns="0" bIns="0" rtlCol="0" anchor="ctr"/>
          <a:lstStyle/>
          <a:p>
            <a:pPr algn="ctr" indent="0" marL="0">
              <a:buNone/>
            </a:pPr>
            <a:r>
              <a:rPr lang="en-US" sz="2800" i="1" dirty="0">
                <a:solidFill>
                  <a:srgbClr val="635BFF"/>
                </a:solidFill>
                <a:latin typeface="Georgia" pitchFamily="34" charset="0"/>
                <a:ea typeface="Georgia" pitchFamily="34" charset="-122"/>
                <a:cs typeface="Georgia" pitchFamily="34" charset="-120"/>
              </a:rPr>
              <a:t>Let’s start with the tools.</a:t>
            </a:r>
            <a:endParaRPr lang="en-US"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1463040"/>
            <a:ext cx="8229600" cy="1097280"/>
          </a:xfrm>
          <a:prstGeom prst="rect">
            <a:avLst/>
          </a:prstGeom>
          <a:noFill/>
          <a:ln/>
        </p:spPr>
        <p:txBody>
          <a:bodyPr wrap="square" lIns="0" tIns="0" rIns="0" bIns="0" rtlCol="0" anchor="ctr"/>
          <a:lstStyle/>
          <a:p>
            <a:pPr algn="ctr" indent="0" marL="0">
              <a:buNone/>
            </a:pPr>
            <a:r>
              <a:rPr lang="en-US" sz="5400" b="1" dirty="0">
                <a:solidFill>
                  <a:srgbClr val="FFFFFF"/>
                </a:solidFill>
                <a:latin typeface="Georgia" pitchFamily="34" charset="0"/>
                <a:ea typeface="Georgia" pitchFamily="34" charset="-122"/>
                <a:cs typeface="Georgia" pitchFamily="34" charset="-120"/>
              </a:rPr>
              <a:t>MCP Servers</a:t>
            </a:r>
            <a:endParaRPr lang="en-US" sz="5400" dirty="0"/>
          </a:p>
        </p:txBody>
      </p:sp>
      <p:sp>
        <p:nvSpPr>
          <p:cNvPr id="4" name="Text 2"/>
          <p:cNvSpPr/>
          <p:nvPr/>
        </p:nvSpPr>
        <p:spPr>
          <a:xfrm>
            <a:off x="914400" y="2651760"/>
            <a:ext cx="7315200" cy="548640"/>
          </a:xfrm>
          <a:prstGeom prst="rect">
            <a:avLst/>
          </a:prstGeom>
          <a:noFill/>
          <a:ln/>
        </p:spPr>
        <p:txBody>
          <a:bodyPr wrap="square" lIns="0" tIns="0" rIns="0" bIns="0" rtlCol="0" anchor="ctr"/>
          <a:lstStyle/>
          <a:p>
            <a:pPr algn="ctr" indent="0" marL="0">
              <a:buNone/>
            </a:pPr>
            <a:r>
              <a:rPr lang="en-US" sz="2800" i="1" dirty="0">
                <a:solidFill>
                  <a:srgbClr val="635BFF"/>
                </a:solidFill>
                <a:latin typeface="Verdana" pitchFamily="34" charset="0"/>
                <a:ea typeface="Verdana" pitchFamily="34" charset="-122"/>
                <a:cs typeface="Verdana" pitchFamily="34" charset="-120"/>
              </a:rPr>
              <a:t>New capabilities for the agent</a:t>
            </a:r>
            <a:endParaRPr lang="en-US" sz="2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5400" b="1" dirty="0">
                <a:solidFill>
                  <a:srgbClr val="FFFFFF"/>
                </a:solidFill>
                <a:latin typeface="Georgia" pitchFamily="34" charset="0"/>
                <a:ea typeface="Georgia" pitchFamily="34" charset="-122"/>
                <a:cs typeface="Georgia" pitchFamily="34" charset="-120"/>
              </a:rPr>
              <a:t>Connect a server.</a:t>
            </a:r>
            <a:endParaRPr lang="en-US" sz="5400" dirty="0"/>
          </a:p>
          <a:p>
            <a:pPr algn="ctr" indent="0" marL="0">
              <a:buNone/>
            </a:pPr>
            <a:r>
              <a:rPr lang="en-US" sz="5400" b="1" dirty="0">
                <a:solidFill>
                  <a:srgbClr val="FFFFFF"/>
                </a:solidFill>
                <a:latin typeface="Georgia" pitchFamily="34" charset="0"/>
                <a:ea typeface="Georgia" pitchFamily="34" charset="-122"/>
                <a:cs typeface="Georgia" pitchFamily="34" charset="-120"/>
              </a:rPr>
              <a:t>Gain a capability.</a:t>
            </a:r>
            <a:endParaRPr lang="en-US" sz="5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914400"/>
            <a:ext cx="7315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Context7</a:t>
            </a:r>
            <a:endParaRPr lang="en-US" sz="4400" dirty="0"/>
          </a:p>
        </p:txBody>
      </p:sp>
      <p:sp>
        <p:nvSpPr>
          <p:cNvPr id="4" name="Text 2"/>
          <p:cNvSpPr/>
          <p:nvPr/>
        </p:nvSpPr>
        <p:spPr>
          <a:xfrm>
            <a:off x="1371600" y="2194560"/>
            <a:ext cx="6400800" cy="1097280"/>
          </a:xfrm>
          <a:prstGeom prst="rect">
            <a:avLst/>
          </a:prstGeom>
          <a:noFill/>
          <a:ln/>
        </p:spPr>
        <p:txBody>
          <a:bodyPr wrap="square" lIns="0" tIns="0" rIns="0" bIns="0" rtlCol="0" anchor="t"/>
          <a:lstStyle/>
          <a:p>
            <a:pPr algn="ctr" indent="0" marL="0">
              <a:buNone/>
            </a:pPr>
            <a:r>
              <a:rPr lang="en-US" sz="2800" dirty="0">
                <a:solidFill>
                  <a:srgbClr val="8B95A5"/>
                </a:solidFill>
                <a:latin typeface="Verdana" pitchFamily="34" charset="0"/>
                <a:ea typeface="Verdana" pitchFamily="34" charset="-122"/>
                <a:cs typeface="Verdana" pitchFamily="34" charset="-120"/>
              </a:rPr>
              <a:t>Live docs at prompt time.</a:t>
            </a:r>
            <a:endParaRPr lang="en-US" sz="2800" dirty="0"/>
          </a:p>
          <a:p>
            <a:pPr algn="ctr" indent="0" marL="0">
              <a:buNone/>
            </a:pPr>
            <a:r>
              <a:rPr lang="en-US" sz="2800" dirty="0">
                <a:solidFill>
                  <a:srgbClr val="8B95A5"/>
                </a:solidFill>
                <a:latin typeface="Verdana" pitchFamily="34" charset="0"/>
                <a:ea typeface="Verdana" pitchFamily="34" charset="-122"/>
                <a:cs typeface="Verdana" pitchFamily="34" charset="-120"/>
              </a:rPr>
              <a:t>No hallucinated APIs.</a:t>
            </a:r>
            <a:endParaRPr lang="en-US" sz="2800" dirty="0"/>
          </a:p>
        </p:txBody>
      </p:sp>
      <p:sp>
        <p:nvSpPr>
          <p:cNvPr id="5" name="Text 3"/>
          <p:cNvSpPr/>
          <p:nvPr/>
        </p:nvSpPr>
        <p:spPr>
          <a:xfrm>
            <a:off x="5943600" y="4389120"/>
            <a:ext cx="2743200" cy="365760"/>
          </a:xfrm>
          <a:prstGeom prst="rect">
            <a:avLst/>
          </a:prstGeom>
          <a:noFill/>
          <a:ln/>
        </p:spPr>
        <p:txBody>
          <a:bodyPr wrap="square" lIns="0" tIns="0" rIns="0" bIns="0" rtlCol="0" anchor="ctr"/>
          <a:lstStyle/>
          <a:p>
            <a:pPr algn="r" indent="0" marL="0">
              <a:buNone/>
            </a:pPr>
            <a:r>
              <a:rPr lang="en-US" sz="1600" i="1" dirty="0">
                <a:solidFill>
                  <a:srgbClr val="635BFF"/>
                </a:solidFill>
                <a:latin typeface="Verdana" pitchFamily="34" charset="0"/>
                <a:ea typeface="Verdana" pitchFamily="34" charset="-122"/>
                <a:cs typeface="Verdana" pitchFamily="34" charset="-120"/>
              </a:rPr>
              <a:t>always grounded</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914400"/>
            <a:ext cx="7315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Language Servers</a:t>
            </a:r>
            <a:endParaRPr lang="en-US" sz="4400" dirty="0"/>
          </a:p>
        </p:txBody>
      </p:sp>
      <p:sp>
        <p:nvSpPr>
          <p:cNvPr id="4" name="Text 2"/>
          <p:cNvSpPr/>
          <p:nvPr/>
        </p:nvSpPr>
        <p:spPr>
          <a:xfrm>
            <a:off x="1371600" y="2194560"/>
            <a:ext cx="6400800" cy="1097280"/>
          </a:xfrm>
          <a:prstGeom prst="rect">
            <a:avLst/>
          </a:prstGeom>
          <a:noFill/>
          <a:ln/>
        </p:spPr>
        <p:txBody>
          <a:bodyPr wrap="square" lIns="0" tIns="0" rIns="0" bIns="0" rtlCol="0" anchor="t"/>
          <a:lstStyle/>
          <a:p>
            <a:pPr algn="ctr" indent="0" marL="0">
              <a:buNone/>
            </a:pPr>
            <a:r>
              <a:rPr lang="en-US" sz="2800" dirty="0">
                <a:solidFill>
                  <a:srgbClr val="8B95A5"/>
                </a:solidFill>
                <a:latin typeface="Verdana" pitchFamily="34" charset="0"/>
                <a:ea typeface="Verdana" pitchFamily="34" charset="-122"/>
                <a:cs typeface="Verdana" pitchFamily="34" charset="-120"/>
              </a:rPr>
              <a:t>Compiler-level code navigation.</a:t>
            </a:r>
            <a:endParaRPr lang="en-US" sz="2800" dirty="0"/>
          </a:p>
          <a:p>
            <a:pPr algn="ctr" indent="0" marL="0">
              <a:buNone/>
            </a:pPr>
            <a:r>
              <a:rPr lang="en-US" sz="2800" dirty="0">
                <a:solidFill>
                  <a:srgbClr val="8B95A5"/>
                </a:solidFill>
                <a:latin typeface="Verdana" pitchFamily="34" charset="0"/>
                <a:ea typeface="Verdana" pitchFamily="34" charset="-122"/>
                <a:cs typeface="Verdana" pitchFamily="34" charset="-120"/>
              </a:rPr>
              <a:t>Not grep.</a:t>
            </a:r>
            <a:endParaRPr lang="en-US" sz="2800" dirty="0"/>
          </a:p>
        </p:txBody>
      </p:sp>
      <p:sp>
        <p:nvSpPr>
          <p:cNvPr id="5" name="Text 3"/>
          <p:cNvSpPr/>
          <p:nvPr/>
        </p:nvSpPr>
        <p:spPr>
          <a:xfrm>
            <a:off x="5943600" y="4389120"/>
            <a:ext cx="2743200" cy="365760"/>
          </a:xfrm>
          <a:prstGeom prst="rect">
            <a:avLst/>
          </a:prstGeom>
          <a:noFill/>
          <a:ln/>
        </p:spPr>
        <p:txBody>
          <a:bodyPr wrap="square" lIns="0" tIns="0" rIns="0" bIns="0" rtlCol="0" anchor="ctr"/>
          <a:lstStyle/>
          <a:p>
            <a:pPr algn="r" indent="0" marL="0">
              <a:buNone/>
            </a:pPr>
            <a:r>
              <a:rPr lang="en-US" sz="1600" i="1" dirty="0">
                <a:solidFill>
                  <a:srgbClr val="635BFF"/>
                </a:solidFill>
                <a:latin typeface="Verdana" pitchFamily="34" charset="0"/>
                <a:ea typeface="Verdana" pitchFamily="34" charset="-122"/>
                <a:cs typeface="Verdana" pitchFamily="34" charset="-120"/>
              </a:rPr>
              <a:t>perfect context</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914400"/>
            <a:ext cx="7315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Firecrawl</a:t>
            </a:r>
            <a:endParaRPr lang="en-US" sz="4400" dirty="0"/>
          </a:p>
        </p:txBody>
      </p:sp>
      <p:sp>
        <p:nvSpPr>
          <p:cNvPr id="4" name="Text 2"/>
          <p:cNvSpPr/>
          <p:nvPr/>
        </p:nvSpPr>
        <p:spPr>
          <a:xfrm>
            <a:off x="1371600" y="2194560"/>
            <a:ext cx="6400800" cy="1097280"/>
          </a:xfrm>
          <a:prstGeom prst="rect">
            <a:avLst/>
          </a:prstGeom>
          <a:noFill/>
          <a:ln/>
        </p:spPr>
        <p:txBody>
          <a:bodyPr wrap="square" lIns="0" tIns="0" rIns="0" bIns="0" rtlCol="0" anchor="t"/>
          <a:lstStyle/>
          <a:p>
            <a:pPr algn="ctr" indent="0" marL="0">
              <a:buNone/>
            </a:pPr>
            <a:r>
              <a:rPr lang="en-US" sz="2800" dirty="0">
                <a:solidFill>
                  <a:srgbClr val="8B95A5"/>
                </a:solidFill>
                <a:latin typeface="Verdana" pitchFamily="34" charset="0"/>
                <a:ea typeface="Verdana" pitchFamily="34" charset="-122"/>
                <a:cs typeface="Verdana" pitchFamily="34" charset="-120"/>
              </a:rPr>
              <a:t>Reliable web access.</a:t>
            </a:r>
            <a:endParaRPr lang="en-US" sz="2800" dirty="0"/>
          </a:p>
          <a:p>
            <a:pPr algn="ctr" indent="0" marL="0">
              <a:buNone/>
            </a:pPr>
            <a:r>
              <a:rPr lang="en-US" sz="2800" dirty="0">
                <a:solidFill>
                  <a:srgbClr val="8B95A5"/>
                </a:solidFill>
                <a:latin typeface="Verdana" pitchFamily="34" charset="0"/>
                <a:ea typeface="Verdana" pitchFamily="34" charset="-122"/>
                <a:cs typeface="Verdana" pitchFamily="34" charset="-120"/>
              </a:rPr>
              <a:t>No silent gaps.</a:t>
            </a:r>
            <a:endParaRPr lang="en-US" sz="2800" dirty="0"/>
          </a:p>
        </p:txBody>
      </p:sp>
      <p:sp>
        <p:nvSpPr>
          <p:cNvPr id="5" name="Text 3"/>
          <p:cNvSpPr/>
          <p:nvPr/>
        </p:nvSpPr>
        <p:spPr>
          <a:xfrm>
            <a:off x="5943600" y="4389120"/>
            <a:ext cx="2743200" cy="365760"/>
          </a:xfrm>
          <a:prstGeom prst="rect">
            <a:avLst/>
          </a:prstGeom>
          <a:noFill/>
          <a:ln/>
        </p:spPr>
        <p:txBody>
          <a:bodyPr wrap="square" lIns="0" tIns="0" rIns="0" bIns="0" rtlCol="0" anchor="ctr"/>
          <a:lstStyle/>
          <a:p>
            <a:pPr algn="r" indent="0" marL="0">
              <a:buNone/>
            </a:pPr>
            <a:r>
              <a:rPr lang="en-US" sz="1600" i="1" dirty="0">
                <a:solidFill>
                  <a:srgbClr val="635BFF"/>
                </a:solidFill>
                <a:latin typeface="Verdana" pitchFamily="34" charset="0"/>
                <a:ea typeface="Verdana" pitchFamily="34" charset="-122"/>
                <a:cs typeface="Verdana" pitchFamily="34" charset="-120"/>
              </a:rPr>
              <a:t>always grounded</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1463040"/>
            <a:ext cx="8229600" cy="1097280"/>
          </a:xfrm>
          <a:prstGeom prst="rect">
            <a:avLst/>
          </a:prstGeom>
          <a:noFill/>
          <a:ln/>
        </p:spPr>
        <p:txBody>
          <a:bodyPr wrap="square" lIns="0" tIns="0" rIns="0" bIns="0" rtlCol="0" anchor="ctr"/>
          <a:lstStyle/>
          <a:p>
            <a:pPr algn="ctr" indent="0" marL="0">
              <a:buNone/>
            </a:pPr>
            <a:r>
              <a:rPr lang="en-US" sz="5400" b="1" dirty="0">
                <a:solidFill>
                  <a:srgbClr val="FFFFFF"/>
                </a:solidFill>
                <a:latin typeface="Georgia" pitchFamily="34" charset="0"/>
                <a:ea typeface="Georgia" pitchFamily="34" charset="-122"/>
                <a:cs typeface="Georgia" pitchFamily="34" charset="-120"/>
              </a:rPr>
              <a:t>Rules</a:t>
            </a:r>
            <a:endParaRPr lang="en-US" sz="5400" dirty="0"/>
          </a:p>
        </p:txBody>
      </p:sp>
      <p:sp>
        <p:nvSpPr>
          <p:cNvPr id="4" name="Text 2"/>
          <p:cNvSpPr/>
          <p:nvPr/>
        </p:nvSpPr>
        <p:spPr>
          <a:xfrm>
            <a:off x="914400" y="2651760"/>
            <a:ext cx="7315200" cy="548640"/>
          </a:xfrm>
          <a:prstGeom prst="rect">
            <a:avLst/>
          </a:prstGeom>
          <a:noFill/>
          <a:ln/>
        </p:spPr>
        <p:txBody>
          <a:bodyPr wrap="square" lIns="0" tIns="0" rIns="0" bIns="0" rtlCol="0" anchor="ctr"/>
          <a:lstStyle/>
          <a:p>
            <a:pPr algn="ctr" indent="0" marL="0">
              <a:buNone/>
            </a:pPr>
            <a:r>
              <a:rPr lang="en-US" sz="2800" i="1" dirty="0">
                <a:solidFill>
                  <a:srgbClr val="635BFF"/>
                </a:solidFill>
                <a:latin typeface="Verdana" pitchFamily="34" charset="0"/>
                <a:ea typeface="Verdana" pitchFamily="34" charset="-122"/>
                <a:cs typeface="Verdana" pitchFamily="34" charset="-120"/>
              </a:rPr>
              <a:t>Standing instructions, enforced automatically</a:t>
            </a:r>
            <a:endParaRPr lang="en-US" sz="2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Linter rules,</a:t>
            </a:r>
            <a:endParaRPr lang="en-US" sz="4000" dirty="0"/>
          </a:p>
          <a:p>
            <a:pPr algn="ctr" indent="0" marL="0">
              <a:buNone/>
            </a:pPr>
            <a:r>
              <a:rPr lang="en-US" sz="4000" b="1" dirty="0">
                <a:solidFill>
                  <a:srgbClr val="FFFFFF"/>
                </a:solidFill>
                <a:latin typeface="Georgia" pitchFamily="34" charset="0"/>
                <a:ea typeface="Georgia" pitchFamily="34" charset="-122"/>
                <a:cs typeface="Georgia" pitchFamily="34" charset="-120"/>
              </a:rPr>
              <a:t>but for the agent’s</a:t>
            </a:r>
            <a:endParaRPr lang="en-US" sz="4000" dirty="0"/>
          </a:p>
          <a:p>
            <a:pPr algn="ctr" indent="0" marL="0">
              <a:buNone/>
            </a:pPr>
            <a:r>
              <a:rPr lang="en-US" sz="4000" b="1" dirty="0">
                <a:solidFill>
                  <a:srgbClr val="FFFFFF"/>
                </a:solidFill>
                <a:latin typeface="Georgia" pitchFamily="34" charset="0"/>
                <a:ea typeface="Georgia" pitchFamily="34" charset="-122"/>
                <a:cs typeface="Georgia" pitchFamily="34" charset="-120"/>
              </a:rPr>
              <a:t>entire behavior.</a:t>
            </a:r>
            <a:endParaRPr lang="en-US" sz="4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731520" y="548640"/>
            <a:ext cx="7680960" cy="73152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Five rule files. Five concerns.</a:t>
            </a:r>
            <a:endParaRPr lang="en-US" sz="3600" dirty="0"/>
          </a:p>
        </p:txBody>
      </p:sp>
      <p:sp>
        <p:nvSpPr>
          <p:cNvPr id="4" name="Text 2"/>
          <p:cNvSpPr/>
          <p:nvPr/>
        </p:nvSpPr>
        <p:spPr>
          <a:xfrm>
            <a:off x="1097280" y="1463040"/>
            <a:ext cx="6949440" cy="3291840"/>
          </a:xfrm>
          <a:prstGeom prst="rect">
            <a:avLst/>
          </a:prstGeom>
          <a:noFill/>
          <a:ln/>
        </p:spPr>
        <p:txBody>
          <a:bodyPr wrap="square" lIns="0" tIns="0" rIns="0" bIns="0" rtlCol="0" anchor="t"/>
          <a:lstStyle/>
          <a:p>
            <a:pPr indent="0" marL="0">
              <a:buNone/>
            </a:pPr>
            <a:r>
              <a:rPr lang="en-US" sz="2200" b="1" dirty="0">
                <a:solidFill>
                  <a:srgbClr val="635BFF"/>
                </a:solidFill>
                <a:latin typeface="Verdana" pitchFamily="34" charset="0"/>
                <a:ea typeface="Verdana" pitchFamily="34" charset="-122"/>
                <a:cs typeface="Verdana" pitchFamily="34" charset="-120"/>
              </a:rPr>
              <a:t>Tool usage</a:t>
            </a:r>
            <a:endParaRPr lang="en-US" sz="2200" dirty="0"/>
          </a:p>
          <a:p>
            <a:pPr indent="0" marL="0">
              <a:buNone/>
            </a:pPr>
            <a:r>
              <a:rPr lang="en-US" sz="2200" dirty="0">
                <a:solidFill>
                  <a:srgbClr val="8B95A5"/>
                </a:solidFill>
                <a:latin typeface="Verdana" pitchFamily="34" charset="0"/>
                <a:ea typeface="Verdana" pitchFamily="34" charset="-122"/>
                <a:cs typeface="Verdana" pitchFamily="34" charset="-120"/>
              </a:rPr>
              <a:t>  fetch docs first, never WebFetch</a:t>
            </a:r>
            <a:endParaRPr lang="en-US" sz="2200" dirty="0"/>
          </a:p>
          <a:p>
            <a:pPr indent="0" marL="0">
              <a:buNone/>
            </a:pPr>
            <a:r>
              <a:rPr lang="en-US" sz="2200" b="1" dirty="0">
                <a:solidFill>
                  <a:srgbClr val="635BFF"/>
                </a:solidFill>
                <a:latin typeface="Verdana" pitchFamily="34" charset="0"/>
                <a:ea typeface="Verdana" pitchFamily="34" charset="-122"/>
                <a:cs typeface="Verdana" pitchFamily="34" charset="-120"/>
              </a:rPr>
              <a:t>Communication</a:t>
            </a:r>
            <a:endParaRPr lang="en-US" sz="2200" dirty="0"/>
          </a:p>
          <a:p>
            <a:pPr indent="0" marL="0">
              <a:buNone/>
            </a:pPr>
            <a:r>
              <a:rPr lang="en-US" sz="2200" dirty="0">
                <a:solidFill>
                  <a:srgbClr val="8B95A5"/>
                </a:solidFill>
                <a:latin typeface="Verdana" pitchFamily="34" charset="0"/>
                <a:ea typeface="Verdana" pitchFamily="34" charset="-122"/>
                <a:cs typeface="Verdana" pitchFamily="34" charset="-120"/>
              </a:rPr>
              <a:t>  radically honest, never guess</a:t>
            </a:r>
            <a:endParaRPr lang="en-US" sz="2200" dirty="0"/>
          </a:p>
          <a:p>
            <a:pPr indent="0" marL="0">
              <a:buNone/>
            </a:pPr>
            <a:r>
              <a:rPr lang="en-US" sz="2200" b="1" dirty="0">
                <a:solidFill>
                  <a:srgbClr val="635BFF"/>
                </a:solidFill>
                <a:latin typeface="Verdana" pitchFamily="34" charset="0"/>
                <a:ea typeface="Verdana" pitchFamily="34" charset="-122"/>
                <a:cs typeface="Verdana" pitchFamily="34" charset="-120"/>
              </a:rPr>
              <a:t>Coding</a:t>
            </a:r>
            <a:endParaRPr lang="en-US" sz="2200" dirty="0"/>
          </a:p>
          <a:p>
            <a:pPr indent="0" marL="0">
              <a:buNone/>
            </a:pPr>
            <a:r>
              <a:rPr lang="en-US" sz="2200" dirty="0">
                <a:solidFill>
                  <a:srgbClr val="8B95A5"/>
                </a:solidFill>
                <a:latin typeface="Verdana" pitchFamily="34" charset="0"/>
                <a:ea typeface="Verdana" pitchFamily="34" charset="-122"/>
                <a:cs typeface="Verdana" pitchFamily="34" charset="-120"/>
              </a:rPr>
              <a:t>  TDD, SOLID, self-describing code</a:t>
            </a:r>
            <a:endParaRPr lang="en-US" sz="2200" dirty="0"/>
          </a:p>
          <a:p>
            <a:pPr indent="0" marL="0">
              <a:buNone/>
            </a:pPr>
            <a:r>
              <a:rPr lang="en-US" sz="2200" b="1" dirty="0">
                <a:solidFill>
                  <a:srgbClr val="635BFF"/>
                </a:solidFill>
                <a:latin typeface="Verdana" pitchFamily="34" charset="0"/>
                <a:ea typeface="Verdana" pitchFamily="34" charset="-122"/>
                <a:cs typeface="Verdana" pitchFamily="34" charset="-120"/>
              </a:rPr>
              <a:t>Git workflow</a:t>
            </a:r>
            <a:endParaRPr lang="en-US" sz="2200" dirty="0"/>
          </a:p>
          <a:p>
            <a:pPr indent="0" marL="0">
              <a:buNone/>
            </a:pPr>
            <a:r>
              <a:rPr lang="en-US" sz="2200" dirty="0">
                <a:solidFill>
                  <a:srgbClr val="8B95A5"/>
                </a:solidFill>
                <a:latin typeface="Verdana" pitchFamily="34" charset="0"/>
                <a:ea typeface="Verdana" pitchFamily="34" charset="-122"/>
                <a:cs typeface="Verdana" pitchFamily="34" charset="-120"/>
              </a:rPr>
              <a:t>  branch naming, PR closes issue</a:t>
            </a:r>
            <a:endParaRPr lang="en-US" sz="2200" dirty="0"/>
          </a:p>
          <a:p>
            <a:pPr indent="0" marL="0">
              <a:buNone/>
            </a:pPr>
            <a:r>
              <a:rPr lang="en-US" sz="2200" b="1" dirty="0">
                <a:solidFill>
                  <a:srgbClr val="635BFF"/>
                </a:solidFill>
                <a:latin typeface="Verdana" pitchFamily="34" charset="0"/>
                <a:ea typeface="Verdana" pitchFamily="34" charset="-122"/>
                <a:cs typeface="Verdana" pitchFamily="34" charset="-120"/>
              </a:rPr>
              <a:t>Language-specific</a:t>
            </a:r>
            <a:endParaRPr lang="en-US" sz="2200" dirty="0"/>
          </a:p>
          <a:p>
            <a:pPr indent="0" marL="0">
              <a:buNone/>
            </a:pPr>
            <a:r>
              <a:rPr lang="en-US" sz="2200" dirty="0">
                <a:solidFill>
                  <a:srgbClr val="8B95A5"/>
                </a:solidFill>
                <a:latin typeface="Verdana" pitchFamily="34" charset="0"/>
                <a:ea typeface="Verdana" pitchFamily="34" charset="-122"/>
                <a:cs typeface="Verdana" pitchFamily="34" charset="-120"/>
              </a:rPr>
              <a:t>  filtered by file extension</a:t>
            </a:r>
            <a:endParaRPr lang="en-US" sz="2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Python rules load</a:t>
            </a:r>
            <a:endParaRPr lang="en-US" sz="4000" dirty="0"/>
          </a:p>
          <a:p>
            <a:pPr algn="ctr" indent="0" marL="0">
              <a:buNone/>
            </a:pPr>
            <a:r>
              <a:rPr lang="en-US" sz="4000" b="1" dirty="0">
                <a:solidFill>
                  <a:srgbClr val="FFFFFF"/>
                </a:solidFill>
                <a:latin typeface="Georgia" pitchFamily="34" charset="0"/>
                <a:ea typeface="Georgia" pitchFamily="34" charset="-122"/>
                <a:cs typeface="Georgia" pitchFamily="34" charset="-120"/>
              </a:rPr>
              <a:t>for Python files.</a:t>
            </a:r>
            <a:endParaRPr lang="en-US" sz="4000" dirty="0"/>
          </a:p>
          <a:p>
            <a:pPr algn="ctr" indent="0" marL="0">
              <a:buNone/>
            </a:pPr>
            <a:r>
              <a:rPr lang="en-US" sz="4000" b="1" dirty="0">
                <a:solidFill>
                  <a:srgbClr val="FFFFFF"/>
                </a:solidFill>
                <a:latin typeface="Georgia" pitchFamily="34" charset="0"/>
                <a:ea typeface="Georgia" pitchFamily="34" charset="-122"/>
                <a:cs typeface="Georgia" pitchFamily="34" charset="-120"/>
              </a:rPr>
              <a:t>Nothing else.</a:t>
            </a:r>
            <a:endParaRPr lang="en-US" sz="4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635BFF"/>
                </a:solidFill>
                <a:latin typeface="Georgia" pitchFamily="34" charset="0"/>
                <a:ea typeface="Georgia" pitchFamily="34" charset="-122"/>
                <a:cs typeface="Georgia" pitchFamily="34" charset="-120"/>
              </a:rPr>
              <a:t>Perfect context</a:t>
            </a:r>
            <a:endParaRPr lang="en-US" sz="4400" dirty="0"/>
          </a:p>
          <a:p>
            <a:pPr algn="ctr" indent="0" marL="0">
              <a:buNone/>
            </a:pPr>
            <a:r>
              <a:rPr lang="en-US" sz="4400" b="1" dirty="0">
                <a:solidFill>
                  <a:srgbClr val="635BFF"/>
                </a:solidFill>
                <a:latin typeface="Georgia" pitchFamily="34" charset="0"/>
                <a:ea typeface="Georgia" pitchFamily="34" charset="-122"/>
                <a:cs typeface="Georgia" pitchFamily="34" charset="-120"/>
              </a:rPr>
              <a:t>through modularization.</a:t>
            </a:r>
            <a:endParaRPr lang="en-US" sz="4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1463040"/>
            <a:ext cx="8229600" cy="1097280"/>
          </a:xfrm>
          <a:prstGeom prst="rect">
            <a:avLst/>
          </a:prstGeom>
          <a:noFill/>
          <a:ln/>
        </p:spPr>
        <p:txBody>
          <a:bodyPr wrap="square" lIns="0" tIns="0" rIns="0" bIns="0" rtlCol="0" anchor="ctr"/>
          <a:lstStyle/>
          <a:p>
            <a:pPr algn="ctr" indent="0" marL="0">
              <a:buNone/>
            </a:pPr>
            <a:r>
              <a:rPr lang="en-US" sz="5400" b="1" dirty="0">
                <a:solidFill>
                  <a:srgbClr val="FFFFFF"/>
                </a:solidFill>
                <a:latin typeface="Georgia" pitchFamily="34" charset="0"/>
                <a:ea typeface="Georgia" pitchFamily="34" charset="-122"/>
                <a:cs typeface="Georgia" pitchFamily="34" charset="-120"/>
              </a:rPr>
              <a:t>Skills</a:t>
            </a:r>
            <a:endParaRPr lang="en-US" sz="5400" dirty="0"/>
          </a:p>
        </p:txBody>
      </p:sp>
      <p:sp>
        <p:nvSpPr>
          <p:cNvPr id="4" name="Text 2"/>
          <p:cNvSpPr/>
          <p:nvPr/>
        </p:nvSpPr>
        <p:spPr>
          <a:xfrm>
            <a:off x="914400" y="2651760"/>
            <a:ext cx="7315200" cy="548640"/>
          </a:xfrm>
          <a:prstGeom prst="rect">
            <a:avLst/>
          </a:prstGeom>
          <a:noFill/>
          <a:ln/>
        </p:spPr>
        <p:txBody>
          <a:bodyPr wrap="square" lIns="0" tIns="0" rIns="0" bIns="0" rtlCol="0" anchor="ctr"/>
          <a:lstStyle/>
          <a:p>
            <a:pPr algn="ctr" indent="0" marL="0">
              <a:buNone/>
            </a:pPr>
            <a:r>
              <a:rPr lang="en-US" sz="2800" i="1" dirty="0">
                <a:solidFill>
                  <a:srgbClr val="635BFF"/>
                </a:solidFill>
                <a:latin typeface="Verdana" pitchFamily="34" charset="0"/>
                <a:ea typeface="Verdana" pitchFamily="34" charset="-122"/>
                <a:cs typeface="Verdana" pitchFamily="34" charset="-120"/>
              </a:rPr>
              <a:t>Learned workflows, loaded when needed</a:t>
            </a:r>
            <a:endParaRPr lang="en-US" sz="2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Rules are ‘always do this.’</a:t>
            </a:r>
            <a:endParaRPr lang="en-US" sz="3600" dirty="0"/>
          </a:p>
          <a:p>
            <a:pPr algn="ctr" indent="0" marL="0">
              <a:buNone/>
            </a:pPr>
            <a:r>
              <a:rPr lang="en-US" sz="3600" b="1" dirty="0">
                <a:solidFill>
                  <a:srgbClr val="FFFFFF"/>
                </a:solidFill>
                <a:latin typeface="Georgia" pitchFamily="34" charset="0"/>
                <a:ea typeface="Georgia" pitchFamily="34" charset="-122"/>
                <a:cs typeface="Georgia" pitchFamily="34" charset="-120"/>
              </a:rPr>
              <a:t>Skills are ‘here’s how,</a:t>
            </a:r>
            <a:endParaRPr lang="en-US" sz="3600" dirty="0"/>
          </a:p>
          <a:p>
            <a:pPr algn="ctr" indent="0" marL="0">
              <a:buNone/>
            </a:pPr>
            <a:r>
              <a:rPr lang="en-US" sz="3600" b="1" dirty="0">
                <a:solidFill>
                  <a:srgbClr val="FFFFFF"/>
                </a:solidFill>
                <a:latin typeface="Georgia" pitchFamily="34" charset="0"/>
                <a:ea typeface="Georgia" pitchFamily="34" charset="-122"/>
                <a:cs typeface="Georgia" pitchFamily="34" charset="-120"/>
              </a:rPr>
              <a:t>when the time comes.’</a:t>
            </a:r>
            <a:endParaRPr lang="en-US" sz="3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731520"/>
            <a:ext cx="3840480" cy="640080"/>
          </a:xfrm>
          <a:prstGeom prst="rect">
            <a:avLst/>
          </a:prstGeom>
          <a:noFill/>
          <a:ln/>
        </p:spPr>
        <p:txBody>
          <a:bodyPr wrap="square" lIns="0" tIns="0" rIns="0" bIns="0" rtlCol="0" anchor="ctr"/>
          <a:lstStyle/>
          <a:p>
            <a:pPr algn="ctr" indent="0" marL="0">
              <a:buNone/>
            </a:pPr>
            <a:r>
              <a:rPr lang="en-US" sz="3600" b="1" dirty="0">
                <a:solidFill>
                  <a:srgbClr val="635BFF"/>
                </a:solidFill>
                <a:latin typeface="Georgia" pitchFamily="34" charset="0"/>
                <a:ea typeface="Georgia" pitchFamily="34" charset="-122"/>
                <a:cs typeface="Georgia" pitchFamily="34" charset="-120"/>
              </a:rPr>
              <a:t>MCP</a:t>
            </a:r>
            <a:endParaRPr lang="en-US" sz="3600" dirty="0"/>
          </a:p>
        </p:txBody>
      </p:sp>
      <p:sp>
        <p:nvSpPr>
          <p:cNvPr id="4" name="Text 2"/>
          <p:cNvSpPr/>
          <p:nvPr/>
        </p:nvSpPr>
        <p:spPr>
          <a:xfrm>
            <a:off x="457200" y="1737360"/>
            <a:ext cx="3840480" cy="2286000"/>
          </a:xfrm>
          <a:prstGeom prst="rect">
            <a:avLst/>
          </a:prstGeom>
          <a:noFill/>
          <a:ln/>
        </p:spPr>
        <p:txBody>
          <a:bodyPr wrap="square" lIns="0" tIns="0" rIns="0" bIns="0" rtlCol="0" anchor="t"/>
          <a:lstStyle/>
          <a:p>
            <a:pPr algn="ctr" indent="0" marL="0">
              <a:buNone/>
            </a:pPr>
            <a:r>
              <a:rPr lang="en-US" sz="2200" dirty="0">
                <a:solidFill>
                  <a:srgbClr val="8B95A5"/>
                </a:solidFill>
                <a:latin typeface="Verdana" pitchFamily="34" charset="0"/>
                <a:ea typeface="Verdana" pitchFamily="34" charset="-122"/>
                <a:cs typeface="Verdana" pitchFamily="34" charset="-120"/>
              </a:rPr>
              <a:t>Always available</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Low-level access</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Docs, navigation, web</a:t>
            </a:r>
            <a:endParaRPr lang="en-US" sz="2200" dirty="0"/>
          </a:p>
        </p:txBody>
      </p:sp>
      <p:sp>
        <p:nvSpPr>
          <p:cNvPr id="5" name="Shape 3"/>
          <p:cNvSpPr/>
          <p:nvPr/>
        </p:nvSpPr>
        <p:spPr>
          <a:xfrm>
            <a:off x="4572000" y="731520"/>
            <a:ext cx="0" cy="3291840"/>
          </a:xfrm>
          <a:prstGeom prst="line">
            <a:avLst/>
          </a:prstGeom>
          <a:noFill/>
          <a:ln w="12700">
            <a:solidFill>
              <a:srgbClr val="635BFF"/>
            </a:solidFill>
            <a:prstDash val="solid"/>
          </a:ln>
        </p:spPr>
      </p:sp>
      <p:sp>
        <p:nvSpPr>
          <p:cNvPr id="6" name="Text 4"/>
          <p:cNvSpPr/>
          <p:nvPr/>
        </p:nvSpPr>
        <p:spPr>
          <a:xfrm>
            <a:off x="4846320" y="731520"/>
            <a:ext cx="3840480" cy="64008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Skills</a:t>
            </a:r>
            <a:endParaRPr lang="en-US" sz="3600" dirty="0"/>
          </a:p>
        </p:txBody>
      </p:sp>
      <p:sp>
        <p:nvSpPr>
          <p:cNvPr id="7" name="Text 5"/>
          <p:cNvSpPr/>
          <p:nvPr/>
        </p:nvSpPr>
        <p:spPr>
          <a:xfrm>
            <a:off x="4846320" y="1737360"/>
            <a:ext cx="3840480" cy="2286000"/>
          </a:xfrm>
          <a:prstGeom prst="rect">
            <a:avLst/>
          </a:prstGeom>
          <a:noFill/>
          <a:ln/>
        </p:spPr>
        <p:txBody>
          <a:bodyPr wrap="square" lIns="0" tIns="0" rIns="0" bIns="0" rtlCol="0" anchor="t"/>
          <a:lstStyle/>
          <a:p>
            <a:pPr algn="ctr" indent="0" marL="0">
              <a:buNone/>
            </a:pPr>
            <a:r>
              <a:rPr lang="en-US" sz="2200" dirty="0">
                <a:solidFill>
                  <a:srgbClr val="8B95A5"/>
                </a:solidFill>
                <a:latin typeface="Verdana" pitchFamily="34" charset="0"/>
                <a:ea typeface="Verdana" pitchFamily="34" charset="-122"/>
                <a:cs typeface="Verdana" pitchFamily="34" charset="-120"/>
              </a:rPr>
              <a:t>On-demand</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Higher-level workflows</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Loaded when needed</a:t>
            </a:r>
            <a:endParaRPr lang="en-US" sz="2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A skill teaching a CLI</a:t>
            </a:r>
            <a:endParaRPr lang="en-US" sz="4000" dirty="0"/>
          </a:p>
          <a:p>
            <a:pPr algn="ctr" indent="0" marL="0">
              <a:buNone/>
            </a:pPr>
            <a:r>
              <a:rPr lang="en-US" sz="4000" b="1" dirty="0">
                <a:solidFill>
                  <a:srgbClr val="FFFFFF"/>
                </a:solidFill>
                <a:latin typeface="Georgia" pitchFamily="34" charset="0"/>
                <a:ea typeface="Georgia" pitchFamily="34" charset="-122"/>
                <a:cs typeface="Georgia" pitchFamily="34" charset="-120"/>
              </a:rPr>
              <a:t>beats an MCP with 50 tools.</a:t>
            </a:r>
            <a:endParaRPr lang="en-US" sz="4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914400"/>
            <a:ext cx="8229600" cy="2286000"/>
          </a:xfrm>
          <a:prstGeom prst="rect">
            <a:avLst/>
          </a:prstGeom>
          <a:noFill/>
          <a:ln/>
        </p:spPr>
        <p:txBody>
          <a:bodyPr wrap="square" lIns="0" tIns="0" rIns="0" bIns="0" rtlCol="0" anchor="b"/>
          <a:lstStyle/>
          <a:p>
            <a:pPr algn="ctr" indent="0" marL="0">
              <a:buNone/>
            </a:pPr>
            <a:r>
              <a:rPr lang="en-US" sz="12000" b="1" dirty="0">
                <a:solidFill>
                  <a:srgbClr val="FFFFFF"/>
                </a:solidFill>
                <a:latin typeface="Georgia" pitchFamily="34" charset="0"/>
                <a:ea typeface="Georgia" pitchFamily="34" charset="-122"/>
                <a:cs typeface="Georgia" pitchFamily="34" charset="-120"/>
              </a:rPr>
              <a:t>10%</a:t>
            </a:r>
            <a:endParaRPr lang="en-US" sz="12000" dirty="0"/>
          </a:p>
        </p:txBody>
      </p:sp>
      <p:sp>
        <p:nvSpPr>
          <p:cNvPr id="4" name="Text 2"/>
          <p:cNvSpPr/>
          <p:nvPr/>
        </p:nvSpPr>
        <p:spPr>
          <a:xfrm>
            <a:off x="1371600" y="3291840"/>
            <a:ext cx="6400800" cy="731520"/>
          </a:xfrm>
          <a:prstGeom prst="rect">
            <a:avLst/>
          </a:prstGeom>
          <a:noFill/>
          <a:ln/>
        </p:spPr>
        <p:txBody>
          <a:bodyPr wrap="square" lIns="0" tIns="0" rIns="0" bIns="0" rtlCol="0" anchor="t"/>
          <a:lstStyle/>
          <a:p>
            <a:pPr algn="ctr" indent="0" marL="0">
              <a:buNone/>
            </a:pPr>
            <a:r>
              <a:rPr lang="en-US" sz="2800" dirty="0">
                <a:solidFill>
                  <a:srgbClr val="8B95A5"/>
                </a:solidFill>
                <a:latin typeface="Verdana" pitchFamily="34" charset="0"/>
                <a:ea typeface="Verdana" pitchFamily="34" charset="-122"/>
                <a:cs typeface="Verdana" pitchFamily="34" charset="-120"/>
              </a:rPr>
              <a:t>of your time building skills</a:t>
            </a:r>
            <a:endParaRPr lang="en-US" sz="2800" dirty="0"/>
          </a:p>
          <a:p>
            <a:pPr algn="ctr" indent="0" marL="0">
              <a:buNone/>
            </a:pPr>
            <a:r>
              <a:rPr lang="en-US" sz="2800" dirty="0">
                <a:solidFill>
                  <a:srgbClr val="8B95A5"/>
                </a:solidFill>
                <a:latin typeface="Verdana" pitchFamily="34" charset="0"/>
                <a:ea typeface="Verdana" pitchFamily="34" charset="-122"/>
                <a:cs typeface="Verdana" pitchFamily="34" charset="-120"/>
              </a:rPr>
              <a:t>from today’s pain points</a:t>
            </a:r>
            <a:endParaRPr lang="en-US" sz="2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731520" y="548640"/>
            <a:ext cx="7680960" cy="73152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Every wall becomes a skill.</a:t>
            </a:r>
            <a:endParaRPr lang="en-US" sz="3600" dirty="0"/>
          </a:p>
        </p:txBody>
      </p:sp>
      <p:sp>
        <p:nvSpPr>
          <p:cNvPr id="4" name="Text 2"/>
          <p:cNvSpPr/>
          <p:nvPr/>
        </p:nvSpPr>
        <p:spPr>
          <a:xfrm>
            <a:off x="1097280" y="1645920"/>
            <a:ext cx="6949440" cy="2560320"/>
          </a:xfrm>
          <a:prstGeom prst="rect">
            <a:avLst/>
          </a:prstGeom>
          <a:noFill/>
          <a:ln/>
        </p:spPr>
        <p:txBody>
          <a:bodyPr wrap="square" lIns="0" tIns="0" rIns="0" bIns="0" rtlCol="0" anchor="t"/>
          <a:lstStyle/>
          <a:p>
            <a:pPr marL="342900" indent="-342900">
              <a:buSzPct val="100000"/>
              <a:buChar char="•"/>
            </a:pPr>
            <a:r>
              <a:rPr lang="en-US" sz="2400" dirty="0">
                <a:solidFill>
                  <a:srgbClr val="8B95A5"/>
                </a:solidFill>
                <a:latin typeface="Verdana" pitchFamily="34" charset="0"/>
                <a:ea typeface="Verdana" pitchFamily="34" charset="-122"/>
                <a:cs typeface="Verdana" pitchFamily="34" charset="-120"/>
              </a:rPr>
              <a:t>Agent circled on docker postgres → skill</a:t>
            </a:r>
            <a:endParaRPr lang="en-US" sz="2400" dirty="0"/>
          </a:p>
          <a:p>
            <a:pPr marL="342900" indent="-342900">
              <a:buSzPct val="100000"/>
              <a:buChar char="•"/>
            </a:pPr>
            <a:r>
              <a:rPr lang="en-US" sz="2400" dirty="0">
                <a:solidFill>
                  <a:srgbClr val="8B95A5"/>
                </a:solidFill>
                <a:latin typeface="Verdana" pitchFamily="34" charset="0"/>
                <a:ea typeface="Verdana" pitchFamily="34" charset="-122"/>
                <a:cs typeface="Verdana" pitchFamily="34" charset="-120"/>
              </a:rPr>
              <a:t>Connected to test GCP service → skill</a:t>
            </a:r>
            <a:endParaRPr lang="en-US" sz="2400" dirty="0"/>
          </a:p>
          <a:p>
            <a:pPr marL="342900" indent="-342900">
              <a:buSzPct val="100000"/>
              <a:buChar char="•"/>
            </a:pPr>
            <a:r>
              <a:rPr lang="en-US" sz="2400" dirty="0">
                <a:solidFill>
                  <a:srgbClr val="8B95A5"/>
                </a:solidFill>
                <a:latin typeface="Verdana" pitchFamily="34" charset="0"/>
                <a:ea typeface="Verdana" pitchFamily="34" charset="-122"/>
                <a:cs typeface="Verdana" pitchFamily="34" charset="-120"/>
              </a:rPr>
              <a:t>Pulled a feature ticket via CLI → skill</a:t>
            </a:r>
            <a:endParaRPr lang="en-US" sz="2400" dirty="0"/>
          </a:p>
          <a:p>
            <a:pPr marL="342900" indent="-342900">
              <a:buSzPct val="100000"/>
              <a:buChar char="•"/>
            </a:pPr>
            <a:r>
              <a:rPr lang="en-US" sz="2400" dirty="0">
                <a:solidFill>
                  <a:srgbClr val="8B95A5"/>
                </a:solidFill>
                <a:latin typeface="Verdana" pitchFamily="34" charset="0"/>
                <a:ea typeface="Verdana" pitchFamily="34" charset="-122"/>
                <a:cs typeface="Verdana" pitchFamily="34" charset="-120"/>
              </a:rPr>
              <a:t>Analyzed a crash log → skill</a:t>
            </a:r>
            <a:endParaRPr 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635BFF"/>
                </a:solidFill>
                <a:latin typeface="Georgia" pitchFamily="34" charset="0"/>
                <a:ea typeface="Georgia" pitchFamily="34" charset="-122"/>
                <a:cs typeface="Georgia" pitchFamily="34" charset="-120"/>
              </a:rPr>
              <a:t>Each day’s pain</a:t>
            </a:r>
            <a:endParaRPr lang="en-US" sz="4400" dirty="0"/>
          </a:p>
          <a:p>
            <a:pPr algn="ctr" indent="0" marL="0">
              <a:buNone/>
            </a:pPr>
            <a:r>
              <a:rPr lang="en-US" sz="4400" b="1" dirty="0">
                <a:solidFill>
                  <a:srgbClr val="635BFF"/>
                </a:solidFill>
                <a:latin typeface="Georgia" pitchFamily="34" charset="0"/>
                <a:ea typeface="Georgia" pitchFamily="34" charset="-122"/>
                <a:cs typeface="Georgia" pitchFamily="34" charset="-120"/>
              </a:rPr>
              <a:t>becomes tomorrow’s skill.</a:t>
            </a:r>
            <a:endParaRPr lang="en-US" sz="4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1463040"/>
            <a:ext cx="8229600" cy="1097280"/>
          </a:xfrm>
          <a:prstGeom prst="rect">
            <a:avLst/>
          </a:prstGeom>
          <a:noFill/>
          <a:ln/>
        </p:spPr>
        <p:txBody>
          <a:bodyPr wrap="square" lIns="0" tIns="0" rIns="0" bIns="0" rtlCol="0" anchor="ctr"/>
          <a:lstStyle/>
          <a:p>
            <a:pPr algn="ctr" indent="0" marL="0">
              <a:buNone/>
            </a:pPr>
            <a:r>
              <a:rPr lang="en-US" sz="5400" b="1" dirty="0">
                <a:solidFill>
                  <a:srgbClr val="FFFFFF"/>
                </a:solidFill>
                <a:latin typeface="Georgia" pitchFamily="34" charset="0"/>
                <a:ea typeface="Georgia" pitchFamily="34" charset="-122"/>
                <a:cs typeface="Georgia" pitchFamily="34" charset="-120"/>
              </a:rPr>
              <a:t>Development Environment</a:t>
            </a:r>
            <a:endParaRPr lang="en-US" sz="5400" dirty="0"/>
          </a:p>
        </p:txBody>
      </p:sp>
      <p:sp>
        <p:nvSpPr>
          <p:cNvPr id="4" name="Text 2"/>
          <p:cNvSpPr/>
          <p:nvPr/>
        </p:nvSpPr>
        <p:spPr>
          <a:xfrm>
            <a:off x="914400" y="2651760"/>
            <a:ext cx="7315200" cy="548640"/>
          </a:xfrm>
          <a:prstGeom prst="rect">
            <a:avLst/>
          </a:prstGeom>
          <a:noFill/>
          <a:ln/>
        </p:spPr>
        <p:txBody>
          <a:bodyPr wrap="square" lIns="0" tIns="0" rIns="0" bIns="0" rtlCol="0" anchor="ctr"/>
          <a:lstStyle/>
          <a:p>
            <a:pPr algn="ctr" indent="0" marL="0">
              <a:buNone/>
            </a:pPr>
            <a:r>
              <a:rPr lang="en-US" sz="2800" i="1" dirty="0">
                <a:solidFill>
                  <a:srgbClr val="635BFF"/>
                </a:solidFill>
                <a:latin typeface="Verdana" pitchFamily="34" charset="0"/>
                <a:ea typeface="Verdana" pitchFamily="34" charset="-122"/>
                <a:cs typeface="Verdana" pitchFamily="34" charset="-120"/>
              </a:rPr>
              <a:t>Where the system runs</a:t>
            </a:r>
            <a:endParaRPr lang="en-US" sz="2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Shape 1"/>
          <p:cNvSpPr/>
          <p:nvPr/>
        </p:nvSpPr>
        <p:spPr>
          <a:xfrm>
            <a:off x="731520" y="914400"/>
            <a:ext cx="2194560" cy="457200"/>
          </a:xfrm>
          <a:prstGeom prst="roundRect">
            <a:avLst>
              <a:gd name="adj" fmla="val 12000"/>
            </a:avLst>
          </a:prstGeom>
          <a:solidFill>
            <a:srgbClr val="0A2540"/>
          </a:solidFill>
          <a:ln w="19050">
            <a:solidFill>
              <a:srgbClr val="635BFF"/>
            </a:solidFill>
            <a:prstDash val="solid"/>
          </a:ln>
        </p:spPr>
      </p:sp>
      <p:sp>
        <p:nvSpPr>
          <p:cNvPr id="4" name="Text 2"/>
          <p:cNvSpPr/>
          <p:nvPr/>
        </p:nvSpPr>
        <p:spPr>
          <a:xfrm>
            <a:off x="731520" y="914400"/>
            <a:ext cx="2194560" cy="457200"/>
          </a:xfrm>
          <a:prstGeom prst="rect">
            <a:avLst/>
          </a:prstGeom>
          <a:noFill/>
          <a:ln/>
        </p:spPr>
        <p:txBody>
          <a:bodyPr wrap="square" lIns="0" tIns="0" rIns="0" bIns="0" rtlCol="0" anchor="ctr"/>
          <a:lstStyle/>
          <a:p>
            <a:pPr algn="ctr" indent="0" marL="0">
              <a:buNone/>
            </a:pPr>
            <a:r>
              <a:rPr lang="en-US" sz="1600" dirty="0">
                <a:solidFill>
                  <a:srgbClr val="635BFF"/>
                </a:solidFill>
                <a:latin typeface="Verdana" pitchFamily="34" charset="0"/>
                <a:ea typeface="Verdana" pitchFamily="34" charset="-122"/>
                <a:cs typeface="Verdana" pitchFamily="34" charset="-120"/>
              </a:rPr>
              <a:t>Tab</a:t>
            </a:r>
            <a:endParaRPr lang="en-US" sz="1600" dirty="0"/>
          </a:p>
        </p:txBody>
      </p:sp>
      <p:sp>
        <p:nvSpPr>
          <p:cNvPr id="5" name="Text 3"/>
          <p:cNvSpPr/>
          <p:nvPr/>
        </p:nvSpPr>
        <p:spPr>
          <a:xfrm>
            <a:off x="731520" y="1371600"/>
            <a:ext cx="2194560" cy="365760"/>
          </a:xfrm>
          <a:prstGeom prst="rect">
            <a:avLst/>
          </a:prstGeom>
          <a:noFill/>
          <a:ln/>
        </p:spPr>
        <p:txBody>
          <a:bodyPr wrap="square" lIns="0" tIns="0" rIns="0" bIns="0" rtlCol="0" anchor="ctr"/>
          <a:lstStyle/>
          <a:p>
            <a:pPr algn="ctr" indent="0" marL="0">
              <a:buNone/>
            </a:pPr>
            <a:r>
              <a:rPr lang="en-US" sz="2000" dirty="0">
                <a:solidFill>
                  <a:srgbClr val="8B95A5"/>
                </a:solidFill>
                <a:latin typeface="Verdana" pitchFamily="34" charset="0"/>
                <a:ea typeface="Verdana" pitchFamily="34" charset="-122"/>
                <a:cs typeface="Verdana" pitchFamily="34" charset="-120"/>
              </a:rPr>
              <a:t>↓</a:t>
            </a:r>
            <a:endParaRPr lang="en-US" sz="2000" dirty="0"/>
          </a:p>
        </p:txBody>
      </p:sp>
      <p:sp>
        <p:nvSpPr>
          <p:cNvPr id="6" name="Shape 4"/>
          <p:cNvSpPr/>
          <p:nvPr/>
        </p:nvSpPr>
        <p:spPr>
          <a:xfrm>
            <a:off x="731520" y="1737360"/>
            <a:ext cx="2194560" cy="457200"/>
          </a:xfrm>
          <a:prstGeom prst="roundRect">
            <a:avLst>
              <a:gd name="adj" fmla="val 12000"/>
            </a:avLst>
          </a:prstGeom>
          <a:solidFill>
            <a:srgbClr val="0A2540"/>
          </a:solidFill>
          <a:ln w="12700">
            <a:solidFill>
              <a:srgbClr val="8B95A5"/>
            </a:solidFill>
            <a:prstDash val="solid"/>
          </a:ln>
        </p:spPr>
      </p:sp>
      <p:sp>
        <p:nvSpPr>
          <p:cNvPr id="7" name="Text 5"/>
          <p:cNvSpPr/>
          <p:nvPr/>
        </p:nvSpPr>
        <p:spPr>
          <a:xfrm>
            <a:off x="731520" y="1737360"/>
            <a:ext cx="2194560" cy="457200"/>
          </a:xfrm>
          <a:prstGeom prst="rect">
            <a:avLst/>
          </a:prstGeom>
          <a:noFill/>
          <a:ln/>
        </p:spPr>
        <p:txBody>
          <a:bodyPr wrap="square" lIns="0" tIns="0" rIns="0" bIns="0" rtlCol="0" anchor="ctr"/>
          <a:lstStyle/>
          <a:p>
            <a:pPr algn="ctr" indent="0" marL="0">
              <a:buNone/>
            </a:pPr>
            <a:r>
              <a:rPr lang="en-US" sz="1600" dirty="0">
                <a:solidFill>
                  <a:srgbClr val="8B95A5"/>
                </a:solidFill>
                <a:latin typeface="Verdana" pitchFamily="34" charset="0"/>
                <a:ea typeface="Verdana" pitchFamily="34" charset="-122"/>
                <a:cs typeface="Verdana" pitchFamily="34" charset="-120"/>
              </a:rPr>
              <a:t>Worktree</a:t>
            </a:r>
            <a:endParaRPr lang="en-US" sz="1600" dirty="0"/>
          </a:p>
        </p:txBody>
      </p:sp>
      <p:sp>
        <p:nvSpPr>
          <p:cNvPr id="8" name="Text 6"/>
          <p:cNvSpPr/>
          <p:nvPr/>
        </p:nvSpPr>
        <p:spPr>
          <a:xfrm>
            <a:off x="731520" y="2194560"/>
            <a:ext cx="2194560" cy="365760"/>
          </a:xfrm>
          <a:prstGeom prst="rect">
            <a:avLst/>
          </a:prstGeom>
          <a:noFill/>
          <a:ln/>
        </p:spPr>
        <p:txBody>
          <a:bodyPr wrap="square" lIns="0" tIns="0" rIns="0" bIns="0" rtlCol="0" anchor="ctr"/>
          <a:lstStyle/>
          <a:p>
            <a:pPr algn="ctr" indent="0" marL="0">
              <a:buNone/>
            </a:pPr>
            <a:r>
              <a:rPr lang="en-US" sz="2000" dirty="0">
                <a:solidFill>
                  <a:srgbClr val="8B95A5"/>
                </a:solidFill>
                <a:latin typeface="Verdana" pitchFamily="34" charset="0"/>
                <a:ea typeface="Verdana" pitchFamily="34" charset="-122"/>
                <a:cs typeface="Verdana" pitchFamily="34" charset="-120"/>
              </a:rPr>
              <a:t>↓</a:t>
            </a:r>
            <a:endParaRPr lang="en-US" sz="2000" dirty="0"/>
          </a:p>
        </p:txBody>
      </p:sp>
      <p:sp>
        <p:nvSpPr>
          <p:cNvPr id="9" name="Shape 7"/>
          <p:cNvSpPr/>
          <p:nvPr/>
        </p:nvSpPr>
        <p:spPr>
          <a:xfrm>
            <a:off x="731520" y="2560320"/>
            <a:ext cx="2194560" cy="457200"/>
          </a:xfrm>
          <a:prstGeom prst="roundRect">
            <a:avLst>
              <a:gd name="adj" fmla="val 12000"/>
            </a:avLst>
          </a:prstGeom>
          <a:solidFill>
            <a:srgbClr val="0A2540"/>
          </a:solidFill>
          <a:ln w="12700">
            <a:solidFill>
              <a:srgbClr val="8B95A5"/>
            </a:solidFill>
            <a:prstDash val="solid"/>
          </a:ln>
        </p:spPr>
      </p:sp>
      <p:sp>
        <p:nvSpPr>
          <p:cNvPr id="10" name="Text 8"/>
          <p:cNvSpPr/>
          <p:nvPr/>
        </p:nvSpPr>
        <p:spPr>
          <a:xfrm>
            <a:off x="731520" y="2560320"/>
            <a:ext cx="2194560" cy="457200"/>
          </a:xfrm>
          <a:prstGeom prst="rect">
            <a:avLst/>
          </a:prstGeom>
          <a:noFill/>
          <a:ln/>
        </p:spPr>
        <p:txBody>
          <a:bodyPr wrap="square" lIns="0" tIns="0" rIns="0" bIns="0" rtlCol="0" anchor="ctr"/>
          <a:lstStyle/>
          <a:p>
            <a:pPr algn="ctr" indent="0" marL="0">
              <a:buNone/>
            </a:pPr>
            <a:r>
              <a:rPr lang="en-US" sz="1600" dirty="0">
                <a:solidFill>
                  <a:srgbClr val="8B95A5"/>
                </a:solidFill>
                <a:latin typeface="Verdana" pitchFamily="34" charset="0"/>
                <a:ea typeface="Verdana" pitchFamily="34" charset="-122"/>
                <a:cs typeface="Verdana" pitchFamily="34" charset="-120"/>
              </a:rPr>
              <a:t>Containers + DB</a:t>
            </a:r>
            <a:endParaRPr lang="en-US" sz="1600" dirty="0"/>
          </a:p>
        </p:txBody>
      </p:sp>
      <p:sp>
        <p:nvSpPr>
          <p:cNvPr id="11" name="Text 9"/>
          <p:cNvSpPr/>
          <p:nvPr/>
        </p:nvSpPr>
        <p:spPr>
          <a:xfrm>
            <a:off x="731520" y="3200400"/>
            <a:ext cx="21945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Verdana" pitchFamily="34" charset="0"/>
                <a:ea typeface="Verdana" pitchFamily="34" charset="-122"/>
                <a:cs typeface="Verdana" pitchFamily="34" charset="-120"/>
              </a:rPr>
              <a:t>Feature A</a:t>
            </a:r>
            <a:endParaRPr lang="en-US" sz="2000" dirty="0"/>
          </a:p>
        </p:txBody>
      </p:sp>
      <p:sp>
        <p:nvSpPr>
          <p:cNvPr id="12" name="Shape 10"/>
          <p:cNvSpPr/>
          <p:nvPr/>
        </p:nvSpPr>
        <p:spPr>
          <a:xfrm>
            <a:off x="3474720" y="914400"/>
            <a:ext cx="2194560" cy="457200"/>
          </a:xfrm>
          <a:prstGeom prst="roundRect">
            <a:avLst>
              <a:gd name="adj" fmla="val 12000"/>
            </a:avLst>
          </a:prstGeom>
          <a:solidFill>
            <a:srgbClr val="0A2540"/>
          </a:solidFill>
          <a:ln w="19050">
            <a:solidFill>
              <a:srgbClr val="635BFF"/>
            </a:solidFill>
            <a:prstDash val="solid"/>
          </a:ln>
        </p:spPr>
      </p:sp>
      <p:sp>
        <p:nvSpPr>
          <p:cNvPr id="13" name="Text 11"/>
          <p:cNvSpPr/>
          <p:nvPr/>
        </p:nvSpPr>
        <p:spPr>
          <a:xfrm>
            <a:off x="3474720" y="914400"/>
            <a:ext cx="2194560" cy="457200"/>
          </a:xfrm>
          <a:prstGeom prst="rect">
            <a:avLst/>
          </a:prstGeom>
          <a:noFill/>
          <a:ln/>
        </p:spPr>
        <p:txBody>
          <a:bodyPr wrap="square" lIns="0" tIns="0" rIns="0" bIns="0" rtlCol="0" anchor="ctr"/>
          <a:lstStyle/>
          <a:p>
            <a:pPr algn="ctr" indent="0" marL="0">
              <a:buNone/>
            </a:pPr>
            <a:r>
              <a:rPr lang="en-US" sz="1600" dirty="0">
                <a:solidFill>
                  <a:srgbClr val="635BFF"/>
                </a:solidFill>
                <a:latin typeface="Verdana" pitchFamily="34" charset="0"/>
                <a:ea typeface="Verdana" pitchFamily="34" charset="-122"/>
                <a:cs typeface="Verdana" pitchFamily="34" charset="-120"/>
              </a:rPr>
              <a:t>Tab</a:t>
            </a:r>
            <a:endParaRPr lang="en-US" sz="1600" dirty="0"/>
          </a:p>
        </p:txBody>
      </p:sp>
      <p:sp>
        <p:nvSpPr>
          <p:cNvPr id="14" name="Text 12"/>
          <p:cNvSpPr/>
          <p:nvPr/>
        </p:nvSpPr>
        <p:spPr>
          <a:xfrm>
            <a:off x="3474720" y="1371600"/>
            <a:ext cx="2194560" cy="365760"/>
          </a:xfrm>
          <a:prstGeom prst="rect">
            <a:avLst/>
          </a:prstGeom>
          <a:noFill/>
          <a:ln/>
        </p:spPr>
        <p:txBody>
          <a:bodyPr wrap="square" lIns="0" tIns="0" rIns="0" bIns="0" rtlCol="0" anchor="ctr"/>
          <a:lstStyle/>
          <a:p>
            <a:pPr algn="ctr" indent="0" marL="0">
              <a:buNone/>
            </a:pPr>
            <a:r>
              <a:rPr lang="en-US" sz="2000" dirty="0">
                <a:solidFill>
                  <a:srgbClr val="8B95A5"/>
                </a:solidFill>
                <a:latin typeface="Verdana" pitchFamily="34" charset="0"/>
                <a:ea typeface="Verdana" pitchFamily="34" charset="-122"/>
                <a:cs typeface="Verdana" pitchFamily="34" charset="-120"/>
              </a:rPr>
              <a:t>↓</a:t>
            </a:r>
            <a:endParaRPr lang="en-US" sz="2000" dirty="0"/>
          </a:p>
        </p:txBody>
      </p:sp>
      <p:sp>
        <p:nvSpPr>
          <p:cNvPr id="15" name="Shape 13"/>
          <p:cNvSpPr/>
          <p:nvPr/>
        </p:nvSpPr>
        <p:spPr>
          <a:xfrm>
            <a:off x="3474720" y="1737360"/>
            <a:ext cx="2194560" cy="457200"/>
          </a:xfrm>
          <a:prstGeom prst="roundRect">
            <a:avLst>
              <a:gd name="adj" fmla="val 12000"/>
            </a:avLst>
          </a:prstGeom>
          <a:solidFill>
            <a:srgbClr val="0A2540"/>
          </a:solidFill>
          <a:ln w="12700">
            <a:solidFill>
              <a:srgbClr val="8B95A5"/>
            </a:solidFill>
            <a:prstDash val="solid"/>
          </a:ln>
        </p:spPr>
      </p:sp>
      <p:sp>
        <p:nvSpPr>
          <p:cNvPr id="16" name="Text 14"/>
          <p:cNvSpPr/>
          <p:nvPr/>
        </p:nvSpPr>
        <p:spPr>
          <a:xfrm>
            <a:off x="3474720" y="1737360"/>
            <a:ext cx="2194560" cy="457200"/>
          </a:xfrm>
          <a:prstGeom prst="rect">
            <a:avLst/>
          </a:prstGeom>
          <a:noFill/>
          <a:ln/>
        </p:spPr>
        <p:txBody>
          <a:bodyPr wrap="square" lIns="0" tIns="0" rIns="0" bIns="0" rtlCol="0" anchor="ctr"/>
          <a:lstStyle/>
          <a:p>
            <a:pPr algn="ctr" indent="0" marL="0">
              <a:buNone/>
            </a:pPr>
            <a:r>
              <a:rPr lang="en-US" sz="1600" dirty="0">
                <a:solidFill>
                  <a:srgbClr val="8B95A5"/>
                </a:solidFill>
                <a:latin typeface="Verdana" pitchFamily="34" charset="0"/>
                <a:ea typeface="Verdana" pitchFamily="34" charset="-122"/>
                <a:cs typeface="Verdana" pitchFamily="34" charset="-120"/>
              </a:rPr>
              <a:t>Worktree</a:t>
            </a:r>
            <a:endParaRPr lang="en-US" sz="1600" dirty="0"/>
          </a:p>
        </p:txBody>
      </p:sp>
      <p:sp>
        <p:nvSpPr>
          <p:cNvPr id="17" name="Text 15"/>
          <p:cNvSpPr/>
          <p:nvPr/>
        </p:nvSpPr>
        <p:spPr>
          <a:xfrm>
            <a:off x="3474720" y="2194560"/>
            <a:ext cx="2194560" cy="365760"/>
          </a:xfrm>
          <a:prstGeom prst="rect">
            <a:avLst/>
          </a:prstGeom>
          <a:noFill/>
          <a:ln/>
        </p:spPr>
        <p:txBody>
          <a:bodyPr wrap="square" lIns="0" tIns="0" rIns="0" bIns="0" rtlCol="0" anchor="ctr"/>
          <a:lstStyle/>
          <a:p>
            <a:pPr algn="ctr" indent="0" marL="0">
              <a:buNone/>
            </a:pPr>
            <a:r>
              <a:rPr lang="en-US" sz="2000" dirty="0">
                <a:solidFill>
                  <a:srgbClr val="8B95A5"/>
                </a:solidFill>
                <a:latin typeface="Verdana" pitchFamily="34" charset="0"/>
                <a:ea typeface="Verdana" pitchFamily="34" charset="-122"/>
                <a:cs typeface="Verdana" pitchFamily="34" charset="-120"/>
              </a:rPr>
              <a:t>↓</a:t>
            </a:r>
            <a:endParaRPr lang="en-US" sz="2000" dirty="0"/>
          </a:p>
        </p:txBody>
      </p:sp>
      <p:sp>
        <p:nvSpPr>
          <p:cNvPr id="18" name="Shape 16"/>
          <p:cNvSpPr/>
          <p:nvPr/>
        </p:nvSpPr>
        <p:spPr>
          <a:xfrm>
            <a:off x="3474720" y="2560320"/>
            <a:ext cx="2194560" cy="457200"/>
          </a:xfrm>
          <a:prstGeom prst="roundRect">
            <a:avLst>
              <a:gd name="adj" fmla="val 12000"/>
            </a:avLst>
          </a:prstGeom>
          <a:solidFill>
            <a:srgbClr val="0A2540"/>
          </a:solidFill>
          <a:ln w="12700">
            <a:solidFill>
              <a:srgbClr val="8B95A5"/>
            </a:solidFill>
            <a:prstDash val="solid"/>
          </a:ln>
        </p:spPr>
      </p:sp>
      <p:sp>
        <p:nvSpPr>
          <p:cNvPr id="19" name="Text 17"/>
          <p:cNvSpPr/>
          <p:nvPr/>
        </p:nvSpPr>
        <p:spPr>
          <a:xfrm>
            <a:off x="3474720" y="2560320"/>
            <a:ext cx="2194560" cy="457200"/>
          </a:xfrm>
          <a:prstGeom prst="rect">
            <a:avLst/>
          </a:prstGeom>
          <a:noFill/>
          <a:ln/>
        </p:spPr>
        <p:txBody>
          <a:bodyPr wrap="square" lIns="0" tIns="0" rIns="0" bIns="0" rtlCol="0" anchor="ctr"/>
          <a:lstStyle/>
          <a:p>
            <a:pPr algn="ctr" indent="0" marL="0">
              <a:buNone/>
            </a:pPr>
            <a:r>
              <a:rPr lang="en-US" sz="1600" dirty="0">
                <a:solidFill>
                  <a:srgbClr val="8B95A5"/>
                </a:solidFill>
                <a:latin typeface="Verdana" pitchFamily="34" charset="0"/>
                <a:ea typeface="Verdana" pitchFamily="34" charset="-122"/>
                <a:cs typeface="Verdana" pitchFamily="34" charset="-120"/>
              </a:rPr>
              <a:t>Containers + DB</a:t>
            </a:r>
            <a:endParaRPr lang="en-US" sz="1600" dirty="0"/>
          </a:p>
        </p:txBody>
      </p:sp>
      <p:sp>
        <p:nvSpPr>
          <p:cNvPr id="20" name="Text 18"/>
          <p:cNvSpPr/>
          <p:nvPr/>
        </p:nvSpPr>
        <p:spPr>
          <a:xfrm>
            <a:off x="3474720" y="3200400"/>
            <a:ext cx="21945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Verdana" pitchFamily="34" charset="0"/>
                <a:ea typeface="Verdana" pitchFamily="34" charset="-122"/>
                <a:cs typeface="Verdana" pitchFamily="34" charset="-120"/>
              </a:rPr>
              <a:t>Feature B</a:t>
            </a:r>
            <a:endParaRPr lang="en-US" sz="2000" dirty="0"/>
          </a:p>
        </p:txBody>
      </p:sp>
      <p:sp>
        <p:nvSpPr>
          <p:cNvPr id="21" name="Shape 19"/>
          <p:cNvSpPr/>
          <p:nvPr/>
        </p:nvSpPr>
        <p:spPr>
          <a:xfrm>
            <a:off x="6217920" y="914400"/>
            <a:ext cx="2194560" cy="457200"/>
          </a:xfrm>
          <a:prstGeom prst="roundRect">
            <a:avLst>
              <a:gd name="adj" fmla="val 12000"/>
            </a:avLst>
          </a:prstGeom>
          <a:solidFill>
            <a:srgbClr val="0A2540"/>
          </a:solidFill>
          <a:ln w="19050">
            <a:solidFill>
              <a:srgbClr val="635BFF"/>
            </a:solidFill>
            <a:prstDash val="solid"/>
          </a:ln>
        </p:spPr>
      </p:sp>
      <p:sp>
        <p:nvSpPr>
          <p:cNvPr id="22" name="Text 20"/>
          <p:cNvSpPr/>
          <p:nvPr/>
        </p:nvSpPr>
        <p:spPr>
          <a:xfrm>
            <a:off x="6217920" y="914400"/>
            <a:ext cx="2194560" cy="457200"/>
          </a:xfrm>
          <a:prstGeom prst="rect">
            <a:avLst/>
          </a:prstGeom>
          <a:noFill/>
          <a:ln/>
        </p:spPr>
        <p:txBody>
          <a:bodyPr wrap="square" lIns="0" tIns="0" rIns="0" bIns="0" rtlCol="0" anchor="ctr"/>
          <a:lstStyle/>
          <a:p>
            <a:pPr algn="ctr" indent="0" marL="0">
              <a:buNone/>
            </a:pPr>
            <a:r>
              <a:rPr lang="en-US" sz="1600" dirty="0">
                <a:solidFill>
                  <a:srgbClr val="635BFF"/>
                </a:solidFill>
                <a:latin typeface="Verdana" pitchFamily="34" charset="0"/>
                <a:ea typeface="Verdana" pitchFamily="34" charset="-122"/>
                <a:cs typeface="Verdana" pitchFamily="34" charset="-120"/>
              </a:rPr>
              <a:t>Tab</a:t>
            </a:r>
            <a:endParaRPr lang="en-US" sz="1600" dirty="0"/>
          </a:p>
        </p:txBody>
      </p:sp>
      <p:sp>
        <p:nvSpPr>
          <p:cNvPr id="23" name="Text 21"/>
          <p:cNvSpPr/>
          <p:nvPr/>
        </p:nvSpPr>
        <p:spPr>
          <a:xfrm>
            <a:off x="6217920" y="1371600"/>
            <a:ext cx="2194560" cy="365760"/>
          </a:xfrm>
          <a:prstGeom prst="rect">
            <a:avLst/>
          </a:prstGeom>
          <a:noFill/>
          <a:ln/>
        </p:spPr>
        <p:txBody>
          <a:bodyPr wrap="square" lIns="0" tIns="0" rIns="0" bIns="0" rtlCol="0" anchor="ctr"/>
          <a:lstStyle/>
          <a:p>
            <a:pPr algn="ctr" indent="0" marL="0">
              <a:buNone/>
            </a:pPr>
            <a:r>
              <a:rPr lang="en-US" sz="2000" dirty="0">
                <a:solidFill>
                  <a:srgbClr val="8B95A5"/>
                </a:solidFill>
                <a:latin typeface="Verdana" pitchFamily="34" charset="0"/>
                <a:ea typeface="Verdana" pitchFamily="34" charset="-122"/>
                <a:cs typeface="Verdana" pitchFamily="34" charset="-120"/>
              </a:rPr>
              <a:t>↓</a:t>
            </a:r>
            <a:endParaRPr lang="en-US" sz="2000" dirty="0"/>
          </a:p>
        </p:txBody>
      </p:sp>
      <p:sp>
        <p:nvSpPr>
          <p:cNvPr id="24" name="Shape 22"/>
          <p:cNvSpPr/>
          <p:nvPr/>
        </p:nvSpPr>
        <p:spPr>
          <a:xfrm>
            <a:off x="6217920" y="1737360"/>
            <a:ext cx="2194560" cy="457200"/>
          </a:xfrm>
          <a:prstGeom prst="roundRect">
            <a:avLst>
              <a:gd name="adj" fmla="val 12000"/>
            </a:avLst>
          </a:prstGeom>
          <a:solidFill>
            <a:srgbClr val="0A2540"/>
          </a:solidFill>
          <a:ln w="12700">
            <a:solidFill>
              <a:srgbClr val="8B95A5"/>
            </a:solidFill>
            <a:prstDash val="solid"/>
          </a:ln>
        </p:spPr>
      </p:sp>
      <p:sp>
        <p:nvSpPr>
          <p:cNvPr id="25" name="Text 23"/>
          <p:cNvSpPr/>
          <p:nvPr/>
        </p:nvSpPr>
        <p:spPr>
          <a:xfrm>
            <a:off x="6217920" y="1737360"/>
            <a:ext cx="2194560" cy="457200"/>
          </a:xfrm>
          <a:prstGeom prst="rect">
            <a:avLst/>
          </a:prstGeom>
          <a:noFill/>
          <a:ln/>
        </p:spPr>
        <p:txBody>
          <a:bodyPr wrap="square" lIns="0" tIns="0" rIns="0" bIns="0" rtlCol="0" anchor="ctr"/>
          <a:lstStyle/>
          <a:p>
            <a:pPr algn="ctr" indent="0" marL="0">
              <a:buNone/>
            </a:pPr>
            <a:r>
              <a:rPr lang="en-US" sz="1600" dirty="0">
                <a:solidFill>
                  <a:srgbClr val="8B95A5"/>
                </a:solidFill>
                <a:latin typeface="Verdana" pitchFamily="34" charset="0"/>
                <a:ea typeface="Verdana" pitchFamily="34" charset="-122"/>
                <a:cs typeface="Verdana" pitchFamily="34" charset="-120"/>
              </a:rPr>
              <a:t>Worktree</a:t>
            </a:r>
            <a:endParaRPr lang="en-US" sz="1600" dirty="0"/>
          </a:p>
        </p:txBody>
      </p:sp>
      <p:sp>
        <p:nvSpPr>
          <p:cNvPr id="26" name="Text 24"/>
          <p:cNvSpPr/>
          <p:nvPr/>
        </p:nvSpPr>
        <p:spPr>
          <a:xfrm>
            <a:off x="6217920" y="2194560"/>
            <a:ext cx="2194560" cy="365760"/>
          </a:xfrm>
          <a:prstGeom prst="rect">
            <a:avLst/>
          </a:prstGeom>
          <a:noFill/>
          <a:ln/>
        </p:spPr>
        <p:txBody>
          <a:bodyPr wrap="square" lIns="0" tIns="0" rIns="0" bIns="0" rtlCol="0" anchor="ctr"/>
          <a:lstStyle/>
          <a:p>
            <a:pPr algn="ctr" indent="0" marL="0">
              <a:buNone/>
            </a:pPr>
            <a:r>
              <a:rPr lang="en-US" sz="2000" dirty="0">
                <a:solidFill>
                  <a:srgbClr val="8B95A5"/>
                </a:solidFill>
                <a:latin typeface="Verdana" pitchFamily="34" charset="0"/>
                <a:ea typeface="Verdana" pitchFamily="34" charset="-122"/>
                <a:cs typeface="Verdana" pitchFamily="34" charset="-120"/>
              </a:rPr>
              <a:t>↓</a:t>
            </a:r>
            <a:endParaRPr lang="en-US" sz="2000" dirty="0"/>
          </a:p>
        </p:txBody>
      </p:sp>
      <p:sp>
        <p:nvSpPr>
          <p:cNvPr id="27" name="Shape 25"/>
          <p:cNvSpPr/>
          <p:nvPr/>
        </p:nvSpPr>
        <p:spPr>
          <a:xfrm>
            <a:off x="6217920" y="2560320"/>
            <a:ext cx="2194560" cy="457200"/>
          </a:xfrm>
          <a:prstGeom prst="roundRect">
            <a:avLst>
              <a:gd name="adj" fmla="val 12000"/>
            </a:avLst>
          </a:prstGeom>
          <a:solidFill>
            <a:srgbClr val="0A2540"/>
          </a:solidFill>
          <a:ln w="12700">
            <a:solidFill>
              <a:srgbClr val="8B95A5"/>
            </a:solidFill>
            <a:prstDash val="solid"/>
          </a:ln>
        </p:spPr>
      </p:sp>
      <p:sp>
        <p:nvSpPr>
          <p:cNvPr id="28" name="Text 26"/>
          <p:cNvSpPr/>
          <p:nvPr/>
        </p:nvSpPr>
        <p:spPr>
          <a:xfrm>
            <a:off x="6217920" y="2560320"/>
            <a:ext cx="2194560" cy="457200"/>
          </a:xfrm>
          <a:prstGeom prst="rect">
            <a:avLst/>
          </a:prstGeom>
          <a:noFill/>
          <a:ln/>
        </p:spPr>
        <p:txBody>
          <a:bodyPr wrap="square" lIns="0" tIns="0" rIns="0" bIns="0" rtlCol="0" anchor="ctr"/>
          <a:lstStyle/>
          <a:p>
            <a:pPr algn="ctr" indent="0" marL="0">
              <a:buNone/>
            </a:pPr>
            <a:r>
              <a:rPr lang="en-US" sz="1600" dirty="0">
                <a:solidFill>
                  <a:srgbClr val="8B95A5"/>
                </a:solidFill>
                <a:latin typeface="Verdana" pitchFamily="34" charset="0"/>
                <a:ea typeface="Verdana" pitchFamily="34" charset="-122"/>
                <a:cs typeface="Verdana" pitchFamily="34" charset="-120"/>
              </a:rPr>
              <a:t>Containers + DB</a:t>
            </a:r>
            <a:endParaRPr lang="en-US" sz="1600" dirty="0"/>
          </a:p>
        </p:txBody>
      </p:sp>
      <p:sp>
        <p:nvSpPr>
          <p:cNvPr id="29" name="Text 27"/>
          <p:cNvSpPr/>
          <p:nvPr/>
        </p:nvSpPr>
        <p:spPr>
          <a:xfrm>
            <a:off x="6217920" y="3200400"/>
            <a:ext cx="21945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Verdana" pitchFamily="34" charset="0"/>
                <a:ea typeface="Verdana" pitchFamily="34" charset="-122"/>
                <a:cs typeface="Verdana" pitchFamily="34" charset="-120"/>
              </a:rPr>
              <a:t>Feature C</a:t>
            </a:r>
            <a:endParaRPr lang="en-US" sz="2000" dirty="0"/>
          </a:p>
        </p:txBody>
      </p:sp>
      <p:sp>
        <p:nvSpPr>
          <p:cNvPr id="30" name="Text 28"/>
          <p:cNvSpPr/>
          <p:nvPr/>
        </p:nvSpPr>
        <p:spPr>
          <a:xfrm>
            <a:off x="1371600" y="3931920"/>
            <a:ext cx="6400800" cy="548640"/>
          </a:xfrm>
          <a:prstGeom prst="rect">
            <a:avLst/>
          </a:prstGeom>
          <a:noFill/>
          <a:ln/>
        </p:spPr>
        <p:txBody>
          <a:bodyPr wrap="square" lIns="0" tIns="0" rIns="0" bIns="0" rtlCol="0" anchor="ctr"/>
          <a:lstStyle/>
          <a:p>
            <a:pPr algn="ctr" indent="0" marL="0">
              <a:buNone/>
            </a:pPr>
            <a:r>
              <a:rPr lang="en-US" sz="2200" dirty="0">
                <a:solidFill>
                  <a:srgbClr val="8B95A5"/>
                </a:solidFill>
                <a:latin typeface="Verdana" pitchFamily="34" charset="0"/>
                <a:ea typeface="Verdana" pitchFamily="34" charset="-122"/>
                <a:cs typeface="Verdana" pitchFamily="34" charset="-120"/>
              </a:rPr>
              <a:t>3 sessions. 3 databases. Zero interference.</a:t>
            </a:r>
            <a:endParaRPr lang="en-US" sz="2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5400" b="1" dirty="0">
                <a:solidFill>
                  <a:srgbClr val="FFFFFF"/>
                </a:solidFill>
                <a:latin typeface="Georgia" pitchFamily="34" charset="0"/>
                <a:ea typeface="Georgia" pitchFamily="34" charset="-122"/>
                <a:cs typeface="Georgia" pitchFamily="34" charset="-120"/>
              </a:rPr>
              <a:t>One repo =</a:t>
            </a:r>
            <a:endParaRPr lang="en-US" sz="5400" dirty="0"/>
          </a:p>
          <a:p>
            <a:pPr algn="ctr" indent="0" marL="0">
              <a:buNone/>
            </a:pPr>
            <a:r>
              <a:rPr lang="en-US" sz="5400" b="1" dirty="0">
                <a:solidFill>
                  <a:srgbClr val="FFFFFF"/>
                </a:solidFill>
                <a:latin typeface="Georgia" pitchFamily="34" charset="0"/>
                <a:ea typeface="Georgia" pitchFamily="34" charset="-122"/>
                <a:cs typeface="Georgia" pitchFamily="34" charset="-120"/>
              </a:rPr>
              <a:t>one context boundary.</a:t>
            </a:r>
            <a:endParaRPr lang="en-US" sz="5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914400"/>
            <a:ext cx="8229600" cy="2286000"/>
          </a:xfrm>
          <a:prstGeom prst="rect">
            <a:avLst/>
          </a:prstGeom>
          <a:noFill/>
          <a:ln/>
        </p:spPr>
        <p:txBody>
          <a:bodyPr wrap="square" lIns="0" tIns="0" rIns="0" bIns="0" rtlCol="0" anchor="b"/>
          <a:lstStyle/>
          <a:p>
            <a:pPr algn="ctr" indent="0" marL="0">
              <a:buNone/>
            </a:pPr>
            <a:r>
              <a:rPr lang="en-US" sz="12000" b="1" dirty="0">
                <a:solidFill>
                  <a:srgbClr val="FFFFFF"/>
                </a:solidFill>
                <a:latin typeface="Georgia" pitchFamily="34" charset="0"/>
                <a:ea typeface="Georgia" pitchFamily="34" charset="-122"/>
                <a:cs typeface="Georgia" pitchFamily="34" charset="-120"/>
              </a:rPr>
              <a:t>30%</a:t>
            </a:r>
            <a:endParaRPr lang="en-US" sz="12000" dirty="0"/>
          </a:p>
        </p:txBody>
      </p:sp>
      <p:sp>
        <p:nvSpPr>
          <p:cNvPr id="4" name="Text 2"/>
          <p:cNvSpPr/>
          <p:nvPr/>
        </p:nvSpPr>
        <p:spPr>
          <a:xfrm>
            <a:off x="1371600" y="3291840"/>
            <a:ext cx="6400800" cy="731520"/>
          </a:xfrm>
          <a:prstGeom prst="rect">
            <a:avLst/>
          </a:prstGeom>
          <a:noFill/>
          <a:ln/>
        </p:spPr>
        <p:txBody>
          <a:bodyPr wrap="square" lIns="0" tIns="0" rIns="0" bIns="0" rtlCol="0" anchor="t"/>
          <a:lstStyle/>
          <a:p>
            <a:pPr algn="ctr" indent="0" marL="0">
              <a:buNone/>
            </a:pPr>
            <a:r>
              <a:rPr lang="en-US" sz="2800" dirty="0">
                <a:solidFill>
                  <a:srgbClr val="8B95A5"/>
                </a:solidFill>
                <a:latin typeface="Verdana" pitchFamily="34" charset="0"/>
                <a:ea typeface="Verdana" pitchFamily="34" charset="-122"/>
                <a:cs typeface="Verdana" pitchFamily="34" charset="-120"/>
              </a:rPr>
              <a:t>productivity gains for AI agents</a:t>
            </a:r>
            <a:endParaRPr lang="en-US" sz="2800" dirty="0"/>
          </a:p>
          <a:p>
            <a:pPr algn="ctr" indent="0" marL="0">
              <a:buNone/>
            </a:pPr>
            <a:r>
              <a:rPr lang="en-US" sz="2800" dirty="0">
                <a:solidFill>
                  <a:srgbClr val="8B95A5"/>
                </a:solidFill>
                <a:latin typeface="Verdana" pitchFamily="34" charset="0"/>
                <a:ea typeface="Verdana" pitchFamily="34" charset="-122"/>
                <a:cs typeface="Verdana" pitchFamily="34" charset="-120"/>
              </a:rPr>
              <a:t>in monorepos</a:t>
            </a:r>
            <a:endParaRPr lang="en-US" sz="2800" dirty="0"/>
          </a:p>
        </p:txBody>
      </p:sp>
      <p:sp>
        <p:nvSpPr>
          <p:cNvPr id="5" name="Text 3"/>
          <p:cNvSpPr/>
          <p:nvPr/>
        </p:nvSpPr>
        <p:spPr>
          <a:xfrm>
            <a:off x="457200" y="4572000"/>
            <a:ext cx="8229600" cy="365760"/>
          </a:xfrm>
          <a:prstGeom prst="rect">
            <a:avLst/>
          </a:prstGeom>
          <a:noFill/>
          <a:ln/>
        </p:spPr>
        <p:txBody>
          <a:bodyPr wrap="square" lIns="0" tIns="0" rIns="0" bIns="0" rtlCol="0" anchor="b"/>
          <a:lstStyle/>
          <a:p>
            <a:pPr algn="r" indent="0" marL="0">
              <a:buNone/>
            </a:pPr>
            <a:r>
              <a:rPr lang="en-US" sz="1100" u="sng" dirty="0">
                <a:solidFill>
                  <a:srgbClr val="8B95A5"/>
                </a:solidFill>
                <a:latin typeface="Verdana" pitchFamily="34" charset="0"/>
                <a:ea typeface="Verdana" pitchFamily="34" charset="-122"/>
                <a:cs typeface="Verdana" pitchFamily="34" charset="-120"/>
                <a:hlinkClick r:id="rId1" invalidUrl="" action="" tgtFrame="" tooltip="" history="1" highlightClick="0" endSnd="0">
                  <a:extLst>
                    <a:ext uri="{A12FA001-AC4F-418D-AE19-62706E023703}">
                      <ahyp:hlinkClr xmlns:ahyp="http://schemas.microsoft.com/office/drawing/2018/hyperlinkcolor" val="tx"/>
                    </a:ext>
                  </a:extLst>
                </a:hlinkClick>
              </a:rPr>
              <a:t>Nx Blog</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Lock the environment,</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not the agent.</a:t>
            </a:r>
            <a:endParaRPr lang="en-US" sz="4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731520"/>
            <a:ext cx="3840480" cy="640080"/>
          </a:xfrm>
          <a:prstGeom prst="rect">
            <a:avLst/>
          </a:prstGeom>
          <a:noFill/>
          <a:ln/>
        </p:spPr>
        <p:txBody>
          <a:bodyPr wrap="square" lIns="0" tIns="0" rIns="0" bIns="0" rtlCol="0" anchor="ctr"/>
          <a:lstStyle/>
          <a:p>
            <a:pPr algn="ctr" indent="0" marL="0">
              <a:buNone/>
            </a:pPr>
            <a:r>
              <a:rPr lang="en-US" sz="3600" b="1" dirty="0">
                <a:solidFill>
                  <a:srgbClr val="635BFF"/>
                </a:solidFill>
                <a:latin typeface="Georgia" pitchFamily="34" charset="0"/>
                <a:ea typeface="Georgia" pitchFamily="34" charset="-122"/>
                <a:cs typeface="Georgia" pitchFamily="34" charset="-120"/>
              </a:rPr>
              <a:t>CLI</a:t>
            </a:r>
            <a:endParaRPr lang="en-US" sz="3600" dirty="0"/>
          </a:p>
        </p:txBody>
      </p:sp>
      <p:sp>
        <p:nvSpPr>
          <p:cNvPr id="4" name="Text 2"/>
          <p:cNvSpPr/>
          <p:nvPr/>
        </p:nvSpPr>
        <p:spPr>
          <a:xfrm>
            <a:off x="457200" y="1737360"/>
            <a:ext cx="3840480" cy="2286000"/>
          </a:xfrm>
          <a:prstGeom prst="rect">
            <a:avLst/>
          </a:prstGeom>
          <a:noFill/>
          <a:ln/>
        </p:spPr>
        <p:txBody>
          <a:bodyPr wrap="square" lIns="0" tIns="0" rIns="0" bIns="0" rtlCol="0" anchor="t"/>
          <a:lstStyle/>
          <a:p>
            <a:pPr algn="ctr" indent="0" marL="0">
              <a:buNone/>
            </a:pPr>
            <a:r>
              <a:rPr lang="en-US" sz="2200" dirty="0">
                <a:solidFill>
                  <a:srgbClr val="8B95A5"/>
                </a:solidFill>
                <a:latin typeface="Verdana" pitchFamily="34" charset="0"/>
                <a:ea typeface="Verdana" pitchFamily="34" charset="-122"/>
                <a:cs typeface="Verdana" pitchFamily="34" charset="-120"/>
              </a:rPr>
              <a:t>Latest features.</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Always ahead</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of the plugin.</a:t>
            </a:r>
            <a:endParaRPr lang="en-US" sz="2200" dirty="0"/>
          </a:p>
        </p:txBody>
      </p:sp>
      <p:sp>
        <p:nvSpPr>
          <p:cNvPr id="5" name="Shape 3"/>
          <p:cNvSpPr/>
          <p:nvPr/>
        </p:nvSpPr>
        <p:spPr>
          <a:xfrm>
            <a:off x="4572000" y="731520"/>
            <a:ext cx="0" cy="3291840"/>
          </a:xfrm>
          <a:prstGeom prst="line">
            <a:avLst/>
          </a:prstGeom>
          <a:noFill/>
          <a:ln w="12700">
            <a:solidFill>
              <a:srgbClr val="635BFF"/>
            </a:solidFill>
            <a:prstDash val="solid"/>
          </a:ln>
        </p:spPr>
      </p:sp>
      <p:sp>
        <p:nvSpPr>
          <p:cNvPr id="6" name="Text 4"/>
          <p:cNvSpPr/>
          <p:nvPr/>
        </p:nvSpPr>
        <p:spPr>
          <a:xfrm>
            <a:off x="4846320" y="731520"/>
            <a:ext cx="3840480" cy="640080"/>
          </a:xfrm>
          <a:prstGeom prst="rect">
            <a:avLst/>
          </a:prstGeom>
          <a:noFill/>
          <a:ln/>
        </p:spPr>
        <p:txBody>
          <a:bodyPr wrap="square" lIns="0" tIns="0" rIns="0" bIns="0" rtlCol="0" anchor="ctr"/>
          <a:lstStyle/>
          <a:p>
            <a:pPr algn="ctr" indent="0" marL="0">
              <a:buNone/>
            </a:pPr>
            <a:r>
              <a:rPr lang="en-US" sz="3600" b="1" dirty="0">
                <a:solidFill>
                  <a:srgbClr val="635BFF"/>
                </a:solidFill>
                <a:latin typeface="Georgia" pitchFamily="34" charset="0"/>
                <a:ea typeface="Georgia" pitchFamily="34" charset="-122"/>
                <a:cs typeface="Georgia" pitchFamily="34" charset="-120"/>
              </a:rPr>
              <a:t>Tabs</a:t>
            </a:r>
            <a:endParaRPr lang="en-US" sz="3600" dirty="0"/>
          </a:p>
        </p:txBody>
      </p:sp>
      <p:sp>
        <p:nvSpPr>
          <p:cNvPr id="7" name="Text 5"/>
          <p:cNvSpPr/>
          <p:nvPr/>
        </p:nvSpPr>
        <p:spPr>
          <a:xfrm>
            <a:off x="4846320" y="1737360"/>
            <a:ext cx="3840480" cy="2286000"/>
          </a:xfrm>
          <a:prstGeom prst="rect">
            <a:avLst/>
          </a:prstGeom>
          <a:noFill/>
          <a:ln/>
        </p:spPr>
        <p:txBody>
          <a:bodyPr wrap="square" lIns="0" tIns="0" rIns="0" bIns="0" rtlCol="0" anchor="t"/>
          <a:lstStyle/>
          <a:p>
            <a:pPr algn="ctr" indent="0" marL="0">
              <a:buNone/>
            </a:pPr>
            <a:r>
              <a:rPr lang="en-US" sz="2200" dirty="0">
                <a:solidFill>
                  <a:srgbClr val="8B95A5"/>
                </a:solidFill>
                <a:latin typeface="Verdana" pitchFamily="34" charset="0"/>
                <a:ea typeface="Verdana" pitchFamily="34" charset="-122"/>
                <a:cs typeface="Verdana" pitchFamily="34" charset="-120"/>
              </a:rPr>
              <a:t>Parallel sessions.</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One tab</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per worktree.</a:t>
            </a:r>
            <a:endParaRPr lang="en-US" sz="2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914400"/>
            <a:ext cx="8229600" cy="2286000"/>
          </a:xfrm>
          <a:prstGeom prst="rect">
            <a:avLst/>
          </a:prstGeom>
          <a:noFill/>
          <a:ln/>
        </p:spPr>
        <p:txBody>
          <a:bodyPr wrap="square" lIns="0" tIns="0" rIns="0" bIns="0" rtlCol="0" anchor="b"/>
          <a:lstStyle/>
          <a:p>
            <a:pPr algn="ctr" indent="0" marL="0">
              <a:buNone/>
            </a:pPr>
            <a:r>
              <a:rPr lang="en-US" sz="10000" b="1" dirty="0">
                <a:solidFill>
                  <a:srgbClr val="FFFFFF"/>
                </a:solidFill>
                <a:latin typeface="Georgia" pitchFamily="34" charset="0"/>
                <a:ea typeface="Georgia" pitchFamily="34" charset="-122"/>
                <a:cs typeface="Georgia" pitchFamily="34" charset="-120"/>
              </a:rPr>
              <a:t>90</a:t>
            </a:r>
            <a:pPr algn="ctr" indent="0" marL="0">
              <a:buNone/>
            </a:pPr>
            <a:r>
              <a:rPr lang="en-US" sz="10000" b="1" dirty="0">
                <a:solidFill>
                  <a:srgbClr val="8B95A5"/>
                </a:solidFill>
                <a:latin typeface="Georgia" pitchFamily="34" charset="0"/>
                <a:ea typeface="Georgia" pitchFamily="34" charset="-122"/>
                <a:cs typeface="Georgia" pitchFamily="34" charset="-120"/>
              </a:rPr>
              <a:t> / </a:t>
            </a:r>
            <a:pPr algn="ctr" indent="0" marL="0">
              <a:buNone/>
            </a:pPr>
            <a:r>
              <a:rPr lang="en-US" sz="10000" b="1" dirty="0">
                <a:solidFill>
                  <a:srgbClr val="635BFF"/>
                </a:solidFill>
                <a:latin typeface="Georgia" pitchFamily="34" charset="0"/>
                <a:ea typeface="Georgia" pitchFamily="34" charset="-122"/>
                <a:cs typeface="Georgia" pitchFamily="34" charset="-120"/>
              </a:rPr>
              <a:t>10</a:t>
            </a:r>
            <a:endParaRPr lang="en-US" sz="10000" dirty="0"/>
          </a:p>
        </p:txBody>
      </p:sp>
      <p:sp>
        <p:nvSpPr>
          <p:cNvPr id="4" name="Text 2"/>
          <p:cNvSpPr/>
          <p:nvPr/>
        </p:nvSpPr>
        <p:spPr>
          <a:xfrm>
            <a:off x="1371600" y="3291840"/>
            <a:ext cx="6400800" cy="731520"/>
          </a:xfrm>
          <a:prstGeom prst="rect">
            <a:avLst/>
          </a:prstGeom>
          <a:noFill/>
          <a:ln/>
        </p:spPr>
        <p:txBody>
          <a:bodyPr wrap="square" lIns="0" tIns="0" rIns="0" bIns="0" rtlCol="0" anchor="t"/>
          <a:lstStyle/>
          <a:p>
            <a:pPr algn="ctr" indent="0" marL="0">
              <a:buNone/>
            </a:pPr>
            <a:r>
              <a:rPr lang="en-US" sz="2800" dirty="0">
                <a:solidFill>
                  <a:srgbClr val="8B95A5"/>
                </a:solidFill>
                <a:latin typeface="Verdana" pitchFamily="34" charset="0"/>
                <a:ea typeface="Verdana" pitchFamily="34" charset="-122"/>
                <a:cs typeface="Verdana" pitchFamily="34" charset="-120"/>
              </a:rPr>
              <a:t>product engineering / building the machine</a:t>
            </a:r>
            <a:endParaRPr lang="en-US" sz="2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731520"/>
            <a:ext cx="3840480" cy="640080"/>
          </a:xfrm>
          <a:prstGeom prst="rect">
            <a:avLst/>
          </a:prstGeom>
          <a:noFill/>
          <a:ln/>
        </p:spPr>
        <p:txBody>
          <a:bodyPr wrap="square" lIns="0" tIns="0" rIns="0" bIns="0" rtlCol="0" anchor="ctr"/>
          <a:lstStyle/>
          <a:p>
            <a:pPr algn="ctr" indent="0" marL="0">
              <a:buNone/>
            </a:pPr>
            <a:r>
              <a:rPr lang="en-US" sz="3600" b="1" dirty="0">
                <a:solidFill>
                  <a:srgbClr val="635BFF"/>
                </a:solidFill>
                <a:latin typeface="Georgia" pitchFamily="34" charset="0"/>
                <a:ea typeface="Georgia" pitchFamily="34" charset="-122"/>
                <a:cs typeface="Georgia" pitchFamily="34" charset="-120"/>
              </a:rPr>
              <a:t>Default</a:t>
            </a:r>
            <a:endParaRPr lang="en-US" sz="3600" dirty="0"/>
          </a:p>
        </p:txBody>
      </p:sp>
      <p:sp>
        <p:nvSpPr>
          <p:cNvPr id="3" name="Text 1"/>
          <p:cNvSpPr/>
          <p:nvPr/>
        </p:nvSpPr>
        <p:spPr>
          <a:xfrm>
            <a:off x="457200" y="1737360"/>
            <a:ext cx="3840480" cy="2286000"/>
          </a:xfrm>
          <a:prstGeom prst="rect">
            <a:avLst/>
          </a:prstGeom>
          <a:noFill/>
          <a:ln/>
        </p:spPr>
        <p:txBody>
          <a:bodyPr wrap="square" lIns="0" tIns="0" rIns="0" bIns="0" rtlCol="0" anchor="t"/>
          <a:lstStyle/>
          <a:p>
            <a:pPr algn="ctr" indent="0" marL="0">
              <a:buNone/>
            </a:pPr>
            <a:r>
              <a:rPr lang="en-US" sz="2200" dirty="0">
                <a:solidFill>
                  <a:srgbClr val="1A1F36"/>
                </a:solidFill>
                <a:latin typeface="Verdana" pitchFamily="34" charset="0"/>
                <a:ea typeface="Verdana" pitchFamily="34" charset="-122"/>
                <a:cs typeface="Verdana" pitchFamily="34" charset="-120"/>
              </a:rPr>
              <a:t>Claude Code via Anthropic</a:t>
            </a:r>
            <a:endParaRPr lang="en-US" sz="2200" dirty="0"/>
          </a:p>
          <a:p>
            <a:pPr algn="ctr" indent="0" marL="0">
              <a:buNone/>
            </a:pPr>
            <a:r>
              <a:rPr lang="en-US" sz="2200" dirty="0">
                <a:solidFill>
                  <a:srgbClr val="1A1F36"/>
                </a:solidFill>
                <a:latin typeface="Verdana" pitchFamily="34" charset="0"/>
                <a:ea typeface="Verdana" pitchFamily="34" charset="-122"/>
                <a:cs typeface="Verdana" pitchFamily="34" charset="-120"/>
              </a:rPr>
              <a:t>Latest models, best features</a:t>
            </a:r>
            <a:endParaRPr lang="en-US" sz="2200" dirty="0"/>
          </a:p>
          <a:p>
            <a:pPr algn="ctr" indent="0" marL="0">
              <a:buNone/>
            </a:pPr>
            <a:r>
              <a:rPr lang="en-US" sz="2200" dirty="0">
                <a:solidFill>
                  <a:srgbClr val="1A1F36"/>
                </a:solidFill>
                <a:latin typeface="Verdana" pitchFamily="34" charset="0"/>
                <a:ea typeface="Verdana" pitchFamily="34" charset="-122"/>
                <a:cs typeface="Verdana" pitchFamily="34" charset="-120"/>
              </a:rPr>
              <a:t>All general coding</a:t>
            </a:r>
            <a:endParaRPr lang="en-US" sz="2200" dirty="0"/>
          </a:p>
        </p:txBody>
      </p:sp>
      <p:sp>
        <p:nvSpPr>
          <p:cNvPr id="4" name="Shape 2"/>
          <p:cNvSpPr/>
          <p:nvPr/>
        </p:nvSpPr>
        <p:spPr>
          <a:xfrm>
            <a:off x="4572000" y="731520"/>
            <a:ext cx="0" cy="3291840"/>
          </a:xfrm>
          <a:prstGeom prst="line">
            <a:avLst/>
          </a:prstGeom>
          <a:noFill/>
          <a:ln w="12700">
            <a:solidFill>
              <a:srgbClr val="8B95A5"/>
            </a:solidFill>
            <a:prstDash val="solid"/>
          </a:ln>
        </p:spPr>
      </p:sp>
      <p:sp>
        <p:nvSpPr>
          <p:cNvPr id="5" name="Text 3"/>
          <p:cNvSpPr/>
          <p:nvPr/>
        </p:nvSpPr>
        <p:spPr>
          <a:xfrm>
            <a:off x="4846320" y="731520"/>
            <a:ext cx="3840480" cy="640080"/>
          </a:xfrm>
          <a:prstGeom prst="rect">
            <a:avLst/>
          </a:prstGeom>
          <a:noFill/>
          <a:ln/>
        </p:spPr>
        <p:txBody>
          <a:bodyPr wrap="square" lIns="0" tIns="0" rIns="0" bIns="0" rtlCol="0" anchor="ctr"/>
          <a:lstStyle/>
          <a:p>
            <a:pPr algn="ctr" indent="0" marL="0">
              <a:buNone/>
            </a:pPr>
            <a:r>
              <a:rPr lang="en-US" sz="3600" b="1" dirty="0">
                <a:solidFill>
                  <a:srgbClr val="FF6B8A"/>
                </a:solidFill>
                <a:latin typeface="Georgia" pitchFamily="34" charset="0"/>
                <a:ea typeface="Georgia" pitchFamily="34" charset="-122"/>
                <a:cs typeface="Georgia" pitchFamily="34" charset="-120"/>
              </a:rPr>
              <a:t>PII</a:t>
            </a:r>
            <a:endParaRPr lang="en-US" sz="3600" dirty="0"/>
          </a:p>
        </p:txBody>
      </p:sp>
      <p:sp>
        <p:nvSpPr>
          <p:cNvPr id="6" name="Text 4"/>
          <p:cNvSpPr/>
          <p:nvPr/>
        </p:nvSpPr>
        <p:spPr>
          <a:xfrm>
            <a:off x="4846320" y="1737360"/>
            <a:ext cx="3840480" cy="2286000"/>
          </a:xfrm>
          <a:prstGeom prst="rect">
            <a:avLst/>
          </a:prstGeom>
          <a:noFill/>
          <a:ln/>
        </p:spPr>
        <p:txBody>
          <a:bodyPr wrap="square" lIns="0" tIns="0" rIns="0" bIns="0" rtlCol="0" anchor="t"/>
          <a:lstStyle/>
          <a:p>
            <a:pPr algn="ctr" indent="0" marL="0">
              <a:buNone/>
            </a:pPr>
            <a:r>
              <a:rPr lang="en-US" sz="2200" dirty="0">
                <a:solidFill>
                  <a:srgbClr val="1A1F36"/>
                </a:solidFill>
                <a:latin typeface="Verdana" pitchFamily="34" charset="0"/>
                <a:ea typeface="Verdana" pitchFamily="34" charset="-122"/>
                <a:cs typeface="Verdana" pitchFamily="34" charset="-120"/>
              </a:rPr>
              <a:t>Claude Code via GCP</a:t>
            </a:r>
            <a:endParaRPr lang="en-US" sz="2200" dirty="0"/>
          </a:p>
          <a:p>
            <a:pPr algn="ctr" indent="0" marL="0">
              <a:buNone/>
            </a:pPr>
            <a:r>
              <a:rPr lang="en-US" sz="2200" dirty="0">
                <a:solidFill>
                  <a:srgbClr val="1A1F36"/>
                </a:solidFill>
                <a:latin typeface="Verdana" pitchFamily="34" charset="0"/>
                <a:ea typeface="Verdana" pitchFamily="34" charset="-122"/>
                <a:cs typeface="Verdana" pitchFamily="34" charset="-120"/>
              </a:rPr>
              <a:t>EU region models</a:t>
            </a:r>
            <a:endParaRPr lang="en-US" sz="2200" dirty="0"/>
          </a:p>
          <a:p>
            <a:pPr algn="ctr" indent="0" marL="0">
              <a:buNone/>
            </a:pPr>
            <a:r>
              <a:rPr lang="en-US" sz="2200" dirty="0">
                <a:solidFill>
                  <a:srgbClr val="1A1F36"/>
                </a:solidFill>
                <a:latin typeface="Verdana" pitchFamily="34" charset="0"/>
                <a:ea typeface="Verdana" pitchFamily="34" charset="-122"/>
                <a:cs typeface="Verdana" pitchFamily="34" charset="-120"/>
              </a:rPr>
              <a:t>Managed tool calls</a:t>
            </a:r>
            <a:endParaRPr lang="en-US" sz="2200" dirty="0"/>
          </a:p>
          <a:p>
            <a:pPr algn="ctr" indent="0" marL="0">
              <a:buNone/>
            </a:pPr>
            <a:r>
              <a:rPr lang="en-US" sz="2200" dirty="0">
                <a:solidFill>
                  <a:srgbClr val="1A1F36"/>
                </a:solidFill>
                <a:latin typeface="Verdana" pitchFamily="34" charset="0"/>
                <a:ea typeface="Verdana" pitchFamily="34" charset="-122"/>
                <a:cs typeface="Verdana" pitchFamily="34" charset="-120"/>
              </a:rPr>
              <a:t>Production logs, user data</a:t>
            </a:r>
            <a:endParaRPr lang="en-US" sz="2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1463040"/>
            <a:ext cx="8229600" cy="1097280"/>
          </a:xfrm>
          <a:prstGeom prst="rect">
            <a:avLst/>
          </a:prstGeom>
          <a:noFill/>
          <a:ln/>
        </p:spPr>
        <p:txBody>
          <a:bodyPr wrap="square" lIns="0" tIns="0" rIns="0" bIns="0" rtlCol="0" anchor="ctr"/>
          <a:lstStyle/>
          <a:p>
            <a:pPr algn="ctr" indent="0" marL="0">
              <a:buNone/>
            </a:pPr>
            <a:r>
              <a:rPr lang="en-US" sz="5400" b="1" dirty="0">
                <a:solidFill>
                  <a:srgbClr val="FFFFFF"/>
                </a:solidFill>
                <a:latin typeface="Georgia" pitchFamily="34" charset="0"/>
                <a:ea typeface="Georgia" pitchFamily="34" charset="-122"/>
                <a:cs typeface="Georgia" pitchFamily="34" charset="-120"/>
              </a:rPr>
              <a:t>Gated Workflow</a:t>
            </a:r>
            <a:endParaRPr lang="en-US" sz="5400" dirty="0"/>
          </a:p>
        </p:txBody>
      </p:sp>
      <p:sp>
        <p:nvSpPr>
          <p:cNvPr id="4" name="Text 2"/>
          <p:cNvSpPr/>
          <p:nvPr/>
        </p:nvSpPr>
        <p:spPr>
          <a:xfrm>
            <a:off x="914400" y="2651760"/>
            <a:ext cx="7315200" cy="548640"/>
          </a:xfrm>
          <a:prstGeom prst="rect">
            <a:avLst/>
          </a:prstGeom>
          <a:noFill/>
          <a:ln/>
        </p:spPr>
        <p:txBody>
          <a:bodyPr wrap="square" lIns="0" tIns="0" rIns="0" bIns="0" rtlCol="0" anchor="ctr"/>
          <a:lstStyle/>
          <a:p>
            <a:pPr algn="ctr" indent="0" marL="0">
              <a:buNone/>
            </a:pPr>
            <a:r>
              <a:rPr lang="en-US" sz="2800" i="1" dirty="0">
                <a:solidFill>
                  <a:srgbClr val="635BFF"/>
                </a:solidFill>
                <a:latin typeface="Verdana" pitchFamily="34" charset="0"/>
                <a:ea typeface="Verdana" pitchFamily="34" charset="-122"/>
                <a:cs typeface="Verdana" pitchFamily="34" charset="-120"/>
              </a:rPr>
              <a:t>How it all comes together</a:t>
            </a:r>
            <a:endParaRPr lang="en-US" sz="2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Shape 1"/>
          <p:cNvSpPr/>
          <p:nvPr/>
        </p:nvSpPr>
        <p:spPr>
          <a:xfrm>
            <a:off x="457200" y="1828800"/>
            <a:ext cx="1920240" cy="731520"/>
          </a:xfrm>
          <a:prstGeom prst="roundRect">
            <a:avLst>
              <a:gd name="adj" fmla="val 10000"/>
            </a:avLst>
          </a:prstGeom>
          <a:solidFill>
            <a:srgbClr val="0A2540"/>
          </a:solidFill>
          <a:ln w="25400">
            <a:solidFill>
              <a:srgbClr val="635BFF"/>
            </a:solidFill>
            <a:prstDash val="solid"/>
          </a:ln>
        </p:spPr>
      </p:sp>
      <p:sp>
        <p:nvSpPr>
          <p:cNvPr id="4" name="Text 2"/>
          <p:cNvSpPr/>
          <p:nvPr/>
        </p:nvSpPr>
        <p:spPr>
          <a:xfrm>
            <a:off x="457200" y="1828800"/>
            <a:ext cx="192024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Verdana" pitchFamily="34" charset="0"/>
                <a:ea typeface="Verdana" pitchFamily="34" charset="-122"/>
                <a:cs typeface="Verdana" pitchFamily="34" charset="-120"/>
              </a:rPr>
              <a:t>Brainstorm</a:t>
            </a:r>
            <a:endParaRPr lang="en-US" sz="1800" dirty="0"/>
          </a:p>
        </p:txBody>
      </p:sp>
      <p:sp>
        <p:nvSpPr>
          <p:cNvPr id="5" name="Text 3"/>
          <p:cNvSpPr/>
          <p:nvPr/>
        </p:nvSpPr>
        <p:spPr>
          <a:xfrm>
            <a:off x="2377440" y="1828800"/>
            <a:ext cx="182880" cy="731520"/>
          </a:xfrm>
          <a:prstGeom prst="rect">
            <a:avLst/>
          </a:prstGeom>
          <a:noFill/>
          <a:ln/>
        </p:spPr>
        <p:txBody>
          <a:bodyPr wrap="square" lIns="0" tIns="0" rIns="0" bIns="0" rtlCol="0" anchor="ctr"/>
          <a:lstStyle/>
          <a:p>
            <a:pPr algn="ctr" indent="0" marL="0">
              <a:buNone/>
            </a:pPr>
            <a:r>
              <a:rPr lang="en-US" sz="2000" b="1" dirty="0">
                <a:solidFill>
                  <a:srgbClr val="635BFF"/>
                </a:solidFill>
                <a:latin typeface="Verdana" pitchFamily="34" charset="0"/>
                <a:ea typeface="Verdana" pitchFamily="34" charset="-122"/>
                <a:cs typeface="Verdana" pitchFamily="34" charset="-120"/>
              </a:rPr>
              <a:t>→</a:t>
            </a:r>
            <a:endParaRPr lang="en-US" sz="2000" dirty="0"/>
          </a:p>
        </p:txBody>
      </p:sp>
      <p:sp>
        <p:nvSpPr>
          <p:cNvPr id="6" name="Shape 4"/>
          <p:cNvSpPr/>
          <p:nvPr/>
        </p:nvSpPr>
        <p:spPr>
          <a:xfrm>
            <a:off x="2560320" y="1828800"/>
            <a:ext cx="1920240" cy="731520"/>
          </a:xfrm>
          <a:prstGeom prst="roundRect">
            <a:avLst>
              <a:gd name="adj" fmla="val 10000"/>
            </a:avLst>
          </a:prstGeom>
          <a:solidFill>
            <a:srgbClr val="0A2540"/>
          </a:solidFill>
          <a:ln w="25400">
            <a:solidFill>
              <a:srgbClr val="635BFF"/>
            </a:solidFill>
            <a:prstDash val="solid"/>
          </a:ln>
        </p:spPr>
      </p:sp>
      <p:sp>
        <p:nvSpPr>
          <p:cNvPr id="7" name="Text 5"/>
          <p:cNvSpPr/>
          <p:nvPr/>
        </p:nvSpPr>
        <p:spPr>
          <a:xfrm>
            <a:off x="2560320" y="1828800"/>
            <a:ext cx="192024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Verdana" pitchFamily="34" charset="0"/>
                <a:ea typeface="Verdana" pitchFamily="34" charset="-122"/>
                <a:cs typeface="Verdana" pitchFamily="34" charset="-120"/>
              </a:rPr>
              <a:t>Plan</a:t>
            </a:r>
            <a:endParaRPr lang="en-US" sz="1800" dirty="0"/>
          </a:p>
        </p:txBody>
      </p:sp>
      <p:sp>
        <p:nvSpPr>
          <p:cNvPr id="8" name="Text 6"/>
          <p:cNvSpPr/>
          <p:nvPr/>
        </p:nvSpPr>
        <p:spPr>
          <a:xfrm>
            <a:off x="4480560" y="1828800"/>
            <a:ext cx="182880" cy="731520"/>
          </a:xfrm>
          <a:prstGeom prst="rect">
            <a:avLst/>
          </a:prstGeom>
          <a:noFill/>
          <a:ln/>
        </p:spPr>
        <p:txBody>
          <a:bodyPr wrap="square" lIns="0" tIns="0" rIns="0" bIns="0" rtlCol="0" anchor="ctr"/>
          <a:lstStyle/>
          <a:p>
            <a:pPr algn="ctr" indent="0" marL="0">
              <a:buNone/>
            </a:pPr>
            <a:r>
              <a:rPr lang="en-US" sz="2000" b="1" dirty="0">
                <a:solidFill>
                  <a:srgbClr val="635BFF"/>
                </a:solidFill>
                <a:latin typeface="Verdana" pitchFamily="34" charset="0"/>
                <a:ea typeface="Verdana" pitchFamily="34" charset="-122"/>
                <a:cs typeface="Verdana" pitchFamily="34" charset="-120"/>
              </a:rPr>
              <a:t>→</a:t>
            </a:r>
            <a:endParaRPr lang="en-US" sz="2000" dirty="0"/>
          </a:p>
        </p:txBody>
      </p:sp>
      <p:sp>
        <p:nvSpPr>
          <p:cNvPr id="9" name="Shape 7"/>
          <p:cNvSpPr/>
          <p:nvPr/>
        </p:nvSpPr>
        <p:spPr>
          <a:xfrm>
            <a:off x="4663440" y="1828800"/>
            <a:ext cx="1920240" cy="731520"/>
          </a:xfrm>
          <a:prstGeom prst="roundRect">
            <a:avLst>
              <a:gd name="adj" fmla="val 10000"/>
            </a:avLst>
          </a:prstGeom>
          <a:solidFill>
            <a:srgbClr val="0A2540"/>
          </a:solidFill>
          <a:ln w="25400">
            <a:solidFill>
              <a:srgbClr val="635BFF"/>
            </a:solidFill>
            <a:prstDash val="solid"/>
          </a:ln>
        </p:spPr>
      </p:sp>
      <p:sp>
        <p:nvSpPr>
          <p:cNvPr id="10" name="Text 8"/>
          <p:cNvSpPr/>
          <p:nvPr/>
        </p:nvSpPr>
        <p:spPr>
          <a:xfrm>
            <a:off x="4663440" y="1828800"/>
            <a:ext cx="192024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Verdana" pitchFamily="34" charset="0"/>
                <a:ea typeface="Verdana" pitchFamily="34" charset="-122"/>
                <a:cs typeface="Verdana" pitchFamily="34" charset="-120"/>
              </a:rPr>
              <a:t>Implement</a:t>
            </a:r>
            <a:endParaRPr lang="en-US" sz="1800" dirty="0"/>
          </a:p>
        </p:txBody>
      </p:sp>
      <p:sp>
        <p:nvSpPr>
          <p:cNvPr id="11" name="Text 9"/>
          <p:cNvSpPr/>
          <p:nvPr/>
        </p:nvSpPr>
        <p:spPr>
          <a:xfrm>
            <a:off x="6583680" y="1828800"/>
            <a:ext cx="182880" cy="731520"/>
          </a:xfrm>
          <a:prstGeom prst="rect">
            <a:avLst/>
          </a:prstGeom>
          <a:noFill/>
          <a:ln/>
        </p:spPr>
        <p:txBody>
          <a:bodyPr wrap="square" lIns="0" tIns="0" rIns="0" bIns="0" rtlCol="0" anchor="ctr"/>
          <a:lstStyle/>
          <a:p>
            <a:pPr algn="ctr" indent="0" marL="0">
              <a:buNone/>
            </a:pPr>
            <a:r>
              <a:rPr lang="en-US" sz="2000" b="1" dirty="0">
                <a:solidFill>
                  <a:srgbClr val="635BFF"/>
                </a:solidFill>
                <a:latin typeface="Verdana" pitchFamily="34" charset="0"/>
                <a:ea typeface="Verdana" pitchFamily="34" charset="-122"/>
                <a:cs typeface="Verdana" pitchFamily="34" charset="-120"/>
              </a:rPr>
              <a:t>→</a:t>
            </a:r>
            <a:endParaRPr lang="en-US" sz="2000" dirty="0"/>
          </a:p>
        </p:txBody>
      </p:sp>
      <p:sp>
        <p:nvSpPr>
          <p:cNvPr id="12" name="Shape 10"/>
          <p:cNvSpPr/>
          <p:nvPr/>
        </p:nvSpPr>
        <p:spPr>
          <a:xfrm>
            <a:off x="6766560" y="1828800"/>
            <a:ext cx="1920240" cy="731520"/>
          </a:xfrm>
          <a:prstGeom prst="roundRect">
            <a:avLst>
              <a:gd name="adj" fmla="val 10000"/>
            </a:avLst>
          </a:prstGeom>
          <a:solidFill>
            <a:srgbClr val="0A2540"/>
          </a:solidFill>
          <a:ln w="25400">
            <a:solidFill>
              <a:srgbClr val="635BFF"/>
            </a:solidFill>
            <a:prstDash val="solid"/>
          </a:ln>
        </p:spPr>
      </p:sp>
      <p:sp>
        <p:nvSpPr>
          <p:cNvPr id="13" name="Text 11"/>
          <p:cNvSpPr/>
          <p:nvPr/>
        </p:nvSpPr>
        <p:spPr>
          <a:xfrm>
            <a:off x="6766560" y="1828800"/>
            <a:ext cx="192024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Verdana" pitchFamily="34" charset="0"/>
                <a:ea typeface="Verdana" pitchFamily="34" charset="-122"/>
                <a:cs typeface="Verdana" pitchFamily="34" charset="-120"/>
              </a:rPr>
              <a:t>Review</a:t>
            </a:r>
            <a:endParaRPr lang="en-US" sz="1800" dirty="0"/>
          </a:p>
        </p:txBody>
      </p:sp>
      <p:sp>
        <p:nvSpPr>
          <p:cNvPr id="14" name="Text 12"/>
          <p:cNvSpPr/>
          <p:nvPr/>
        </p:nvSpPr>
        <p:spPr>
          <a:xfrm>
            <a:off x="1371600" y="3108960"/>
            <a:ext cx="6400800" cy="914400"/>
          </a:xfrm>
          <a:prstGeom prst="rect">
            <a:avLst/>
          </a:prstGeom>
          <a:noFill/>
          <a:ln/>
        </p:spPr>
        <p:txBody>
          <a:bodyPr wrap="square" lIns="0" tIns="0" rIns="0" bIns="0" rtlCol="0" anchor="t"/>
          <a:lstStyle/>
          <a:p>
            <a:pPr algn="ctr" indent="0" marL="0">
              <a:buNone/>
            </a:pPr>
            <a:r>
              <a:rPr lang="en-US" sz="2400" dirty="0">
                <a:solidFill>
                  <a:srgbClr val="8B95A5"/>
                </a:solidFill>
                <a:latin typeface="Verdana" pitchFamily="34" charset="0"/>
                <a:ea typeface="Verdana" pitchFamily="34" charset="-122"/>
                <a:cs typeface="Verdana" pitchFamily="34" charset="-120"/>
              </a:rPr>
              <a:t>Each stage produces an artifact.</a:t>
            </a:r>
            <a:endParaRPr lang="en-US" sz="2400" dirty="0"/>
          </a:p>
          <a:p>
            <a:pPr algn="ctr" indent="0" marL="0">
              <a:buNone/>
            </a:pPr>
            <a:r>
              <a:rPr lang="en-US" sz="2400" dirty="0">
                <a:solidFill>
                  <a:srgbClr val="8B95A5"/>
                </a:solidFill>
                <a:latin typeface="Verdana" pitchFamily="34" charset="0"/>
                <a:ea typeface="Verdana" pitchFamily="34" charset="-122"/>
                <a:cs typeface="Verdana" pitchFamily="34" charset="-120"/>
              </a:rPr>
              <a:t>Each artifact gets validated.</a:t>
            </a:r>
            <a:endParaRPr lang="en-US" sz="2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731520"/>
            <a:ext cx="3840480" cy="640080"/>
          </a:xfrm>
          <a:prstGeom prst="rect">
            <a:avLst/>
          </a:prstGeom>
          <a:noFill/>
          <a:ln/>
        </p:spPr>
        <p:txBody>
          <a:bodyPr wrap="square" lIns="0" tIns="0" rIns="0" bIns="0" rtlCol="0" anchor="ctr"/>
          <a:lstStyle/>
          <a:p>
            <a:pPr algn="ctr" indent="0" marL="0">
              <a:buNone/>
            </a:pPr>
            <a:r>
              <a:rPr lang="en-US" sz="3600" b="1" dirty="0">
                <a:solidFill>
                  <a:srgbClr val="635BFF"/>
                </a:solidFill>
                <a:latin typeface="Georgia" pitchFamily="34" charset="0"/>
                <a:ea typeface="Georgia" pitchFamily="34" charset="-122"/>
                <a:cs typeface="Georgia" pitchFamily="34" charset="-120"/>
              </a:rPr>
              <a:t>Agent verifies</a:t>
            </a:r>
            <a:endParaRPr lang="en-US" sz="3600" dirty="0"/>
          </a:p>
        </p:txBody>
      </p:sp>
      <p:sp>
        <p:nvSpPr>
          <p:cNvPr id="4" name="Text 2"/>
          <p:cNvSpPr/>
          <p:nvPr/>
        </p:nvSpPr>
        <p:spPr>
          <a:xfrm>
            <a:off x="457200" y="1737360"/>
            <a:ext cx="3840480" cy="2286000"/>
          </a:xfrm>
          <a:prstGeom prst="rect">
            <a:avLst/>
          </a:prstGeom>
          <a:noFill/>
          <a:ln/>
        </p:spPr>
        <p:txBody>
          <a:bodyPr wrap="square" lIns="0" tIns="0" rIns="0" bIns="0" rtlCol="0" anchor="t"/>
          <a:lstStyle/>
          <a:p>
            <a:pPr algn="ctr" indent="0" marL="0">
              <a:buNone/>
            </a:pPr>
            <a:r>
              <a:rPr lang="en-US" sz="2200" dirty="0">
                <a:solidFill>
                  <a:srgbClr val="8B95A5"/>
                </a:solidFill>
                <a:latin typeface="Verdana" pitchFamily="34" charset="0"/>
                <a:ea typeface="Verdana" pitchFamily="34" charset="-122"/>
                <a:cs typeface="Verdana" pitchFamily="34" charset="-120"/>
              </a:rPr>
              <a:t>Runs tests</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Checks linting</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Iterates until passing</a:t>
            </a:r>
            <a:endParaRPr lang="en-US" sz="2200" dirty="0"/>
          </a:p>
        </p:txBody>
      </p:sp>
      <p:sp>
        <p:nvSpPr>
          <p:cNvPr id="5" name="Shape 3"/>
          <p:cNvSpPr/>
          <p:nvPr/>
        </p:nvSpPr>
        <p:spPr>
          <a:xfrm>
            <a:off x="4572000" y="731520"/>
            <a:ext cx="0" cy="3291840"/>
          </a:xfrm>
          <a:prstGeom prst="line">
            <a:avLst/>
          </a:prstGeom>
          <a:noFill/>
          <a:ln w="12700">
            <a:solidFill>
              <a:srgbClr val="635BFF"/>
            </a:solidFill>
            <a:prstDash val="solid"/>
          </a:ln>
        </p:spPr>
      </p:sp>
      <p:sp>
        <p:nvSpPr>
          <p:cNvPr id="6" name="Text 4"/>
          <p:cNvSpPr/>
          <p:nvPr/>
        </p:nvSpPr>
        <p:spPr>
          <a:xfrm>
            <a:off x="4846320" y="731520"/>
            <a:ext cx="3840480" cy="64008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You verify</a:t>
            </a:r>
            <a:endParaRPr lang="en-US" sz="3600" dirty="0"/>
          </a:p>
        </p:txBody>
      </p:sp>
      <p:sp>
        <p:nvSpPr>
          <p:cNvPr id="7" name="Text 5"/>
          <p:cNvSpPr/>
          <p:nvPr/>
        </p:nvSpPr>
        <p:spPr>
          <a:xfrm>
            <a:off x="4846320" y="1737360"/>
            <a:ext cx="3840480" cy="2286000"/>
          </a:xfrm>
          <a:prstGeom prst="rect">
            <a:avLst/>
          </a:prstGeom>
          <a:noFill/>
          <a:ln/>
        </p:spPr>
        <p:txBody>
          <a:bodyPr wrap="square" lIns="0" tIns="0" rIns="0" bIns="0" rtlCol="0" anchor="t"/>
          <a:lstStyle/>
          <a:p>
            <a:pPr algn="ctr" indent="0" marL="0">
              <a:buNone/>
            </a:pPr>
            <a:r>
              <a:rPr lang="en-US" sz="2200" dirty="0">
                <a:solidFill>
                  <a:srgbClr val="8B95A5"/>
                </a:solidFill>
                <a:latin typeface="Verdana" pitchFamily="34" charset="0"/>
                <a:ea typeface="Verdana" pitchFamily="34" charset="-122"/>
                <a:cs typeface="Verdana" pitchFamily="34" charset="-120"/>
              </a:rPr>
              <a:t>Solves the problem?</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Meets requirements?</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Architecturally sound?</a:t>
            </a:r>
            <a:endParaRPr lang="en-US" sz="2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914400"/>
            <a:ext cx="7315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Superpowers</a:t>
            </a:r>
            <a:endParaRPr lang="en-US" sz="4400" dirty="0"/>
          </a:p>
        </p:txBody>
      </p:sp>
      <p:sp>
        <p:nvSpPr>
          <p:cNvPr id="4" name="Text 2"/>
          <p:cNvSpPr/>
          <p:nvPr/>
        </p:nvSpPr>
        <p:spPr>
          <a:xfrm>
            <a:off x="1371600" y="2194560"/>
            <a:ext cx="6400800" cy="1097280"/>
          </a:xfrm>
          <a:prstGeom prst="rect">
            <a:avLst/>
          </a:prstGeom>
          <a:noFill/>
          <a:ln/>
        </p:spPr>
        <p:txBody>
          <a:bodyPr wrap="square" lIns="0" tIns="0" rIns="0" bIns="0" rtlCol="0" anchor="t"/>
          <a:lstStyle/>
          <a:p>
            <a:pPr algn="ctr" indent="0" marL="0">
              <a:buNone/>
            </a:pPr>
            <a:r>
              <a:rPr lang="en-US" sz="2800" dirty="0">
                <a:solidFill>
                  <a:srgbClr val="8B95A5"/>
                </a:solidFill>
                <a:latin typeface="Verdana" pitchFamily="34" charset="0"/>
                <a:ea typeface="Verdana" pitchFamily="34" charset="-122"/>
                <a:cs typeface="Verdana" pitchFamily="34" charset="-120"/>
              </a:rPr>
              <a:t>The gated workflow, as a plugin.</a:t>
            </a:r>
            <a:endParaRPr lang="en-US" sz="2800" dirty="0"/>
          </a:p>
        </p:txBody>
      </p:sp>
      <p:sp>
        <p:nvSpPr>
          <p:cNvPr id="5" name="Text 3"/>
          <p:cNvSpPr/>
          <p:nvPr/>
        </p:nvSpPr>
        <p:spPr>
          <a:xfrm>
            <a:off x="5943600" y="4389120"/>
            <a:ext cx="2743200" cy="365760"/>
          </a:xfrm>
          <a:prstGeom prst="rect">
            <a:avLst/>
          </a:prstGeom>
          <a:noFill/>
          <a:ln/>
        </p:spPr>
        <p:txBody>
          <a:bodyPr wrap="square" lIns="0" tIns="0" rIns="0" bIns="0" rtlCol="0" anchor="ctr"/>
          <a:lstStyle/>
          <a:p>
            <a:pPr algn="r" indent="0" marL="0">
              <a:buNone/>
            </a:pPr>
            <a:r>
              <a:rPr lang="en-US" sz="1600" i="1" dirty="0">
                <a:solidFill>
                  <a:srgbClr val="635BFF"/>
                </a:solidFill>
                <a:latin typeface="Verdana" pitchFamily="34" charset="0"/>
                <a:ea typeface="Verdana" pitchFamily="34" charset="-122"/>
                <a:cs typeface="Verdana" pitchFamily="34" charset="-120"/>
              </a:rPr>
              <a:t>gated workflow</a:t>
            </a:r>
            <a:endParaRPr lang="en-US" sz="16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3200" b="1" dirty="0">
                <a:solidFill>
                  <a:srgbClr val="635BFF"/>
                </a:solidFill>
                <a:latin typeface="Georgia" pitchFamily="34" charset="0"/>
                <a:ea typeface="Georgia" pitchFamily="34" charset="-122"/>
                <a:cs typeface="Georgia" pitchFamily="34" charset="-120"/>
              </a:rPr>
              <a:t>Rules enforce standards.</a:t>
            </a:r>
            <a:endParaRPr lang="en-US" sz="3200" dirty="0"/>
          </a:p>
          <a:p>
            <a:pPr algn="ctr" indent="0" marL="0">
              <a:buNone/>
            </a:pPr>
            <a:r>
              <a:rPr lang="en-US" sz="3200" b="1" dirty="0">
                <a:solidFill>
                  <a:srgbClr val="635BFF"/>
                </a:solidFill>
                <a:latin typeface="Georgia" pitchFamily="34" charset="0"/>
                <a:ea typeface="Georgia" pitchFamily="34" charset="-122"/>
                <a:cs typeface="Georgia" pitchFamily="34" charset="-120"/>
              </a:rPr>
              <a:t>MCP provides context.</a:t>
            </a:r>
            <a:endParaRPr lang="en-US" sz="3200" dirty="0"/>
          </a:p>
          <a:p>
            <a:pPr algn="ctr" indent="0" marL="0">
              <a:buNone/>
            </a:pPr>
            <a:r>
              <a:rPr lang="en-US" sz="3200" b="1" dirty="0">
                <a:solidFill>
                  <a:srgbClr val="635BFF"/>
                </a:solidFill>
                <a:latin typeface="Georgia" pitchFamily="34" charset="0"/>
                <a:ea typeface="Georgia" pitchFamily="34" charset="-122"/>
                <a:cs typeface="Georgia" pitchFamily="34" charset="-120"/>
              </a:rPr>
              <a:t>Skills define the workflow.</a:t>
            </a:r>
            <a:endParaRPr lang="en-US" sz="3200" dirty="0"/>
          </a:p>
          <a:p>
            <a:pPr algn="ctr" indent="0" marL="0">
              <a:buNone/>
            </a:pPr>
            <a:r>
              <a:rPr lang="en-US" sz="3200" b="1" dirty="0">
                <a:solidFill>
                  <a:srgbClr val="635BFF"/>
                </a:solidFill>
                <a:latin typeface="Georgia" pitchFamily="34" charset="0"/>
                <a:ea typeface="Georgia" pitchFamily="34" charset="-122"/>
                <a:cs typeface="Georgia" pitchFamily="34" charset="-120"/>
              </a:rPr>
              <a:t>The approach connects them.</a:t>
            </a:r>
            <a:endParaRPr lang="en-US" sz="3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1371600" y="1828800"/>
            <a:ext cx="6400800" cy="1463040"/>
          </a:xfrm>
          <a:prstGeom prst="rect">
            <a:avLst/>
          </a:prstGeom>
          <a:noFill/>
          <a:ln/>
        </p:spPr>
        <p:txBody>
          <a:bodyPr wrap="square" lIns="0" tIns="0" rIns="0" bIns="0" rtlCol="0" anchor="ctr"/>
          <a:lstStyle/>
          <a:p>
            <a:pPr algn="ctr" indent="0" marL="0">
              <a:buNone/>
            </a:pPr>
            <a:r>
              <a:rPr lang="en-US" sz="2800" i="1" dirty="0">
                <a:solidFill>
                  <a:srgbClr val="635BFF"/>
                </a:solidFill>
                <a:latin typeface="Georgia" pitchFamily="34" charset="0"/>
                <a:ea typeface="Georgia" pitchFamily="34" charset="-122"/>
                <a:cs typeface="Georgia" pitchFamily="34" charset="-120"/>
              </a:rPr>
              <a:t>That’s the full system.</a:t>
            </a:r>
            <a:endParaRPr lang="en-US" sz="2800" dirty="0"/>
          </a:p>
          <a:p>
            <a:pPr algn="ctr" indent="0" marL="0">
              <a:buNone/>
            </a:pPr>
            <a:r>
              <a:rPr lang="en-US" sz="2800" i="1" dirty="0">
                <a:solidFill>
                  <a:srgbClr val="635BFF"/>
                </a:solidFill>
                <a:latin typeface="Georgia" pitchFamily="34" charset="0"/>
                <a:ea typeface="Georgia" pitchFamily="34" charset="-122"/>
                <a:cs typeface="Georgia" pitchFamily="34" charset="-120"/>
              </a:rPr>
              <a:t>Here’s how it connects.</a:t>
            </a:r>
            <a:endParaRPr lang="en-US" sz="2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731520" y="548640"/>
            <a:ext cx="7680960" cy="73152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Every piece. Three principles.</a:t>
            </a:r>
            <a:endParaRPr lang="en-US" sz="3600" dirty="0"/>
          </a:p>
        </p:txBody>
      </p:sp>
      <p:sp>
        <p:nvSpPr>
          <p:cNvPr id="4" name="Text 2"/>
          <p:cNvSpPr/>
          <p:nvPr/>
        </p:nvSpPr>
        <p:spPr>
          <a:xfrm>
            <a:off x="1097280" y="1645920"/>
            <a:ext cx="6949440" cy="2743200"/>
          </a:xfrm>
          <a:prstGeom prst="rect">
            <a:avLst/>
          </a:prstGeom>
          <a:noFill/>
          <a:ln/>
        </p:spPr>
        <p:txBody>
          <a:bodyPr wrap="square" lIns="0" tIns="0" rIns="0" bIns="0" rtlCol="0" anchor="t"/>
          <a:lstStyle/>
          <a:p>
            <a:pPr indent="0" marL="0">
              <a:buNone/>
            </a:pPr>
            <a:r>
              <a:rPr lang="en-US" sz="2400" b="1" dirty="0">
                <a:solidFill>
                  <a:srgbClr val="635BFF"/>
                </a:solidFill>
                <a:latin typeface="Verdana" pitchFamily="34" charset="0"/>
                <a:ea typeface="Verdana" pitchFamily="34" charset="-122"/>
                <a:cs typeface="Verdana" pitchFamily="34" charset="-120"/>
              </a:rPr>
              <a:t>Perfect context</a:t>
            </a:r>
            <a:endParaRPr lang="en-US" sz="2400" dirty="0"/>
          </a:p>
          <a:p>
            <a:pPr indent="0" marL="0">
              <a:buNone/>
            </a:pPr>
            <a:r>
              <a:rPr lang="en-US" sz="2400" dirty="0">
                <a:solidFill>
                  <a:srgbClr val="8B95A5"/>
                </a:solidFill>
                <a:latin typeface="Verdana" pitchFamily="34" charset="0"/>
                <a:ea typeface="Verdana" pitchFamily="34" charset="-122"/>
                <a:cs typeface="Verdana" pitchFamily="34" charset="-120"/>
              </a:rPr>
              <a:t>  Language Servers, Rules, Monorepo</a:t>
            </a:r>
            <a:endParaRPr lang="en-US" sz="2400" dirty="0"/>
          </a:p>
          <a:p>
            <a:pPr indent="0" marL="0">
              <a:buNone/>
            </a:pPr>
            <a:endParaRPr lang="en-US" sz="2400" dirty="0"/>
          </a:p>
          <a:p>
            <a:pPr indent="0" marL="0">
              <a:buNone/>
            </a:pPr>
            <a:r>
              <a:rPr lang="en-US" sz="2400" b="1" dirty="0">
                <a:solidFill>
                  <a:srgbClr val="635BFF"/>
                </a:solidFill>
                <a:latin typeface="Verdana" pitchFamily="34" charset="0"/>
                <a:ea typeface="Verdana" pitchFamily="34" charset="-122"/>
                <a:cs typeface="Verdana" pitchFamily="34" charset="-120"/>
              </a:rPr>
              <a:t>Always grounded</a:t>
            </a:r>
            <a:endParaRPr lang="en-US" sz="2400" dirty="0"/>
          </a:p>
          <a:p>
            <a:pPr indent="0" marL="0">
              <a:buNone/>
            </a:pPr>
            <a:r>
              <a:rPr lang="en-US" sz="2400" dirty="0">
                <a:solidFill>
                  <a:srgbClr val="8B95A5"/>
                </a:solidFill>
                <a:latin typeface="Verdana" pitchFamily="34" charset="0"/>
                <a:ea typeface="Verdana" pitchFamily="34" charset="-122"/>
                <a:cs typeface="Verdana" pitchFamily="34" charset="-120"/>
              </a:rPr>
              <a:t>  Context7, Firecrawl, Tool usage rules</a:t>
            </a:r>
            <a:endParaRPr lang="en-US" sz="2400" dirty="0"/>
          </a:p>
          <a:p>
            <a:pPr indent="0" marL="0">
              <a:buNone/>
            </a:pPr>
            <a:endParaRPr lang="en-US" sz="2400" dirty="0"/>
          </a:p>
          <a:p>
            <a:pPr indent="0" marL="0">
              <a:buNone/>
            </a:pPr>
            <a:r>
              <a:rPr lang="en-US" sz="2400" b="1" dirty="0">
                <a:solidFill>
                  <a:srgbClr val="635BFF"/>
                </a:solidFill>
                <a:latin typeface="Verdana" pitchFamily="34" charset="0"/>
                <a:ea typeface="Verdana" pitchFamily="34" charset="-122"/>
                <a:cs typeface="Verdana" pitchFamily="34" charset="-120"/>
              </a:rPr>
              <a:t>Gated workflow</a:t>
            </a:r>
            <a:endParaRPr lang="en-US" sz="2400" dirty="0"/>
          </a:p>
          <a:p>
            <a:pPr indent="0" marL="0">
              <a:buNone/>
            </a:pPr>
            <a:r>
              <a:rPr lang="en-US" sz="2400" dirty="0">
                <a:solidFill>
                  <a:srgbClr val="8B95A5"/>
                </a:solidFill>
                <a:latin typeface="Verdana" pitchFamily="34" charset="0"/>
                <a:ea typeface="Verdana" pitchFamily="34" charset="-122"/>
                <a:cs typeface="Verdana" pitchFamily="34" charset="-120"/>
              </a:rPr>
              <a:t>  Superpowers, Two-layer verification, CI/CD</a:t>
            </a:r>
            <a:endParaRPr lang="en-US" sz="2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2743200" y="822960"/>
            <a:ext cx="3657600" cy="457200"/>
          </a:xfrm>
          <a:prstGeom prst="rect">
            <a:avLst/>
          </a:prstGeom>
          <a:noFill/>
          <a:ln/>
        </p:spPr>
        <p:txBody>
          <a:bodyPr wrap="square" lIns="0" tIns="0" rIns="0" bIns="0" rtlCol="0" anchor="b"/>
          <a:lstStyle/>
          <a:p>
            <a:pPr algn="ctr" indent="0" marL="0">
              <a:buNone/>
            </a:pPr>
            <a:r>
              <a:rPr lang="en-US" sz="1800" i="1" dirty="0">
                <a:solidFill>
                  <a:srgbClr val="635BFF"/>
                </a:solidFill>
                <a:latin typeface="Verdana" pitchFamily="34" charset="0"/>
                <a:ea typeface="Verdana" pitchFamily="34" charset="-122"/>
                <a:cs typeface="Verdana" pitchFamily="34" charset="-120"/>
              </a:rPr>
              <a:t>the approach</a:t>
            </a:r>
            <a:endParaRPr lang="en-US" sz="1800" dirty="0"/>
          </a:p>
        </p:txBody>
      </p:sp>
      <p:sp>
        <p:nvSpPr>
          <p:cNvPr id="4" name="Shape 2"/>
          <p:cNvSpPr/>
          <p:nvPr/>
        </p:nvSpPr>
        <p:spPr>
          <a:xfrm>
            <a:off x="2743200" y="1371600"/>
            <a:ext cx="3657600" cy="731520"/>
          </a:xfrm>
          <a:prstGeom prst="roundRect">
            <a:avLst>
              <a:gd name="adj" fmla="val 10000"/>
            </a:avLst>
          </a:prstGeom>
          <a:solidFill>
            <a:srgbClr val="0A2540"/>
          </a:solidFill>
          <a:ln w="31750">
            <a:solidFill>
              <a:srgbClr val="635BFF"/>
            </a:solidFill>
            <a:prstDash val="solid"/>
          </a:ln>
        </p:spPr>
      </p:sp>
      <p:sp>
        <p:nvSpPr>
          <p:cNvPr id="5" name="Text 3"/>
          <p:cNvSpPr/>
          <p:nvPr/>
        </p:nvSpPr>
        <p:spPr>
          <a:xfrm>
            <a:off x="2743200" y="1371600"/>
            <a:ext cx="3657600" cy="731520"/>
          </a:xfrm>
          <a:prstGeom prst="rect">
            <a:avLst/>
          </a:prstGeom>
          <a:noFill/>
          <a:ln/>
        </p:spPr>
        <p:txBody>
          <a:bodyPr wrap="square" lIns="0" tIns="0" rIns="0" bIns="0" rtlCol="0" anchor="ctr"/>
          <a:lstStyle/>
          <a:p>
            <a:pPr algn="ctr" indent="0" marL="0">
              <a:buNone/>
            </a:pPr>
            <a:r>
              <a:rPr lang="en-US" sz="2800" b="1" dirty="0">
                <a:solidFill>
                  <a:srgbClr val="635BFF"/>
                </a:solidFill>
                <a:latin typeface="Georgia" pitchFamily="34" charset="0"/>
                <a:ea typeface="Georgia" pitchFamily="34" charset="-122"/>
                <a:cs typeface="Georgia" pitchFamily="34" charset="-120"/>
              </a:rPr>
              <a:t>Gated Workflow</a:t>
            </a:r>
            <a:endParaRPr lang="en-US" sz="2800" dirty="0"/>
          </a:p>
        </p:txBody>
      </p:sp>
      <p:sp>
        <p:nvSpPr>
          <p:cNvPr id="6" name="Text 4"/>
          <p:cNvSpPr/>
          <p:nvPr/>
        </p:nvSpPr>
        <p:spPr>
          <a:xfrm>
            <a:off x="3657600" y="2240280"/>
            <a:ext cx="1828800" cy="457200"/>
          </a:xfrm>
          <a:prstGeom prst="rect">
            <a:avLst/>
          </a:prstGeom>
          <a:noFill/>
          <a:ln/>
        </p:spPr>
        <p:txBody>
          <a:bodyPr wrap="square" lIns="0" tIns="0" rIns="0" bIns="0" rtlCol="0" anchor="ctr"/>
          <a:lstStyle/>
          <a:p>
            <a:pPr algn="ctr" indent="0" marL="0">
              <a:buNone/>
            </a:pPr>
            <a:r>
              <a:rPr lang="en-US" sz="2800" b="1" dirty="0">
                <a:solidFill>
                  <a:srgbClr val="635BFF"/>
                </a:solidFill>
                <a:latin typeface="Verdana" pitchFamily="34" charset="0"/>
                <a:ea typeface="Verdana" pitchFamily="34" charset="-122"/>
                <a:cs typeface="Verdana" pitchFamily="34" charset="-120"/>
              </a:rPr>
              <a:t>↑</a:t>
            </a:r>
            <a:endParaRPr lang="en-US" sz="2800" dirty="0"/>
          </a:p>
        </p:txBody>
      </p:sp>
      <p:sp>
        <p:nvSpPr>
          <p:cNvPr id="7" name="Shape 5"/>
          <p:cNvSpPr/>
          <p:nvPr/>
        </p:nvSpPr>
        <p:spPr>
          <a:xfrm>
            <a:off x="914400" y="2834640"/>
            <a:ext cx="2194560" cy="731520"/>
          </a:xfrm>
          <a:prstGeom prst="roundRect">
            <a:avLst>
              <a:gd name="adj" fmla="val 10000"/>
            </a:avLst>
          </a:prstGeom>
          <a:solidFill>
            <a:srgbClr val="0A2540"/>
          </a:solidFill>
          <a:ln w="19050">
            <a:solidFill>
              <a:srgbClr val="635BFF"/>
            </a:solidFill>
            <a:prstDash val="solid"/>
          </a:ln>
        </p:spPr>
      </p:sp>
      <p:sp>
        <p:nvSpPr>
          <p:cNvPr id="8" name="Text 6"/>
          <p:cNvSpPr/>
          <p:nvPr/>
        </p:nvSpPr>
        <p:spPr>
          <a:xfrm>
            <a:off x="914400" y="2834640"/>
            <a:ext cx="2194560" cy="731520"/>
          </a:xfrm>
          <a:prstGeom prst="rect">
            <a:avLst/>
          </a:prstGeom>
          <a:noFill/>
          <a:ln/>
        </p:spPr>
        <p:txBody>
          <a:bodyPr wrap="square" lIns="0" tIns="0" rIns="0" bIns="0" rtlCol="0" anchor="ctr"/>
          <a:lstStyle/>
          <a:p>
            <a:pPr algn="ctr" indent="0" marL="0">
              <a:buNone/>
            </a:pPr>
            <a:r>
              <a:rPr lang="en-US" sz="2400" b="1" dirty="0">
                <a:solidFill>
                  <a:srgbClr val="635BFF"/>
                </a:solidFill>
                <a:latin typeface="Georgia" pitchFamily="34" charset="0"/>
                <a:ea typeface="Georgia" pitchFamily="34" charset="-122"/>
                <a:cs typeface="Georgia" pitchFamily="34" charset="-120"/>
              </a:rPr>
              <a:t>Rules</a:t>
            </a:r>
            <a:endParaRPr lang="en-US" sz="2400" dirty="0"/>
          </a:p>
        </p:txBody>
      </p:sp>
      <p:sp>
        <p:nvSpPr>
          <p:cNvPr id="9" name="Shape 7"/>
          <p:cNvSpPr/>
          <p:nvPr/>
        </p:nvSpPr>
        <p:spPr>
          <a:xfrm>
            <a:off x="3474720" y="2834640"/>
            <a:ext cx="2194560" cy="731520"/>
          </a:xfrm>
          <a:prstGeom prst="roundRect">
            <a:avLst>
              <a:gd name="adj" fmla="val 10000"/>
            </a:avLst>
          </a:prstGeom>
          <a:solidFill>
            <a:srgbClr val="0A2540"/>
          </a:solidFill>
          <a:ln w="19050">
            <a:solidFill>
              <a:srgbClr val="635BFF"/>
            </a:solidFill>
            <a:prstDash val="solid"/>
          </a:ln>
        </p:spPr>
      </p:sp>
      <p:sp>
        <p:nvSpPr>
          <p:cNvPr id="10" name="Text 8"/>
          <p:cNvSpPr/>
          <p:nvPr/>
        </p:nvSpPr>
        <p:spPr>
          <a:xfrm>
            <a:off x="3474720" y="2834640"/>
            <a:ext cx="2194560" cy="731520"/>
          </a:xfrm>
          <a:prstGeom prst="rect">
            <a:avLst/>
          </a:prstGeom>
          <a:noFill/>
          <a:ln/>
        </p:spPr>
        <p:txBody>
          <a:bodyPr wrap="square" lIns="0" tIns="0" rIns="0" bIns="0" rtlCol="0" anchor="ctr"/>
          <a:lstStyle/>
          <a:p>
            <a:pPr algn="ctr" indent="0" marL="0">
              <a:buNone/>
            </a:pPr>
            <a:r>
              <a:rPr lang="en-US" sz="2400" b="1" dirty="0">
                <a:solidFill>
                  <a:srgbClr val="635BFF"/>
                </a:solidFill>
                <a:latin typeface="Georgia" pitchFamily="34" charset="0"/>
                <a:ea typeface="Georgia" pitchFamily="34" charset="-122"/>
                <a:cs typeface="Georgia" pitchFamily="34" charset="-120"/>
              </a:rPr>
              <a:t>MCP Servers</a:t>
            </a:r>
            <a:endParaRPr lang="en-US" sz="2400" dirty="0"/>
          </a:p>
        </p:txBody>
      </p:sp>
      <p:sp>
        <p:nvSpPr>
          <p:cNvPr id="11" name="Shape 9"/>
          <p:cNvSpPr/>
          <p:nvPr/>
        </p:nvSpPr>
        <p:spPr>
          <a:xfrm>
            <a:off x="6035040" y="2834640"/>
            <a:ext cx="2194560" cy="731520"/>
          </a:xfrm>
          <a:prstGeom prst="roundRect">
            <a:avLst>
              <a:gd name="adj" fmla="val 10000"/>
            </a:avLst>
          </a:prstGeom>
          <a:solidFill>
            <a:srgbClr val="0A2540"/>
          </a:solidFill>
          <a:ln w="19050">
            <a:solidFill>
              <a:srgbClr val="635BFF"/>
            </a:solidFill>
            <a:prstDash val="solid"/>
          </a:ln>
        </p:spPr>
      </p:sp>
      <p:sp>
        <p:nvSpPr>
          <p:cNvPr id="12" name="Text 10"/>
          <p:cNvSpPr/>
          <p:nvPr/>
        </p:nvSpPr>
        <p:spPr>
          <a:xfrm>
            <a:off x="6035040" y="2834640"/>
            <a:ext cx="2194560" cy="731520"/>
          </a:xfrm>
          <a:prstGeom prst="rect">
            <a:avLst/>
          </a:prstGeom>
          <a:noFill/>
          <a:ln/>
        </p:spPr>
        <p:txBody>
          <a:bodyPr wrap="square" lIns="0" tIns="0" rIns="0" bIns="0" rtlCol="0" anchor="ctr"/>
          <a:lstStyle/>
          <a:p>
            <a:pPr algn="ctr" indent="0" marL="0">
              <a:buNone/>
            </a:pPr>
            <a:r>
              <a:rPr lang="en-US" sz="2400" b="1" dirty="0">
                <a:solidFill>
                  <a:srgbClr val="635BFF"/>
                </a:solidFill>
                <a:latin typeface="Georgia" pitchFamily="34" charset="0"/>
                <a:ea typeface="Georgia" pitchFamily="34" charset="-122"/>
                <a:cs typeface="Georgia" pitchFamily="34" charset="-120"/>
              </a:rPr>
              <a:t>Skills</a:t>
            </a:r>
            <a:endParaRPr lang="en-US" sz="2400" dirty="0"/>
          </a:p>
        </p:txBody>
      </p:sp>
      <p:sp>
        <p:nvSpPr>
          <p:cNvPr id="13" name="Text 11"/>
          <p:cNvSpPr/>
          <p:nvPr/>
        </p:nvSpPr>
        <p:spPr>
          <a:xfrm>
            <a:off x="2743200" y="3657600"/>
            <a:ext cx="3657600" cy="457200"/>
          </a:xfrm>
          <a:prstGeom prst="rect">
            <a:avLst/>
          </a:prstGeom>
          <a:noFill/>
          <a:ln/>
        </p:spPr>
        <p:txBody>
          <a:bodyPr wrap="square" lIns="0" tIns="0" rIns="0" bIns="0" rtlCol="0" anchor="t"/>
          <a:lstStyle/>
          <a:p>
            <a:pPr algn="ctr" indent="0" marL="0">
              <a:buNone/>
            </a:pPr>
            <a:r>
              <a:rPr lang="en-US" sz="1800" i="1" dirty="0">
                <a:solidFill>
                  <a:srgbClr val="635BFF"/>
                </a:solidFill>
                <a:latin typeface="Verdana" pitchFamily="34" charset="0"/>
                <a:ea typeface="Verdana" pitchFamily="34" charset="-122"/>
                <a:cs typeface="Verdana" pitchFamily="34" charset="-120"/>
              </a:rPr>
              <a:t>the tools</a:t>
            </a:r>
            <a:endParaRPr lang="en-US" sz="1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5400" b="1" dirty="0">
                <a:solidFill>
                  <a:srgbClr val="FFFFFF"/>
                </a:solidFill>
                <a:latin typeface="Georgia" pitchFamily="34" charset="0"/>
                <a:ea typeface="Georgia" pitchFamily="34" charset="-122"/>
                <a:cs typeface="Georgia" pitchFamily="34" charset="-120"/>
              </a:rPr>
              <a:t>The Builder’s job</a:t>
            </a:r>
            <a:endParaRPr lang="en-US" sz="5400" dirty="0"/>
          </a:p>
          <a:p>
            <a:pPr algn="ctr" indent="0" marL="0">
              <a:buNone/>
            </a:pPr>
            <a:r>
              <a:rPr lang="en-US" sz="5400" b="1" dirty="0">
                <a:solidFill>
                  <a:srgbClr val="FFFFFF"/>
                </a:solidFill>
                <a:latin typeface="Georgia" pitchFamily="34" charset="0"/>
                <a:ea typeface="Georgia" pitchFamily="34" charset="-122"/>
                <a:cs typeface="Georgia" pitchFamily="34" charset="-120"/>
              </a:rPr>
              <a:t>isn’t writing code.</a:t>
            </a:r>
            <a:endParaRPr lang="en-US" sz="5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5400" b="1" dirty="0">
                <a:solidFill>
                  <a:srgbClr val="635BFF"/>
                </a:solidFill>
                <a:latin typeface="Georgia" pitchFamily="34" charset="0"/>
                <a:ea typeface="Georgia" pitchFamily="34" charset="-122"/>
                <a:cs typeface="Georgia" pitchFamily="34" charset="-120"/>
              </a:rPr>
              <a:t>It’s building the machine</a:t>
            </a:r>
            <a:endParaRPr lang="en-US" sz="5400" dirty="0"/>
          </a:p>
          <a:p>
            <a:pPr algn="ctr" indent="0" marL="0">
              <a:buNone/>
            </a:pPr>
            <a:r>
              <a:rPr lang="en-US" sz="5400" b="1" dirty="0">
                <a:solidFill>
                  <a:srgbClr val="635BFF"/>
                </a:solidFill>
                <a:latin typeface="Georgia" pitchFamily="34" charset="0"/>
                <a:ea typeface="Georgia" pitchFamily="34" charset="-122"/>
                <a:cs typeface="Georgia" pitchFamily="34" charset="-120"/>
              </a:rPr>
              <a:t>that writes code well.</a:t>
            </a:r>
            <a:endParaRPr lang="en-US" sz="5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Builder's Playbook</dc:title>
  <dc:subject>PptxGenJS Presentation</dc:subject>
  <dc:creator>AI Best Practices</dc:creator>
  <cp:lastModifiedBy>AI Best Practices</cp:lastModifiedBy>
  <cp:revision>1</cp:revision>
  <dcterms:created xsi:type="dcterms:W3CDTF">2026-03-03T10:11:15Z</dcterms:created>
  <dcterms:modified xsi:type="dcterms:W3CDTF">2026-03-03T10:11:15Z</dcterms:modified>
</cp:coreProperties>
</file>