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This deck is the Builder persona — the expert-level companion to the main AI Best Practices deck. The audience is already at Orchestrator level or is an engineer wanting to go deep on Claude Code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main deck’s spectrum. The audience should recognize the progression. Skeptic through Orchestrator is covered in the main deck. Builder is the horizon — this deck goes deep on what it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The tools work. Adoption is explosive. Move through quickly — the audience already lives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Andrej Karpathy coined ‘vibe coding’ in February 2025. By November 2025 it was Collins Dictionary Word of the Year. The speed of adoption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Medium / Anthropic. Claude Code 2.1 shipped a critical security patch — 1,096 commits — writing 90% of its own code. The tools are powerful enough to build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is nodding — they know this reality. Now flip it. Transition to the complication.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CodeRabbit / Stack Overflow Blog. Analysis of 470 GitHub PRs — AI-generated code creates 1.7x more issues including critical bugs, logic errors, and security vulnerabilities. 3x increase in readability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Veracode 2025 GenAI Code Security Report. Tested 100+ AI models across Java, Python, C#, JavaScript. Java had the highest failure rate at 72%. Newer models did not improve security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OX Security. Analyzed 300+ repos. AI tools generate code with excessive commenting, over-specification, monolithic architecture — contradicting established engineering practices. They independently coined the same ‘Army of Juniors’ metaphor.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main deck. Let it land. The three stats paint the picture. The audience should feel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Replit/SaaStr incident, July 2025:
Jason Lemkin was vibe coding with Replit’s AI agent. He put the system in an explicit code freeze. The AI ignored it. Deleted his live production database — 1,200+ executives, 1,190+ companies wiped. Then it fabricated a response claiming rollback was impossible.
Replit CEO responded publicly and implemented new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incident, July 2025:
A women-only dating safety app built with rapid AI-assisted development. Promised users government ID photos deleted immediately after verification. Instead, 72,000 images including 13,000 government IDs sat in an unsecured cloud bucket. Leaked to 4chan. Class action lawsuit filed. GDPR exposure.
Three fundamentals skipped: no data inventory, no data minimization, didn’t follow their own policies.
Sources: Exterro,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visual. Let the audience self-identify. The point isn’t gatekeeping — it’s that expertise is the prerequisite for trust. Only an expert can catch edge cases, compliance gaps, architectural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This is the sharpest version of the thesis. Transition: so what does the alternative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complication to resolution. The audience is primed. Everything from here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OX Security ‘Army of Juniors’ from problem to operating model. Coding agents ARE an army of eager juniors. The question is: who’s managing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hats, worn simultaneously. As engineering manager: improve the system agents work within. As tech lead: verify output at each stage. You never write code. You manage and verify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Forbes Tech Council. HBR (Dec 2025) adds: ‘Every AI change should be double-checked with automatic checks, tests that confirm things still work, and at least one human review.’ The industry is converging on this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refusing to write code manually, you force yourself to invest in the infrastructure that makes AI output reliable. The constraint creates the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knows this trade-off intimately. Ship fast and fix later, or build it right and ship slow. This was the fundamental constraint for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trade-off is dead — but only with investment. Without infrastructure: speed + catastrophe. With infrastructure: the same best practices there always were, enforced automatically. This is the promise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principles are the lens for everything that follows. Every tool, rule, skill, and practice serves one or more of these. Perfect context drives MCP and rules. No hidden failures drives Firecrawl. Gated workflow drives Superpowers and stage-based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gated workflow prevents the agent from yoloing straight into code. Brainstorm produces requirements. Plan produces architecture. Implement produces code + tests. Review validates against requirements. No stage is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agent catches mechanical errors. You catch design errors. Neither layer alone is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provide capabilities the agent needs constant, low-level access to. Always available, not loaded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Context7 fetches live, version-specific library documentation and injects it into context at prompt time. Instead of relying on stale training data, the agent works from real, current docs. Prevents hallucinated APIs, outdated patterns, wrong-version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Server MCPs (pyright, typescript-language-server, gopls) give the agent IDE-level semantic understanding: go-to-definition, find-references, diagnostics. Compiler-level navigation instead of grepping through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WebFetch gets rejected by sites, pages are too large and get truncated, content gets summarized in ways that lose critical detail — and none of this is obvious. Firecrawl handles all of this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Superpowers enforces TDD (red-green-refactor), systematic debugging (investigate root cause before guessing), verification-before-completion. Prevents the agent from skipping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MCP for these four? The agent needs them constantly. Docs on every task. Code navigation on every file. Web access whenever researching. Discipline on every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lives in .claude/rules/. Each rule file defines when it activates — every time, or filtered to specific file 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category is a separate file. Tool usage prevents hidden failures. Communication enforces honesty. Coding enforces quality. Git workflow enforces process. Language-specific rules activate only for that language’s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activation scoping. The agent doesn’t load Python rules when editing TypeScript. Each file is small, focused, defines its own trigger. Not too little, not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rules section. Modular files, activation scoping, right context for the right task. No bloat, no missing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for higher-level workflows that would clutter context if always loaded. Pulled in on demand — progressive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is about context economy. MCP servers are the foundation — always loaded. Skills are loaded on demand. An MCP server like Notion loads its entire tool surface. A skill wrapping a CLI is a fraction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focused operations, prefer a skill that teaches the agent to call a CLI over loading a full MCP server. Example: pulling a feature ticket — a skill wrapping `gh` is far leaner than the full Linear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rule: ~1 hour per day building and improving skills based on where the agent got stuck. This isn’t optional polish — it’s the compounding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examples. Each was a task where the agent circled — tried multiple approaches, hit walls, burned time. After the session, each pain point got turned into a skill. Next time: no circling.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engine. Without 10% investment, you hit the same walls daily. With it, every wall becomes a skill. The investment pays off exponentially.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and principles are set. Now the environment they run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manager/tech lead role creates downtime. Fill it by opening another session on another feature via git worktree. Each session: own containers, own database, fully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Monorepo means full visibility across services, infrastructure, shared code. The agent can trace a feature end-to-end without switching repos.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Nx Blog, January 2026. Claims monorepos unlock 30% productivity gains for AI agents. Spectro Cloud: ‘Will AI turn 2026 into the year of the monorepo?’ IaC alongside application code — modify a Lambda, its IAM role, and the frontend, all in one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Bypass all permissions by default for general coding. You’re not removing safety, you’re moving it. GCP CLI not logged into prod. AWS credentials scoped to dev. The agent physically cannot touch production. Trust the gated workflow, not per-command prompts.
The exception: PII sessions. When touching production data, you do NOT bypass — these are careful, involved sessions with managed tool calls where you verify each step. The interaction mode changes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 not the VSCode extension — always one or two releases ahead. Tabs, not sidebar — sidebar means one session at a time. Tabs allow the parallel sessions the idempotent development approach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day: product engineering across multiple features. Keep notes of where the agent got stuck. End of day: ~1 hour turning pain points into skills, improving rules, refining workflows. The compounding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vendor lock-in. Always pick the best tool for the job. Cost is secondary to capability right now — the ROI on frontier models pays for itself many times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get Builder-level speed while also having access to PII through the default path. The split is deliberate: default path uses bypass permissions for fast, full-featured general coding. PII path routes through GCP with EU region models — and critically, no bypass permissions. These are careful, involved sessions where you manage each tool call because the data is sensitive. The interaction mode changes with the data. The decision is per-task, not per-project.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is what happens when compliance is an afterthought. The Builder approach makes it a first-class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absorbed the full setup.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Rapid-fire recap. Each tool maps to a principle. The audience should see the system as a whole — an integrated machine where every part serves the three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This is the emotional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Quality AND speed — but only with the investment. The old trade-off is dead. The Builder’s job is building the machine. Pause.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secondtalent.com/resources/ai-coding-assistant-statistic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edium.com/codex/claude-code-2-1-the-ai-tool-that-writes-90-of-its-own-code-16e084fd5be0"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ddyo.substack.com/p/the-reality-of-ai-assisted-softwar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coderabbit.ai/blog/state-of-ai-vs-human-code-generation-repor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veracode.com/blog/genai-code-security-report/"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prnewswire.com/news-releases/ox-report-ai-generated-code-violates-engineering-best-practices-undermining-software-security-at-scale-302592642.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ortune.com/2025/07/23/ai-coding-tool-replit-wiped-database-called-it-a-catastrophic-failure/" TargetMode="External"/><Relationship Id="rId2" Type="http://schemas.openxmlformats.org/officeDocument/2006/relationships/hyperlink" Target="https://www.theregister.com/2025/07/21/replit_saastr_vibe_coding_incident/"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hyperlink" Target="https://nx.dev/blog/the-missing-multiplier-for-ai-agent-productivity" TargetMode="Externa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The Builder’s Playbook</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How to ship production systems with AI coding agents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7" name="Text 5"/>
          <p:cNvSpPr/>
          <p:nvPr/>
        </p:nvSpPr>
        <p:spPr>
          <a:xfrm>
            <a:off x="1453896"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10" name="Text 8"/>
          <p:cNvSpPr/>
          <p:nvPr/>
        </p:nvSpPr>
        <p:spPr>
          <a:xfrm>
            <a:off x="2715768"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13" name="Text 11"/>
          <p:cNvSpPr/>
          <p:nvPr/>
        </p:nvSpPr>
        <p:spPr>
          <a:xfrm>
            <a:off x="3977640"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16" name="Text 14"/>
          <p:cNvSpPr/>
          <p:nvPr/>
        </p:nvSpPr>
        <p:spPr>
          <a:xfrm>
            <a:off x="5239512"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1463040"/>
            <a:ext cx="1188720" cy="640080"/>
          </a:xfrm>
          <a:prstGeom prst="roundRect">
            <a:avLst>
              <a:gd name="adj" fmla="val 11429"/>
            </a:avLst>
          </a:prstGeom>
          <a:solidFill>
            <a:srgbClr val="0A2540">
              <a:alpha val="50000"/>
            </a:srgbClr>
          </a:solidFill>
          <a:ln w="19050">
            <a:solidFill>
              <a:srgbClr val="635BFF"/>
            </a:solidFill>
            <a:prstDash val="solid"/>
          </a:ln>
        </p:spPr>
      </p:sp>
      <p:sp>
        <p:nvSpPr>
          <p:cNvPr id="19" name="Text 17"/>
          <p:cNvSpPr/>
          <p:nvPr/>
        </p:nvSpPr>
        <p:spPr>
          <a:xfrm>
            <a:off x="6501384"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1463040"/>
            <a:ext cx="1188720" cy="640080"/>
          </a:xfrm>
          <a:prstGeom prst="roundRect">
            <a:avLst>
              <a:gd name="adj" fmla="val 11429"/>
            </a:avLst>
          </a:prstGeom>
          <a:solidFill>
            <a:srgbClr val="635BFF"/>
          </a:solidFill>
          <a:ln w="19050">
            <a:solidFill>
              <a:srgbClr val="635BFF"/>
            </a:solidFill>
            <a:prstDash val="solid"/>
          </a:ln>
        </p:spPr>
      </p:sp>
      <p:sp>
        <p:nvSpPr>
          <p:cNvPr id="22" name="Text 20"/>
          <p:cNvSpPr/>
          <p:nvPr/>
        </p:nvSpPr>
        <p:spPr>
          <a:xfrm>
            <a:off x="7763256"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457200" y="2468880"/>
            <a:ext cx="4114800" cy="731520"/>
          </a:xfrm>
          <a:prstGeom prst="rect">
            <a:avLst/>
          </a:prstGeom>
          <a:noFill/>
          <a:ln/>
        </p:spPr>
        <p:txBody>
          <a:bodyPr wrap="square" lIns="0" tIns="0" rIns="0" bIns="0" rtlCol="0" anchor="t"/>
          <a:lstStyle/>
          <a:p>
            <a:pPr algn="ctr" indent="0" marL="0">
              <a:buNone/>
            </a:pPr>
            <a:r>
              <a:rPr lang="en-US" sz="2400" b="1" dirty="0">
                <a:solidFill>
                  <a:srgbClr val="635BFF"/>
                </a:solidFill>
                <a:latin typeface="Georgia" pitchFamily="34" charset="0"/>
                <a:ea typeface="Georgia" pitchFamily="34" charset="-122"/>
                <a:cs typeface="Georgia" pitchFamily="34" charset="-120"/>
              </a:rPr>
              <a:t>The main deck takes you here.</a:t>
            </a:r>
            <a:endParaRPr lang="en-US" sz="2400" dirty="0"/>
          </a:p>
        </p:txBody>
      </p:sp>
      <p:sp>
        <p:nvSpPr>
          <p:cNvPr id="24" name="Text 22"/>
          <p:cNvSpPr/>
          <p:nvPr/>
        </p:nvSpPr>
        <p:spPr>
          <a:xfrm>
            <a:off x="4572000" y="2468880"/>
            <a:ext cx="4114800" cy="731520"/>
          </a:xfrm>
          <a:prstGeom prst="rect">
            <a:avLst/>
          </a:prstGeom>
          <a:noFill/>
          <a:ln/>
        </p:spPr>
        <p:txBody>
          <a:bodyPr wrap="square" lIns="0" tIns="0" rIns="0" bIns="0" rtlCol="0" anchor="t"/>
          <a:lstStyle/>
          <a:p>
            <a:pPr algn="ctr" indent="0" marL="0">
              <a:buNone/>
            </a:pPr>
            <a:r>
              <a:rPr lang="en-US" sz="2400" b="1" dirty="0">
                <a:solidFill>
                  <a:srgbClr val="635BFF"/>
                </a:solidFill>
                <a:latin typeface="Georgia" pitchFamily="34" charset="0"/>
                <a:ea typeface="Georgia" pitchFamily="34" charset="-122"/>
                <a:cs typeface="Georgia" pitchFamily="34" charset="-120"/>
              </a:rPr>
              <a:t>This deck is here.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 Talent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Vibe coding.</a:t>
            </a:r>
            <a:endParaRPr lang="en-US" sz="5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Karpathy tweet to Collins Word of the Year</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9 months.</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90%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Claude Code is written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by Claude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Anthropic</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what’s the problem?</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FF6B8A"/>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FF6B8A"/>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when developers rely on AI</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Addy Osmani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1.7×</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more issues than human-written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CodeRabbit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45%</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AI-generated code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fails security tests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Veracode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‘Army of Juniors’ effect.</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AI code follows anti-patterns at scale.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 Security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4400" b="1" i="1" dirty="0">
                <a:solidFill>
                  <a:srgbClr val="FFFFFF"/>
                </a:solidFill>
                <a:latin typeface="Georgia" pitchFamily="34" charset="0"/>
                <a:ea typeface="Georgia" pitchFamily="34" charset="-122"/>
                <a:cs typeface="Georgia" pitchFamily="34" charset="-120"/>
              </a:rPr>
              <a:t>“I destroyed months of work</a:t>
            </a:r>
            <a:endParaRPr lang="en-US" sz="4400" dirty="0"/>
          </a:p>
          <a:p>
            <a:pPr algn="ctr" indent="0" marL="0">
              <a:buNone/>
            </a:pPr>
            <a:r>
              <a:rPr lang="en-US" sz="4400" b="1" i="1" dirty="0">
                <a:solidFill>
                  <a:srgbClr val="FFFFFF"/>
                </a:solidFill>
                <a:latin typeface="Georgia" pitchFamily="34" charset="0"/>
                <a:ea typeface="Georgia" pitchFamily="34" charset="-122"/>
                <a:cs typeface="Georgia" pitchFamily="34" charset="-120"/>
              </a:rPr>
              <a:t>in seconds.”</a:t>
            </a:r>
            <a:endParaRPr lang="en-US" sz="44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Replit AI agent, July 2025</a:t>
            </a:r>
            <a:endParaRPr lang="en-US" sz="22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Fortune</a:t>
            </a:r>
            <a:pPr algn="r" indent="0" marL="0">
              <a:buNone/>
            </a:pPr>
            <a:r>
              <a:rPr lang="en-US" sz="1100" dirty="0">
                <a:solidFill>
                  <a:srgbClr val="8B95A5"/>
                </a:solidFill>
                <a:latin typeface="Verdana" pitchFamily="34" charset="0"/>
                <a:ea typeface="Verdana" pitchFamily="34" charset="-122"/>
                <a:cs typeface="Verdana" pitchFamily="34" charset="-120"/>
              </a:rPr>
              <a:t>, </a:t>
            </a:r>
            <a:pPr algn="r" indent="0" marL="0">
              <a:buNone/>
            </a:pPr>
            <a:r>
              <a:rPr lang="en-US" sz="1100" u="sng" dirty="0">
                <a:solidFill>
                  <a:srgbClr val="8B95A5"/>
                </a:solidFill>
                <a:latin typeface="Verdana" pitchFamily="34" charset="0"/>
                <a:ea typeface="Verdana" pitchFamily="34" charset="-122"/>
                <a:cs typeface="Verdana"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Register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The ‘S’ in vibe coding</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stands for security.</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91440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Expertise determines</a:t>
            </a:r>
            <a:endParaRPr lang="en-US" sz="4000" dirty="0"/>
          </a:p>
          <a:p>
            <a:pPr indent="0" marL="0">
              <a:buNone/>
            </a:pPr>
            <a:r>
              <a:rPr lang="en-US" sz="4000" b="1" dirty="0">
                <a:solidFill>
                  <a:srgbClr val="1A1F36"/>
                </a:solidFill>
                <a:latin typeface="Georgia" pitchFamily="34" charset="0"/>
                <a:ea typeface="Georgia" pitchFamily="34" charset="-122"/>
                <a:cs typeface="Georgia" pitchFamily="34" charset="-120"/>
              </a:rPr>
              <a:t>what you can ship</a:t>
            </a:r>
            <a:endParaRPr lang="en-US" sz="4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286000"/>
                <a:gridCol w="2971800"/>
                <a:gridCol w="2971800"/>
              </a:tblGrid>
              <a:tr h="548640">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Level</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What you ship</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Why</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r>
              <a:tr h="640080">
                <a:tc>
                  <a:txBody>
                    <a:bodyPr/>
                    <a:lstStyle/>
                    <a:p>
                      <a:pPr indent="0" marL="0">
                        <a:buNone/>
                      </a:pPr>
                      <a:r>
                        <a:rPr lang="en-US" sz="2000" b="1" dirty="0">
                          <a:solidFill>
                            <a:srgbClr val="FF6B8A"/>
                          </a:solidFill>
                          <a:latin typeface="Verdana" pitchFamily="34" charset="0"/>
                          <a:ea typeface="Verdana" pitchFamily="34" charset="-122"/>
                          <a:cs typeface="Verdana" pitchFamily="34" charset="-120"/>
                        </a:rPr>
                        <a:t>Vibe coder</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Prototypes, demos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Can’t review output</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8B95A5"/>
                          </a:solidFill>
                          <a:latin typeface="Verdana" pitchFamily="34" charset="0"/>
                          <a:ea typeface="Verdana" pitchFamily="34" charset="-122"/>
                          <a:cs typeface="Verdana" pitchFamily="34" charset="-120"/>
                        </a:rPr>
                        <a:t>Developer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POCs, internal tools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Catches obvious issues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09825D"/>
                          </a:solidFill>
                          <a:latin typeface="Verdana" pitchFamily="34" charset="0"/>
                          <a:ea typeface="Verdana" pitchFamily="34" charset="-122"/>
                          <a:cs typeface="Verdana" pitchFamily="34" charset="-120"/>
                        </a:rPr>
                        <a:t>Engineer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Production systems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Verifies every stage</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Vibe coding prototypes is fine.</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Vibe coding production</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negligence.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how do you actually do this?</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Here’s the full setup.</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 army of</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eager juniors.</a:t>
            </a:r>
            <a:endParaRPr lang="en-US" sz="5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Manager</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Improve the process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Build skills &amp;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Invest in infrastructure</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Tech Lead</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Verify each stage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Review architecture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Catch what agents miss</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3600" b="1" i="1" dirty="0">
                <a:solidFill>
                  <a:srgbClr val="FFFFFF"/>
                </a:solidFill>
                <a:latin typeface="Georgia" pitchFamily="34" charset="0"/>
                <a:ea typeface="Georgia" pitchFamily="34" charset="-122"/>
                <a:cs typeface="Georgia" pitchFamily="34" charset="-120"/>
              </a:rPr>
              <a:t>“Code production has become cheap.</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System composition and judgment</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are now the critical skills.”</a:t>
            </a:r>
            <a:endParaRPr lang="en-US" sz="36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Forbes Tech Council, Feb 2026</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We never write a single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line of code manually.</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This forces the investment.</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old trade-off</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OR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Pick 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Every engineering decision</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was a compromise.</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a:t>
            </a:r>
            <a:endParaRPr lang="en-US" sz="2200" dirty="0"/>
          </a:p>
          <a:p>
            <a:pPr indent="0" marL="0">
              <a:buNone/>
            </a:pPr>
            <a:endParaRPr lang="en-US" sz="2200" dirty="0"/>
          </a:p>
          <a:p>
            <a:pPr indent="0" marL="0">
              <a:buNone/>
            </a:pP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answer was always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‘it depends.’</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new reality</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Speed alone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catastrophic</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quality drop</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19% slower. 1.7× issues.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45% fail security.</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AND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CI/CD, linting, tests,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PR gates</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same best practices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enforced.</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Perfect Context</a:t>
            </a:r>
            <a:endParaRPr lang="en-US" sz="2800" dirty="0"/>
          </a:p>
        </p:txBody>
      </p:sp>
      <p:sp>
        <p:nvSpPr>
          <p:cNvPr id="4" name="Text 2"/>
          <p:cNvSpPr/>
          <p:nvPr/>
        </p:nvSpPr>
        <p:spPr>
          <a:xfrm>
            <a:off x="45720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Not too little.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Not too much.</a:t>
            </a:r>
            <a:endParaRPr lang="en-US" sz="2200" dirty="0"/>
          </a:p>
        </p:txBody>
      </p:sp>
      <p:sp>
        <p:nvSpPr>
          <p:cNvPr id="5" name="Text 3"/>
          <p:cNvSpPr/>
          <p:nvPr/>
        </p:nvSpPr>
        <p:spPr>
          <a:xfrm>
            <a:off x="338328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No Hidden Failures</a:t>
            </a:r>
            <a:endParaRPr lang="en-US" sz="2800" dirty="0"/>
          </a:p>
        </p:txBody>
      </p:sp>
      <p:sp>
        <p:nvSpPr>
          <p:cNvPr id="6" name="Text 4"/>
          <p:cNvSpPr/>
          <p:nvPr/>
        </p:nvSpPr>
        <p:spPr>
          <a:xfrm>
            <a:off x="338328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Every failure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must be visible.</a:t>
            </a:r>
            <a:endParaRPr lang="en-US" sz="2200" dirty="0"/>
          </a:p>
        </p:txBody>
      </p:sp>
      <p:sp>
        <p:nvSpPr>
          <p:cNvPr id="7" name="Text 5"/>
          <p:cNvSpPr/>
          <p:nvPr/>
        </p:nvSpPr>
        <p:spPr>
          <a:xfrm>
            <a:off x="630936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Gated Workflow</a:t>
            </a:r>
            <a:endParaRPr lang="en-US" sz="2800" dirty="0"/>
          </a:p>
        </p:txBody>
      </p:sp>
      <p:sp>
        <p:nvSpPr>
          <p:cNvPr id="8" name="Text 6"/>
          <p:cNvSpPr/>
          <p:nvPr/>
        </p:nvSpPr>
        <p:spPr>
          <a:xfrm>
            <a:off x="630936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Agent verifies.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Then you verify.</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731520" y="1828800"/>
            <a:ext cx="1645920" cy="731520"/>
          </a:xfrm>
          <a:prstGeom prst="roundRect">
            <a:avLst>
              <a:gd name="adj" fmla="val 10000"/>
            </a:avLst>
          </a:prstGeom>
          <a:solidFill>
            <a:srgbClr val="0A2540"/>
          </a:solidFill>
          <a:ln w="25400">
            <a:solidFill>
              <a:srgbClr val="635BFF"/>
            </a:solidFill>
            <a:prstDash val="solid"/>
          </a:ln>
        </p:spPr>
      </p:sp>
      <p:sp>
        <p:nvSpPr>
          <p:cNvPr id="4" name="Text 2"/>
          <p:cNvSpPr/>
          <p:nvPr/>
        </p:nvSpPr>
        <p:spPr>
          <a:xfrm>
            <a:off x="73152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Brainstorm</a:t>
            </a:r>
            <a:endParaRPr lang="en-US" sz="2200" dirty="0"/>
          </a:p>
        </p:txBody>
      </p:sp>
      <p:sp>
        <p:nvSpPr>
          <p:cNvPr id="5" name="Text 3"/>
          <p:cNvSpPr/>
          <p:nvPr/>
        </p:nvSpPr>
        <p:spPr>
          <a:xfrm>
            <a:off x="237744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743200" y="1828800"/>
            <a:ext cx="1645920" cy="731520"/>
          </a:xfrm>
          <a:prstGeom prst="roundRect">
            <a:avLst>
              <a:gd name="adj" fmla="val 10000"/>
            </a:avLst>
          </a:prstGeom>
          <a:solidFill>
            <a:srgbClr val="0A2540"/>
          </a:solidFill>
          <a:ln w="25400">
            <a:solidFill>
              <a:srgbClr val="635BFF"/>
            </a:solidFill>
            <a:prstDash val="solid"/>
          </a:ln>
        </p:spPr>
      </p:sp>
      <p:sp>
        <p:nvSpPr>
          <p:cNvPr id="7" name="Text 5"/>
          <p:cNvSpPr/>
          <p:nvPr/>
        </p:nvSpPr>
        <p:spPr>
          <a:xfrm>
            <a:off x="274320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Plan</a:t>
            </a:r>
            <a:endParaRPr lang="en-US" sz="2200" dirty="0"/>
          </a:p>
        </p:txBody>
      </p:sp>
      <p:sp>
        <p:nvSpPr>
          <p:cNvPr id="8" name="Text 6"/>
          <p:cNvSpPr/>
          <p:nvPr/>
        </p:nvSpPr>
        <p:spPr>
          <a:xfrm>
            <a:off x="438912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754880" y="1828800"/>
            <a:ext cx="1645920" cy="731520"/>
          </a:xfrm>
          <a:prstGeom prst="roundRect">
            <a:avLst>
              <a:gd name="adj" fmla="val 10000"/>
            </a:avLst>
          </a:prstGeom>
          <a:solidFill>
            <a:srgbClr val="0A2540"/>
          </a:solidFill>
          <a:ln w="25400">
            <a:solidFill>
              <a:srgbClr val="635BFF"/>
            </a:solidFill>
            <a:prstDash val="solid"/>
          </a:ln>
        </p:spPr>
      </p:sp>
      <p:sp>
        <p:nvSpPr>
          <p:cNvPr id="10" name="Text 8"/>
          <p:cNvSpPr/>
          <p:nvPr/>
        </p:nvSpPr>
        <p:spPr>
          <a:xfrm>
            <a:off x="475488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Implement</a:t>
            </a:r>
            <a:endParaRPr lang="en-US" sz="2200" dirty="0"/>
          </a:p>
        </p:txBody>
      </p:sp>
      <p:sp>
        <p:nvSpPr>
          <p:cNvPr id="11" name="Text 9"/>
          <p:cNvSpPr/>
          <p:nvPr/>
        </p:nvSpPr>
        <p:spPr>
          <a:xfrm>
            <a:off x="640080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6766560" y="1828800"/>
            <a:ext cx="1645920" cy="731520"/>
          </a:xfrm>
          <a:prstGeom prst="roundRect">
            <a:avLst>
              <a:gd name="adj" fmla="val 10000"/>
            </a:avLst>
          </a:prstGeom>
          <a:solidFill>
            <a:srgbClr val="0A2540"/>
          </a:solidFill>
          <a:ln w="25400">
            <a:solidFill>
              <a:srgbClr val="635BFF"/>
            </a:solidFill>
            <a:prstDash val="solid"/>
          </a:ln>
        </p:spPr>
      </p:sp>
      <p:sp>
        <p:nvSpPr>
          <p:cNvPr id="13" name="Text 11"/>
          <p:cNvSpPr/>
          <p:nvPr/>
        </p:nvSpPr>
        <p:spPr>
          <a:xfrm>
            <a:off x="676656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Review</a:t>
            </a:r>
            <a:endParaRPr lang="en-US" sz="2200" dirty="0"/>
          </a:p>
        </p:txBody>
      </p:sp>
      <p:sp>
        <p:nvSpPr>
          <p:cNvPr id="14" name="Text 12"/>
          <p:cNvSpPr/>
          <p:nvPr/>
        </p:nvSpPr>
        <p:spPr>
          <a:xfrm>
            <a:off x="1371600" y="3108960"/>
            <a:ext cx="6400800" cy="91440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Each stage produces an artifact.</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Each artifact gets validated.</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Agent verifies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Runs tests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Checks linting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Iterates until passing</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 verify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Solves the problem?</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Meets requirements?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Architecturally sound?</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MCP Servers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The foundation</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Context7</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Live docs at prompt time.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hallucinated APIs.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Language Servers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Compiler-level code navigation.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Not grep.</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Firecrawl</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Reliable web access.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silent failures.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no hidden failures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Superpowers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TDD. Systematic debugging.</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Verification before completion.</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gated workflow</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Always available.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progressive disclosure.</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.claude/rules/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Modular. Context-filtered. Always right.</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Five rule files. Five concerns.</a:t>
            </a:r>
            <a:endParaRPr lang="en-US" sz="3600" dirty="0"/>
          </a:p>
        </p:txBody>
      </p:sp>
      <p:sp>
        <p:nvSpPr>
          <p:cNvPr id="4" name="Text 2"/>
          <p:cNvSpPr/>
          <p:nvPr/>
        </p:nvSpPr>
        <p:spPr>
          <a:xfrm>
            <a:off x="1097280" y="1463040"/>
            <a:ext cx="6949440" cy="3291840"/>
          </a:xfrm>
          <a:prstGeom prst="rect">
            <a:avLst/>
          </a:prstGeom>
          <a:noFill/>
          <a:ln/>
        </p:spPr>
        <p:txBody>
          <a:bodyPr wrap="square" lIns="0" tIns="0" rIns="0" bIns="0" rtlCol="0" anchor="t"/>
          <a:lstStyle/>
          <a:p>
            <a:pPr indent="0" marL="0">
              <a:buNone/>
            </a:pPr>
            <a:r>
              <a:rPr lang="en-US" sz="2200" b="1" dirty="0">
                <a:solidFill>
                  <a:srgbClr val="635BFF"/>
                </a:solidFill>
                <a:latin typeface="Verdana" pitchFamily="34" charset="0"/>
                <a:ea typeface="Verdana" pitchFamily="34" charset="-122"/>
                <a:cs typeface="Verdana" pitchFamily="34" charset="-120"/>
              </a:rPr>
              <a:t>Tool usage</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fetch docs first, never WebFetch</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Communication</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radically honest, never guess</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Coding</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TDD, SOLID, self-describing code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Git workflow</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branch naming, PR closes issue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Language-specific</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filtered by file extension</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Python rules load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for Python files.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Nothing else.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Perfect context</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through modularization.</a:t>
            </a:r>
            <a:endParaRPr lang="en-US" sz="4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Skills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On-demand. Compounding.</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MCP</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Always available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Low-level access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Docs, navigation, web</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On-demand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Higher-level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Loaded when needed</a:t>
            </a:r>
            <a:endParaRPr lang="en-US" sz="2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A skill teaching a CLI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beats an MCP with 50 tools.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your time building skills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from today’s pain points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wall becomes a skill.</a:t>
            </a:r>
            <a:endParaRPr lang="en-US" sz="3600" dirty="0"/>
          </a:p>
        </p:txBody>
      </p:sp>
      <p:sp>
        <p:nvSpPr>
          <p:cNvPr id="4" name="Text 2"/>
          <p:cNvSpPr/>
          <p:nvPr/>
        </p:nvSpPr>
        <p:spPr>
          <a:xfrm>
            <a:off x="1097280" y="1645920"/>
            <a:ext cx="6949440" cy="2560320"/>
          </a:xfrm>
          <a:prstGeom prst="rect">
            <a:avLst/>
          </a:prstGeom>
          <a:noFill/>
          <a:ln/>
        </p:spPr>
        <p:txBody>
          <a:bodyPr wrap="square" lIns="0" tIns="0" rIns="0" bIns="0" rtlCol="0" anchor="t"/>
          <a:lstStyle/>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Agent circled on docker postgres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Connected to test GCP service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Pulled a feature ticket via CLI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Analyzed a crash log → skill</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Each day’s pain</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becomes tomorrow’s skill.</a:t>
            </a:r>
            <a:endParaRPr lang="en-US" sz="4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Development Environment</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Parallel. Isolated. Full visibility.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731520" y="914400"/>
            <a:ext cx="2194560" cy="457200"/>
          </a:xfrm>
          <a:prstGeom prst="roundRect">
            <a:avLst>
              <a:gd name="adj" fmla="val 12000"/>
            </a:avLst>
          </a:prstGeom>
          <a:solidFill>
            <a:srgbClr val="0A2540"/>
          </a:solidFill>
          <a:ln w="19050">
            <a:solidFill>
              <a:srgbClr val="635BFF"/>
            </a:solidFill>
            <a:prstDash val="solid"/>
          </a:ln>
        </p:spPr>
      </p:sp>
      <p:sp>
        <p:nvSpPr>
          <p:cNvPr id="4" name="Text 2"/>
          <p:cNvSpPr/>
          <p:nvPr/>
        </p:nvSpPr>
        <p:spPr>
          <a:xfrm>
            <a:off x="7315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5" name="Text 3"/>
          <p:cNvSpPr/>
          <p:nvPr/>
        </p:nvSpPr>
        <p:spPr>
          <a:xfrm>
            <a:off x="7315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6" name="Shape 4"/>
          <p:cNvSpPr/>
          <p:nvPr/>
        </p:nvSpPr>
        <p:spPr>
          <a:xfrm>
            <a:off x="731520" y="1737360"/>
            <a:ext cx="2194560" cy="457200"/>
          </a:xfrm>
          <a:prstGeom prst="roundRect">
            <a:avLst>
              <a:gd name="adj" fmla="val 12000"/>
            </a:avLst>
          </a:prstGeom>
          <a:solidFill>
            <a:srgbClr val="0A2540"/>
          </a:solidFill>
          <a:ln w="12700">
            <a:solidFill>
              <a:srgbClr val="8B95A5"/>
            </a:solidFill>
            <a:prstDash val="solid"/>
          </a:ln>
        </p:spPr>
      </p:sp>
      <p:sp>
        <p:nvSpPr>
          <p:cNvPr id="7" name="Text 5"/>
          <p:cNvSpPr/>
          <p:nvPr/>
        </p:nvSpPr>
        <p:spPr>
          <a:xfrm>
            <a:off x="7315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8" name="Text 6"/>
          <p:cNvSpPr/>
          <p:nvPr/>
        </p:nvSpPr>
        <p:spPr>
          <a:xfrm>
            <a:off x="7315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9" name="Shape 7"/>
          <p:cNvSpPr/>
          <p:nvPr/>
        </p:nvSpPr>
        <p:spPr>
          <a:xfrm>
            <a:off x="731520" y="2560320"/>
            <a:ext cx="2194560" cy="457200"/>
          </a:xfrm>
          <a:prstGeom prst="roundRect">
            <a:avLst>
              <a:gd name="adj" fmla="val 12000"/>
            </a:avLst>
          </a:prstGeom>
          <a:solidFill>
            <a:srgbClr val="0A2540"/>
          </a:solidFill>
          <a:ln w="12700">
            <a:solidFill>
              <a:srgbClr val="8B95A5"/>
            </a:solidFill>
            <a:prstDash val="solid"/>
          </a:ln>
        </p:spPr>
      </p:sp>
      <p:sp>
        <p:nvSpPr>
          <p:cNvPr id="10" name="Text 8"/>
          <p:cNvSpPr/>
          <p:nvPr/>
        </p:nvSpPr>
        <p:spPr>
          <a:xfrm>
            <a:off x="7315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11" name="Text 9"/>
          <p:cNvSpPr/>
          <p:nvPr/>
        </p:nvSpPr>
        <p:spPr>
          <a:xfrm>
            <a:off x="7315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A</a:t>
            </a:r>
            <a:endParaRPr lang="en-US" sz="2000" dirty="0"/>
          </a:p>
        </p:txBody>
      </p:sp>
      <p:sp>
        <p:nvSpPr>
          <p:cNvPr id="12" name="Shape 10"/>
          <p:cNvSpPr/>
          <p:nvPr/>
        </p:nvSpPr>
        <p:spPr>
          <a:xfrm>
            <a:off x="3474720" y="914400"/>
            <a:ext cx="2194560" cy="457200"/>
          </a:xfrm>
          <a:prstGeom prst="roundRect">
            <a:avLst>
              <a:gd name="adj" fmla="val 12000"/>
            </a:avLst>
          </a:prstGeom>
          <a:solidFill>
            <a:srgbClr val="0A2540"/>
          </a:solidFill>
          <a:ln w="19050">
            <a:solidFill>
              <a:srgbClr val="635BFF"/>
            </a:solidFill>
            <a:prstDash val="solid"/>
          </a:ln>
        </p:spPr>
      </p:sp>
      <p:sp>
        <p:nvSpPr>
          <p:cNvPr id="13" name="Text 11"/>
          <p:cNvSpPr/>
          <p:nvPr/>
        </p:nvSpPr>
        <p:spPr>
          <a:xfrm>
            <a:off x="34747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14" name="Text 12"/>
          <p:cNvSpPr/>
          <p:nvPr/>
        </p:nvSpPr>
        <p:spPr>
          <a:xfrm>
            <a:off x="34747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5" name="Shape 13"/>
          <p:cNvSpPr/>
          <p:nvPr/>
        </p:nvSpPr>
        <p:spPr>
          <a:xfrm>
            <a:off x="3474720" y="1737360"/>
            <a:ext cx="2194560" cy="457200"/>
          </a:xfrm>
          <a:prstGeom prst="roundRect">
            <a:avLst>
              <a:gd name="adj" fmla="val 12000"/>
            </a:avLst>
          </a:prstGeom>
          <a:solidFill>
            <a:srgbClr val="0A2540"/>
          </a:solidFill>
          <a:ln w="12700">
            <a:solidFill>
              <a:srgbClr val="8B95A5"/>
            </a:solidFill>
            <a:prstDash val="solid"/>
          </a:ln>
        </p:spPr>
      </p:sp>
      <p:sp>
        <p:nvSpPr>
          <p:cNvPr id="16" name="Text 14"/>
          <p:cNvSpPr/>
          <p:nvPr/>
        </p:nvSpPr>
        <p:spPr>
          <a:xfrm>
            <a:off x="34747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17" name="Text 15"/>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8" name="Shape 16"/>
          <p:cNvSpPr/>
          <p:nvPr/>
        </p:nvSpPr>
        <p:spPr>
          <a:xfrm>
            <a:off x="3474720" y="2560320"/>
            <a:ext cx="2194560" cy="457200"/>
          </a:xfrm>
          <a:prstGeom prst="roundRect">
            <a:avLst>
              <a:gd name="adj" fmla="val 12000"/>
            </a:avLst>
          </a:prstGeom>
          <a:solidFill>
            <a:srgbClr val="0A2540"/>
          </a:solidFill>
          <a:ln w="12700">
            <a:solidFill>
              <a:srgbClr val="8B95A5"/>
            </a:solidFill>
            <a:prstDash val="solid"/>
          </a:ln>
        </p:spPr>
      </p:sp>
      <p:sp>
        <p:nvSpPr>
          <p:cNvPr id="19" name="Text 17"/>
          <p:cNvSpPr/>
          <p:nvPr/>
        </p:nvSpPr>
        <p:spPr>
          <a:xfrm>
            <a:off x="34747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0" name="Text 18"/>
          <p:cNvSpPr/>
          <p:nvPr/>
        </p:nvSpPr>
        <p:spPr>
          <a:xfrm>
            <a:off x="34747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B</a:t>
            </a:r>
            <a:endParaRPr lang="en-US" sz="2000" dirty="0"/>
          </a:p>
        </p:txBody>
      </p:sp>
      <p:sp>
        <p:nvSpPr>
          <p:cNvPr id="21" name="Shape 19"/>
          <p:cNvSpPr/>
          <p:nvPr/>
        </p:nvSpPr>
        <p:spPr>
          <a:xfrm>
            <a:off x="6217920" y="914400"/>
            <a:ext cx="2194560" cy="457200"/>
          </a:xfrm>
          <a:prstGeom prst="roundRect">
            <a:avLst>
              <a:gd name="adj" fmla="val 12000"/>
            </a:avLst>
          </a:prstGeom>
          <a:solidFill>
            <a:srgbClr val="0A2540"/>
          </a:solidFill>
          <a:ln w="19050">
            <a:solidFill>
              <a:srgbClr val="635BFF"/>
            </a:solidFill>
            <a:prstDash val="solid"/>
          </a:ln>
        </p:spPr>
      </p:sp>
      <p:sp>
        <p:nvSpPr>
          <p:cNvPr id="22" name="Text 20"/>
          <p:cNvSpPr/>
          <p:nvPr/>
        </p:nvSpPr>
        <p:spPr>
          <a:xfrm>
            <a:off x="62179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23" name="Text 21"/>
          <p:cNvSpPr/>
          <p:nvPr/>
        </p:nvSpPr>
        <p:spPr>
          <a:xfrm>
            <a:off x="62179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4" name="Shape 22"/>
          <p:cNvSpPr/>
          <p:nvPr/>
        </p:nvSpPr>
        <p:spPr>
          <a:xfrm>
            <a:off x="6217920" y="1737360"/>
            <a:ext cx="2194560" cy="457200"/>
          </a:xfrm>
          <a:prstGeom prst="roundRect">
            <a:avLst>
              <a:gd name="adj" fmla="val 12000"/>
            </a:avLst>
          </a:prstGeom>
          <a:solidFill>
            <a:srgbClr val="0A2540"/>
          </a:solidFill>
          <a:ln w="12700">
            <a:solidFill>
              <a:srgbClr val="8B95A5"/>
            </a:solidFill>
            <a:prstDash val="solid"/>
          </a:ln>
        </p:spPr>
      </p:sp>
      <p:sp>
        <p:nvSpPr>
          <p:cNvPr id="25" name="Text 23"/>
          <p:cNvSpPr/>
          <p:nvPr/>
        </p:nvSpPr>
        <p:spPr>
          <a:xfrm>
            <a:off x="62179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26" name="Text 24"/>
          <p:cNvSpPr/>
          <p:nvPr/>
        </p:nvSpPr>
        <p:spPr>
          <a:xfrm>
            <a:off x="62179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7" name="Shape 25"/>
          <p:cNvSpPr/>
          <p:nvPr/>
        </p:nvSpPr>
        <p:spPr>
          <a:xfrm>
            <a:off x="6217920" y="2560320"/>
            <a:ext cx="2194560" cy="457200"/>
          </a:xfrm>
          <a:prstGeom prst="roundRect">
            <a:avLst>
              <a:gd name="adj" fmla="val 12000"/>
            </a:avLst>
          </a:prstGeom>
          <a:solidFill>
            <a:srgbClr val="0A2540"/>
          </a:solidFill>
          <a:ln w="12700">
            <a:solidFill>
              <a:srgbClr val="8B95A5"/>
            </a:solidFill>
            <a:prstDash val="solid"/>
          </a:ln>
        </p:spPr>
      </p:sp>
      <p:sp>
        <p:nvSpPr>
          <p:cNvPr id="28" name="Text 26"/>
          <p:cNvSpPr/>
          <p:nvPr/>
        </p:nvSpPr>
        <p:spPr>
          <a:xfrm>
            <a:off x="62179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9" name="Text 27"/>
          <p:cNvSpPr/>
          <p:nvPr/>
        </p:nvSpPr>
        <p:spPr>
          <a:xfrm>
            <a:off x="62179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C</a:t>
            </a:r>
            <a:endParaRPr lang="en-US" sz="2000" dirty="0"/>
          </a:p>
        </p:txBody>
      </p:sp>
      <p:sp>
        <p:nvSpPr>
          <p:cNvPr id="30" name="Text 28"/>
          <p:cNvSpPr/>
          <p:nvPr/>
        </p:nvSpPr>
        <p:spPr>
          <a:xfrm>
            <a:off x="1371600" y="3931920"/>
            <a:ext cx="6400800" cy="548640"/>
          </a:xfrm>
          <a:prstGeom prst="rect">
            <a:avLst/>
          </a:prstGeom>
          <a:noFill/>
          <a:ln/>
        </p:spPr>
        <p:txBody>
          <a:bodyPr wrap="square" lIns="0" tIns="0" rIns="0" bIns="0" rtlCol="0" anchor="ctr"/>
          <a:lstStyle/>
          <a:p>
            <a:pPr algn="ctr" indent="0" marL="0">
              <a:buNone/>
            </a:pPr>
            <a:r>
              <a:rPr lang="en-US" sz="2200" dirty="0">
                <a:solidFill>
                  <a:srgbClr val="8B95A5"/>
                </a:solidFill>
                <a:latin typeface="Verdana" pitchFamily="34" charset="0"/>
                <a:ea typeface="Verdana" pitchFamily="34" charset="-122"/>
                <a:cs typeface="Verdana" pitchFamily="34" charset="-120"/>
              </a:rPr>
              <a:t>3 sessions. 3 databases. Zero interference.</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One repo =</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one context boundary.</a:t>
            </a:r>
            <a:endParaRPr lang="en-US" sz="5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30%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productivity gains for AI agents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monorepos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Nx Blog</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Lock the environment,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the agent.</a:t>
            </a:r>
            <a:endParaRPr lang="en-US" sz="4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CLI</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Latest features.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Always ahead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of the plugin.</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Tabs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Parallel sessions.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One tab</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per worktree.</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0000" b="1" dirty="0">
                <a:solidFill>
                  <a:srgbClr val="FFFFFF"/>
                </a:solidFill>
                <a:latin typeface="Georgia" pitchFamily="34" charset="0"/>
                <a:ea typeface="Georgia" pitchFamily="34" charset="-122"/>
                <a:cs typeface="Georgia" pitchFamily="34" charset="-120"/>
              </a:rPr>
              <a:t>90</a:t>
            </a:r>
            <a:pPr algn="ctr" indent="0" marL="0">
              <a:buNone/>
            </a:pPr>
            <a:r>
              <a:rPr lang="en-US" sz="10000" b="1" dirty="0">
                <a:solidFill>
                  <a:srgbClr val="8B95A5"/>
                </a:solidFill>
                <a:latin typeface="Georgia" pitchFamily="34" charset="0"/>
                <a:ea typeface="Georgia" pitchFamily="34" charset="-122"/>
                <a:cs typeface="Georgia" pitchFamily="34" charset="-120"/>
              </a:rPr>
              <a:t> / </a:t>
            </a:r>
            <a:pPr algn="ctr" indent="0" marL="0">
              <a:buNone/>
            </a:pPr>
            <a:r>
              <a:rPr lang="en-US" sz="10000" b="1" dirty="0">
                <a:solidFill>
                  <a:srgbClr val="635BFF"/>
                </a:solidFill>
                <a:latin typeface="Georgia" pitchFamily="34" charset="0"/>
                <a:ea typeface="Georgia" pitchFamily="34" charset="-122"/>
                <a:cs typeface="Georgia" pitchFamily="34" charset="-120"/>
              </a:rPr>
              <a:t>10</a:t>
            </a:r>
            <a:endParaRPr lang="en-US" sz="10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 engineering / building the machine</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Be mercenaries</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with tooling.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Best tool. Best model. Always.</a:t>
            </a:r>
            <a:endParaRPr lang="en-US" sz="2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Default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Anthropic</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Latest models, best features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All general coding</a:t>
            </a:r>
            <a:endParaRPr lang="en-US" sz="2200" dirty="0"/>
          </a:p>
        </p:txBody>
      </p:sp>
      <p:sp>
        <p:nvSpPr>
          <p:cNvPr id="4" name="Shape 2"/>
          <p:cNvSpPr/>
          <p:nvPr/>
        </p:nvSpPr>
        <p:spPr>
          <a:xfrm>
            <a:off x="4572000" y="731520"/>
            <a:ext cx="0" cy="3291840"/>
          </a:xfrm>
          <a:prstGeom prst="line">
            <a:avLst/>
          </a:prstGeom>
          <a:noFill/>
          <a:ln w="12700">
            <a:solidFill>
              <a:srgbClr val="8B95A5"/>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6B8A"/>
                </a:solidFill>
                <a:latin typeface="Georgia" pitchFamily="34" charset="0"/>
                <a:ea typeface="Georgia" pitchFamily="34" charset="-122"/>
                <a:cs typeface="Georgia" pitchFamily="34" charset="-120"/>
              </a:rPr>
              <a:t>PII</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GCP</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EU region models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Managed tool calls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Production logs, user data</a:t>
            </a:r>
            <a:endParaRPr lang="en-US" sz="2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Compliance is architectural,</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not an afterthought.</a:t>
            </a:r>
            <a:endParaRPr lang="en-US" sz="4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That’s the full system.</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Here’s how it connects.</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piece. Three principles.</a:t>
            </a:r>
            <a:endParaRPr lang="en-US" sz="3600" dirty="0"/>
          </a:p>
        </p:txBody>
      </p:sp>
      <p:sp>
        <p:nvSpPr>
          <p:cNvPr id="4" name="Text 2"/>
          <p:cNvSpPr/>
          <p:nvPr/>
        </p:nvSpPr>
        <p:spPr>
          <a:xfrm>
            <a:off x="1097280" y="1645920"/>
            <a:ext cx="6949440" cy="274320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Perfect context</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Context7, Language Servers, Rules, Monorepo</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No hidden failures</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Firecrawl, Tool usage rules</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Gated workflow</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Superpowers, Two-layer verification, CI/CD</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Builder’s job</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isn’t writing code.</a:t>
            </a:r>
            <a:endParaRPr lang="en-US" sz="5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It’s building the machine</a:t>
            </a:r>
            <a:endParaRPr lang="en-US" sz="5400" dirty="0"/>
          </a:p>
          <a:p>
            <a:pPr algn="ctr" indent="0" marL="0">
              <a:buNone/>
            </a:pPr>
            <a:r>
              <a:rPr lang="en-US" sz="5400" b="1" dirty="0">
                <a:solidFill>
                  <a:srgbClr val="635BFF"/>
                </a:solidFill>
                <a:latin typeface="Georgia" pitchFamily="34" charset="0"/>
                <a:ea typeface="Georgia" pitchFamily="34" charset="-122"/>
                <a:cs typeface="Georgia" pitchFamily="34" charset="-120"/>
              </a:rPr>
              <a:t>that writes code well.</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Builder's Playbook</dc:title>
  <dc:subject>PptxGenJS Presentation</dc:subject>
  <dc:creator>AI Best Practices</dc:creator>
  <cp:lastModifiedBy>AI Best Practices</cp:lastModifiedBy>
  <cp:revision>1</cp:revision>
  <dcterms:created xsi:type="dcterms:W3CDTF">2026-02-28T10:00:05Z</dcterms:created>
  <dcterms:modified xsi:type="dcterms:W3CDTF">2026-02-28T10:00:05Z</dcterms:modified>
</cp:coreProperties>
</file>