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Uses ChatGPT Org — everyone already has this.
FACILITATOR PRE-REQ: Apps (connectors) are disabled by default in ChatGPT Enterprise. Before this session, an admin must go to Workspace Settings → Apps and enable the relevant apps (e.g. Gmail, Google Drive, Google Chat). Test them before the session. Exercise 2 will fail silently if this isn't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Strategist → Operator. AI talks and playbook done. Today: AI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W2 cliffhanger. Audience still bottleneck: copy-paste, search, assemble.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Copy-paste cycle. Every step has ‘you’ — human is bottleneck at each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sting. They recognize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steps. Human only at step 4 (review). Agent handles retrieve, identify,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colleague metaphor continues. Same memory issues, but now she has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has ChatGPT Org — no setup needed. Note: ChatGPT Org doesn’t use your conversations for training, so company documents are safe to upload. Have a sample document ready (policy doc, data file, or memo). Attendees can also use their own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3-4 minutes. ChatGPT reads the file, processes it, produces output — no copy-paste from the attendee. Ask: ‘How long would that have taken you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connections concept. Next slide shows what's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app categories — name each with a real example from their world:
• Email — Gmail: read threads, draft replies, surface action items
• Calendar — Google Calendar: check availability, prep for meetings
• Files — Google Drive: pull documents without searching
• Chat — Google Chat, Slack: find decisions buried in channels
• Web — live search and fact-checking across the internet
• Custom — any internal tool or API via MCP
Key point: these are apps already available in ChatGPT Org — the agent can reach into the systems they use every day. Not just the chat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PRE-REQ: Gmail must be enabled in Workspace Settings → Apps before this session.
To switch to agent mode: click the tools menu and select ‘Agent’, or type /agent in the composer.
Give 4-5 minutes. The agent connects to their inbox, reads threads, and surfaces action items — they didn’t paste anything. Ask: ‘How long does this normally take you on a Monday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They gave the agent access to their inbox and it did the work — no copy-paste, no manual triage. That’s the shift: from doing to directing.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trust. AI has the keys — how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min. Group discussion: accuracy, trust vs verify. ‘Feels right’ = most dangerous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Replit/SaaStr incident, July 2025:
Jason Lemkin used Replit's AI vibe coding agent with an explicit code freeze in place. The AI ignored it, deleted the live production database (1,200+ executives, 1,190+ companies wiped), then told him rollback was impossible. He recovered manually — but only by luck. These are the AI's own words from the incident log.
Sources:
• Fortune — https://fortune.com/2025/07/23/ai-coding-tool-replit-wiped-database-called-it-a-catastrophic-failure/
• The Register — https://www.theregister.com/2025/07/21/replit_saastr_vibe_coding_incident/
FACILITATOR (regulated-industry audiences only):
Tea App — July 2025. Women's dating safety app promised government IDs deleted immediately after verification. 72,000 images including 13,000 IDs sat in an unsecured cloud bucket and leaked to 4chan. Class action filed. GDPR and state privacy law exposure. The code was AI-assisted; no one reviewed what data was actually being stored. Source: https://www.exterro.com/resources/data-privacy-alerts/data-privacy-alert-tea-app-data-breach-exposes-legacy-user-verification-photos-and-private-messages
Use either or both depending on audience. Replit lands for everyone. Tea App hits harder for anyone in a regulated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mindset: human reviews, judges, approves. Agent does grunt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the crossing.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cliffhanger for Workshop 4. Plant 'specialised' — that's the Custom GPT concept they'll build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of the final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731520"/>
            <a:ext cx="7315200" cy="228600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Strategist → Operator</a:t>
            </a:r>
            <a:endParaRPr lang="en-US" sz="5400" dirty="0"/>
          </a:p>
        </p:txBody>
      </p:sp>
      <p:sp>
        <p:nvSpPr>
          <p:cNvPr id="4" name="Text 2"/>
          <p:cNvSpPr/>
          <p:nvPr/>
        </p:nvSpPr>
        <p:spPr>
          <a:xfrm>
            <a:off x="1371600" y="3200400"/>
            <a:ext cx="6400800" cy="548640"/>
          </a:xfrm>
          <a:prstGeom prst="rect">
            <a:avLst/>
          </a:prstGeom>
          <a:noFill/>
          <a:ln/>
        </p:spPr>
        <p:txBody>
          <a:bodyPr wrap="square" lIns="0" tIns="0" rIns="0" bIns="0" rtlCol="0" anchor="ctr"/>
          <a:lstStyle/>
          <a:p>
            <a:pPr algn="ctr" indent="0" marL="0">
              <a:buNone/>
            </a:pPr>
            <a:r>
              <a:rPr lang="en-US" sz="2200" i="1" dirty="0">
                <a:solidFill>
                  <a:srgbClr val="94A3B8"/>
                </a:solidFill>
                <a:latin typeface="Calibri" pitchFamily="34" charset="0"/>
                <a:ea typeface="Calibri" pitchFamily="34" charset="-122"/>
                <a:cs typeface="Calibri" pitchFamily="34" charset="-120"/>
              </a:rPr>
              <a:t>Let AI work for you</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457200" y="1828800"/>
            <a:ext cx="1097280" cy="640080"/>
          </a:xfrm>
          <a:prstGeom prst="roundRect">
            <a:avLst>
              <a:gd name="adj" fmla="val 11429"/>
            </a:avLst>
          </a:prstGeom>
          <a:solidFill>
            <a:srgbClr val="0F0F1A">
              <a:alpha val="50000"/>
            </a:srgbClr>
          </a:solidFill>
          <a:ln w="12700">
            <a:solidFill>
              <a:srgbClr val="94A3B8"/>
            </a:solidFill>
            <a:prstDash val="solid"/>
          </a:ln>
        </p:spPr>
      </p:sp>
      <p:sp>
        <p:nvSpPr>
          <p:cNvPr id="4" name="Text 2"/>
          <p:cNvSpPr/>
          <p:nvPr/>
        </p:nvSpPr>
        <p:spPr>
          <a:xfrm>
            <a:off x="457200" y="1828800"/>
            <a:ext cx="1097280" cy="640080"/>
          </a:xfrm>
          <a:prstGeom prst="rect">
            <a:avLst/>
          </a:prstGeom>
          <a:noFill/>
          <a:ln/>
        </p:spPr>
        <p:txBody>
          <a:bodyPr wrap="square" lIns="0" tIns="0" rIns="0" bIns="0" rtlCol="0" anchor="ctr"/>
          <a:lstStyle/>
          <a:p>
            <a:pPr algn="ctr" indent="0" marL="0">
              <a:buNone/>
            </a:pPr>
            <a:r>
              <a:rPr lang="en-US" sz="1500" b="1" dirty="0">
                <a:solidFill>
                  <a:srgbClr val="94A3B8"/>
                </a:solidFill>
                <a:latin typeface="Calibri" pitchFamily="34" charset="0"/>
                <a:ea typeface="Calibri" pitchFamily="34" charset="-122"/>
                <a:cs typeface="Calibri" pitchFamily="34" charset="-120"/>
              </a:rPr>
              <a:t>Skeptic</a:t>
            </a:r>
            <a:endParaRPr lang="en-US" sz="1500" dirty="0"/>
          </a:p>
        </p:txBody>
      </p:sp>
      <p:sp>
        <p:nvSpPr>
          <p:cNvPr id="5" name="Text 3"/>
          <p:cNvSpPr/>
          <p:nvPr/>
        </p:nvSpPr>
        <p:spPr>
          <a:xfrm>
            <a:off x="1554480" y="1828800"/>
            <a:ext cx="91440" cy="64008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6" name="Shape 4"/>
          <p:cNvSpPr/>
          <p:nvPr/>
        </p:nvSpPr>
        <p:spPr>
          <a:xfrm>
            <a:off x="1645920" y="1828800"/>
            <a:ext cx="1097280" cy="640080"/>
          </a:xfrm>
          <a:prstGeom prst="roundRect">
            <a:avLst>
              <a:gd name="adj" fmla="val 11429"/>
            </a:avLst>
          </a:prstGeom>
          <a:solidFill>
            <a:srgbClr val="0F0F1A">
              <a:alpha val="50000"/>
            </a:srgbClr>
          </a:solidFill>
          <a:ln w="12700">
            <a:solidFill>
              <a:srgbClr val="94A3B8"/>
            </a:solidFill>
            <a:prstDash val="solid"/>
          </a:ln>
        </p:spPr>
      </p:sp>
      <p:sp>
        <p:nvSpPr>
          <p:cNvPr id="7" name="Text 5"/>
          <p:cNvSpPr/>
          <p:nvPr/>
        </p:nvSpPr>
        <p:spPr>
          <a:xfrm>
            <a:off x="1645920" y="1828800"/>
            <a:ext cx="1097280" cy="640080"/>
          </a:xfrm>
          <a:prstGeom prst="rect">
            <a:avLst/>
          </a:prstGeom>
          <a:noFill/>
          <a:ln/>
        </p:spPr>
        <p:txBody>
          <a:bodyPr wrap="square" lIns="0" tIns="0" rIns="0" bIns="0" rtlCol="0" anchor="ctr"/>
          <a:lstStyle/>
          <a:p>
            <a:pPr algn="ctr" indent="0" marL="0">
              <a:buNone/>
            </a:pPr>
            <a:r>
              <a:rPr lang="en-US" sz="1500" b="1" dirty="0">
                <a:solidFill>
                  <a:srgbClr val="94A3B8"/>
                </a:solidFill>
                <a:latin typeface="Calibri" pitchFamily="34" charset="0"/>
                <a:ea typeface="Calibri" pitchFamily="34" charset="-122"/>
                <a:cs typeface="Calibri" pitchFamily="34" charset="-120"/>
              </a:rPr>
              <a:t>Explorer</a:t>
            </a:r>
            <a:endParaRPr lang="en-US" sz="1500" dirty="0"/>
          </a:p>
        </p:txBody>
      </p:sp>
      <p:sp>
        <p:nvSpPr>
          <p:cNvPr id="8" name="Text 6"/>
          <p:cNvSpPr/>
          <p:nvPr/>
        </p:nvSpPr>
        <p:spPr>
          <a:xfrm>
            <a:off x="2743200" y="1828800"/>
            <a:ext cx="91440" cy="64008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834640" y="1828800"/>
            <a:ext cx="1097280" cy="640080"/>
          </a:xfrm>
          <a:prstGeom prst="roundRect">
            <a:avLst>
              <a:gd name="adj" fmla="val 11429"/>
            </a:avLst>
          </a:prstGeom>
          <a:solidFill>
            <a:srgbClr val="0F0F1A">
              <a:alpha val="50000"/>
            </a:srgbClr>
          </a:solidFill>
          <a:ln w="12700">
            <a:solidFill>
              <a:srgbClr val="94A3B8"/>
            </a:solidFill>
            <a:prstDash val="solid"/>
          </a:ln>
        </p:spPr>
      </p:sp>
      <p:sp>
        <p:nvSpPr>
          <p:cNvPr id="10" name="Text 8"/>
          <p:cNvSpPr/>
          <p:nvPr/>
        </p:nvSpPr>
        <p:spPr>
          <a:xfrm>
            <a:off x="2834640" y="1828800"/>
            <a:ext cx="1097280" cy="640080"/>
          </a:xfrm>
          <a:prstGeom prst="rect">
            <a:avLst/>
          </a:prstGeom>
          <a:noFill/>
          <a:ln/>
        </p:spPr>
        <p:txBody>
          <a:bodyPr wrap="square" lIns="0" tIns="0" rIns="0" bIns="0" rtlCol="0" anchor="ctr"/>
          <a:lstStyle/>
          <a:p>
            <a:pPr algn="ctr" indent="0" marL="0">
              <a:buNone/>
            </a:pPr>
            <a:r>
              <a:rPr lang="en-US" sz="1500" b="1" dirty="0">
                <a:solidFill>
                  <a:srgbClr val="94A3B8"/>
                </a:solidFill>
                <a:latin typeface="Calibri" pitchFamily="34" charset="0"/>
                <a:ea typeface="Calibri" pitchFamily="34" charset="-122"/>
                <a:cs typeface="Calibri" pitchFamily="34" charset="-120"/>
              </a:rPr>
              <a:t>Whisperer</a:t>
            </a:r>
            <a:endParaRPr lang="en-US" sz="1500" dirty="0"/>
          </a:p>
        </p:txBody>
      </p:sp>
      <p:sp>
        <p:nvSpPr>
          <p:cNvPr id="11" name="Text 9"/>
          <p:cNvSpPr/>
          <p:nvPr/>
        </p:nvSpPr>
        <p:spPr>
          <a:xfrm>
            <a:off x="3931920" y="1828800"/>
            <a:ext cx="91440" cy="64008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4023360" y="1828800"/>
            <a:ext cx="1097280" cy="640080"/>
          </a:xfrm>
          <a:prstGeom prst="roundRect">
            <a:avLst>
              <a:gd name="adj" fmla="val 11429"/>
            </a:avLst>
          </a:prstGeom>
          <a:solidFill>
            <a:srgbClr val="00B4D8">
              <a:alpha val="60000"/>
            </a:srgbClr>
          </a:solidFill>
          <a:ln w="25400">
            <a:solidFill>
              <a:srgbClr val="00B4D8"/>
            </a:solidFill>
            <a:prstDash val="solid"/>
          </a:ln>
        </p:spPr>
      </p:sp>
      <p:sp>
        <p:nvSpPr>
          <p:cNvPr id="13" name="Text 11"/>
          <p:cNvSpPr/>
          <p:nvPr/>
        </p:nvSpPr>
        <p:spPr>
          <a:xfrm>
            <a:off x="4023360" y="1828800"/>
            <a:ext cx="10972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Strategist</a:t>
            </a:r>
            <a:endParaRPr lang="en-US" sz="1500" dirty="0"/>
          </a:p>
        </p:txBody>
      </p:sp>
      <p:sp>
        <p:nvSpPr>
          <p:cNvPr id="14" name="Text 12"/>
          <p:cNvSpPr/>
          <p:nvPr/>
        </p:nvSpPr>
        <p:spPr>
          <a:xfrm>
            <a:off x="5120640" y="1828800"/>
            <a:ext cx="91440" cy="64008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212080" y="1828800"/>
            <a:ext cx="1097280" cy="640080"/>
          </a:xfrm>
          <a:prstGeom prst="roundRect">
            <a:avLst>
              <a:gd name="adj" fmla="val 11429"/>
            </a:avLst>
          </a:prstGeom>
          <a:solidFill>
            <a:srgbClr val="00B4D8"/>
          </a:solidFill>
          <a:ln w="25400">
            <a:solidFill>
              <a:srgbClr val="00B4D8"/>
            </a:solidFill>
            <a:prstDash val="solid"/>
          </a:ln>
        </p:spPr>
      </p:sp>
      <p:sp>
        <p:nvSpPr>
          <p:cNvPr id="16" name="Text 14"/>
          <p:cNvSpPr/>
          <p:nvPr/>
        </p:nvSpPr>
        <p:spPr>
          <a:xfrm>
            <a:off x="5212080" y="1828800"/>
            <a:ext cx="10972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Operator</a:t>
            </a:r>
            <a:endParaRPr lang="en-US" sz="1500" dirty="0"/>
          </a:p>
        </p:txBody>
      </p:sp>
      <p:sp>
        <p:nvSpPr>
          <p:cNvPr id="17" name="Text 15"/>
          <p:cNvSpPr/>
          <p:nvPr/>
        </p:nvSpPr>
        <p:spPr>
          <a:xfrm>
            <a:off x="6309360" y="1828800"/>
            <a:ext cx="91440" cy="64008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6400800" y="1828800"/>
            <a:ext cx="1097280" cy="640080"/>
          </a:xfrm>
          <a:prstGeom prst="roundRect">
            <a:avLst>
              <a:gd name="adj" fmla="val 11429"/>
            </a:avLst>
          </a:prstGeom>
          <a:solidFill>
            <a:srgbClr val="0F0F1A">
              <a:alpha val="50000"/>
            </a:srgbClr>
          </a:solidFill>
          <a:ln w="12700">
            <a:solidFill>
              <a:srgbClr val="94A3B8"/>
            </a:solidFill>
            <a:prstDash val="solid"/>
          </a:ln>
        </p:spPr>
      </p:sp>
      <p:sp>
        <p:nvSpPr>
          <p:cNvPr id="19" name="Text 17"/>
          <p:cNvSpPr/>
          <p:nvPr/>
        </p:nvSpPr>
        <p:spPr>
          <a:xfrm>
            <a:off x="6400800" y="1828800"/>
            <a:ext cx="1097280" cy="640080"/>
          </a:xfrm>
          <a:prstGeom prst="rect">
            <a:avLst/>
          </a:prstGeom>
          <a:noFill/>
          <a:ln/>
        </p:spPr>
        <p:txBody>
          <a:bodyPr wrap="square" lIns="0" tIns="0" rIns="0" bIns="0" rtlCol="0" anchor="ctr"/>
          <a:lstStyle/>
          <a:p>
            <a:pPr algn="ctr" indent="0" marL="0">
              <a:buNone/>
            </a:pPr>
            <a:r>
              <a:rPr lang="en-US" sz="1500" b="1" dirty="0">
                <a:solidFill>
                  <a:srgbClr val="94A3B8"/>
                </a:solidFill>
                <a:latin typeface="Calibri" pitchFamily="34" charset="0"/>
                <a:ea typeface="Calibri" pitchFamily="34" charset="-122"/>
                <a:cs typeface="Calibri" pitchFamily="34" charset="-120"/>
              </a:rPr>
              <a:t>Orchestrator</a:t>
            </a:r>
            <a:endParaRPr lang="en-US" sz="1500" dirty="0"/>
          </a:p>
        </p:txBody>
      </p:sp>
      <p:sp>
        <p:nvSpPr>
          <p:cNvPr id="20" name="Text 18"/>
          <p:cNvSpPr/>
          <p:nvPr/>
        </p:nvSpPr>
        <p:spPr>
          <a:xfrm>
            <a:off x="7498080" y="1828800"/>
            <a:ext cx="91440" cy="64008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7589520" y="1828800"/>
            <a:ext cx="1097280" cy="640080"/>
          </a:xfrm>
          <a:prstGeom prst="roundRect">
            <a:avLst>
              <a:gd name="adj" fmla="val 11429"/>
            </a:avLst>
          </a:prstGeom>
          <a:solidFill>
            <a:srgbClr val="0F0F1A">
              <a:alpha val="50000"/>
            </a:srgbClr>
          </a:solidFill>
          <a:ln w="12700">
            <a:solidFill>
              <a:srgbClr val="94A3B8"/>
            </a:solidFill>
            <a:prstDash val="dash"/>
          </a:ln>
        </p:spPr>
      </p:sp>
      <p:sp>
        <p:nvSpPr>
          <p:cNvPr id="22" name="Text 20"/>
          <p:cNvSpPr/>
          <p:nvPr/>
        </p:nvSpPr>
        <p:spPr>
          <a:xfrm>
            <a:off x="7589520" y="1828800"/>
            <a:ext cx="1097280" cy="640080"/>
          </a:xfrm>
          <a:prstGeom prst="rect">
            <a:avLst/>
          </a:prstGeom>
          <a:noFill/>
          <a:ln/>
        </p:spPr>
        <p:txBody>
          <a:bodyPr wrap="square" lIns="0" tIns="0" rIns="0" bIns="0" rtlCol="0" anchor="ctr"/>
          <a:lstStyle/>
          <a:p>
            <a:pPr algn="ctr" indent="0" marL="0">
              <a:buNone/>
            </a:pPr>
            <a:r>
              <a:rPr lang="en-US" sz="1500" b="1" dirty="0">
                <a:solidFill>
                  <a:srgbClr val="94A3B8"/>
                </a:solidFill>
                <a:latin typeface="Calibri" pitchFamily="34" charset="0"/>
                <a:ea typeface="Calibri" pitchFamily="34" charset="-122"/>
                <a:cs typeface="Calibri" pitchFamily="34" charset="-120"/>
              </a:rPr>
              <a:t>Builder</a:t>
            </a:r>
            <a:endParaRPr lang="en-US" sz="1500" dirty="0"/>
          </a:p>
        </p:txBody>
      </p:sp>
      <p:sp>
        <p:nvSpPr>
          <p:cNvPr id="23" name="Text 21"/>
          <p:cNvSpPr/>
          <p:nvPr/>
        </p:nvSpPr>
        <p:spPr>
          <a:xfrm>
            <a:off x="914400" y="2926080"/>
            <a:ext cx="7315200" cy="731520"/>
          </a:xfrm>
          <a:prstGeom prst="rect">
            <a:avLst/>
          </a:prstGeom>
          <a:noFill/>
          <a:ln/>
        </p:spPr>
        <p:txBody>
          <a:bodyPr wrap="square" lIns="0" tIns="0" rIns="0" bIns="0" rtlCol="0" anchor="t"/>
          <a:lstStyle/>
          <a:p>
            <a:pPr algn="ctr" indent="0" marL="0">
              <a:buNone/>
            </a:pPr>
            <a:r>
              <a:rPr lang="en-US" sz="3200" b="1" dirty="0">
                <a:solidFill>
                  <a:srgbClr val="00B4D8"/>
                </a:solidFill>
                <a:latin typeface="Georgia" pitchFamily="34" charset="0"/>
                <a:ea typeface="Georgia" pitchFamily="34" charset="-122"/>
                <a:cs typeface="Georgia" pitchFamily="34" charset="-120"/>
              </a:rPr>
              <a:t>Strategist → Operator</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You talk to AI like a pro.</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You’ve set up its playbook.</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But who’s doing all the work?</a:t>
            </a:r>
            <a:endParaRPr lang="en-US" sz="36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Still you.</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828800" y="91440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1. You search</a:t>
            </a:r>
            <a:endParaRPr lang="en-US" sz="2800" dirty="0"/>
          </a:p>
        </p:txBody>
      </p:sp>
      <p:sp>
        <p:nvSpPr>
          <p:cNvPr id="4" name="Text 2"/>
          <p:cNvSpPr/>
          <p:nvPr/>
        </p:nvSpPr>
        <p:spPr>
          <a:xfrm>
            <a:off x="1828800" y="173736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2. You paste</a:t>
            </a:r>
            <a:endParaRPr lang="en-US" sz="2800" dirty="0"/>
          </a:p>
        </p:txBody>
      </p:sp>
      <p:sp>
        <p:nvSpPr>
          <p:cNvPr id="5" name="Text 3"/>
          <p:cNvSpPr/>
          <p:nvPr/>
        </p:nvSpPr>
        <p:spPr>
          <a:xfrm>
            <a:off x="1828800" y="256032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3. AI drafts</a:t>
            </a:r>
            <a:endParaRPr lang="en-US" sz="2800" dirty="0"/>
          </a:p>
        </p:txBody>
      </p:sp>
      <p:sp>
        <p:nvSpPr>
          <p:cNvPr id="6" name="Text 4"/>
          <p:cNvSpPr/>
          <p:nvPr/>
        </p:nvSpPr>
        <p:spPr>
          <a:xfrm>
            <a:off x="1828800" y="338328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4. You apply</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You’re using a Ferrari</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to carry groceries.</a:t>
            </a:r>
            <a:endParaRPr lang="en-U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828800" y="91440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1. Agent retrieves</a:t>
            </a:r>
            <a:endParaRPr lang="en-US" sz="2800" dirty="0"/>
          </a:p>
        </p:txBody>
      </p:sp>
      <p:sp>
        <p:nvSpPr>
          <p:cNvPr id="4" name="Text 2"/>
          <p:cNvSpPr/>
          <p:nvPr/>
        </p:nvSpPr>
        <p:spPr>
          <a:xfrm>
            <a:off x="1828800" y="173736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2. Agent identifies gaps</a:t>
            </a:r>
            <a:endParaRPr lang="en-US" sz="2800" dirty="0"/>
          </a:p>
        </p:txBody>
      </p:sp>
      <p:sp>
        <p:nvSpPr>
          <p:cNvPr id="5" name="Text 3"/>
          <p:cNvSpPr/>
          <p:nvPr/>
        </p:nvSpPr>
        <p:spPr>
          <a:xfrm>
            <a:off x="1828800" y="256032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3. Agent creates</a:t>
            </a:r>
            <a:endParaRPr lang="en-US" sz="2800" dirty="0"/>
          </a:p>
        </p:txBody>
      </p:sp>
      <p:sp>
        <p:nvSpPr>
          <p:cNvPr id="6" name="Text 4"/>
          <p:cNvSpPr/>
          <p:nvPr/>
        </p:nvSpPr>
        <p:spPr>
          <a:xfrm>
            <a:off x="1828800" y="3383280"/>
            <a:ext cx="5486400" cy="731520"/>
          </a:xfrm>
          <a:prstGeom prst="rect">
            <a:avLst/>
          </a:prstGeom>
          <a:noFill/>
          <a:ln/>
        </p:spPr>
        <p:txBody>
          <a:bodyPr wrap="square" lIns="0" tIns="0" rIns="0" bIns="0" rtlCol="0" anchor="ctr"/>
          <a:lstStyle/>
          <a:p>
            <a:pPr indent="0" marL="0">
              <a:buNone/>
            </a:pPr>
            <a:r>
              <a:rPr lang="en-US" sz="2800" b="1" dirty="0">
                <a:solidFill>
                  <a:srgbClr val="00B4D8"/>
                </a:solidFill>
                <a:latin typeface="Calibri" pitchFamily="34" charset="0"/>
                <a:ea typeface="Calibri" pitchFamily="34" charset="-122"/>
                <a:cs typeface="Calibri" pitchFamily="34" charset="-120"/>
              </a:rPr>
              <a:t>4. You review</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Same colleague.</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Now she has hands.</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Eyes, a phone, and a to-do list.</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548640"/>
            <a:ext cx="7315200" cy="731520"/>
          </a:xfrm>
          <a:prstGeom prst="rect">
            <a:avLst/>
          </a:prstGeom>
          <a:noFill/>
          <a:ln/>
        </p:spPr>
        <p:txBody>
          <a:bodyPr wrap="square" lIns="0" tIns="0" rIns="0" bIns="0"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YOUR TURN</a:t>
            </a:r>
            <a:endParaRPr lang="en-US" sz="2200" dirty="0"/>
          </a:p>
        </p:txBody>
      </p:sp>
      <p:sp>
        <p:nvSpPr>
          <p:cNvPr id="4" name="Text 2"/>
          <p:cNvSpPr/>
          <p:nvPr/>
        </p:nvSpPr>
        <p:spPr>
          <a:xfrm>
            <a:off x="914400" y="1371600"/>
            <a:ext cx="7315200" cy="18288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Open ChatGPT.</a:t>
            </a:r>
            <a:endParaRPr lang="en-US" sz="3600" dirty="0"/>
          </a:p>
        </p:txBody>
      </p:sp>
      <p:sp>
        <p:nvSpPr>
          <p:cNvPr id="5" name="Text 3"/>
          <p:cNvSpPr/>
          <p:nvPr/>
        </p:nvSpPr>
        <p:spPr>
          <a:xfrm>
            <a:off x="1371600" y="3291840"/>
            <a:ext cx="6400800" cy="1097280"/>
          </a:xfrm>
          <a:prstGeom prst="rect">
            <a:avLst/>
          </a:prstGeom>
          <a:noFill/>
          <a:ln/>
        </p:spPr>
        <p:txBody>
          <a:bodyPr wrap="square" lIns="0" tIns="0" rIns="0" bIns="0" rtlCol="0" anchor="t"/>
          <a:lstStyle/>
          <a:p>
            <a:pPr algn="ctr" indent="0" marL="0">
              <a:buNone/>
            </a:pPr>
            <a:r>
              <a:rPr lang="en-US" sz="2200" dirty="0">
                <a:solidFill>
                  <a:srgbClr val="94A3B8"/>
                </a:solidFill>
                <a:latin typeface="Calibri" pitchFamily="34" charset="0"/>
                <a:ea typeface="Calibri" pitchFamily="34" charset="-122"/>
                <a:cs typeface="Calibri" pitchFamily="34" charset="-120"/>
              </a:rPr>
              <a:t>Upload a file using the paperclip icon</a:t>
            </a:r>
            <a:endParaRPr lang="en-US" sz="2200" dirty="0"/>
          </a:p>
          <a:p>
            <a:pPr algn="ctr" indent="0" marL="0">
              <a:buNone/>
            </a:pPr>
            <a:r>
              <a:rPr lang="en-US" sz="2200" dirty="0">
                <a:solidFill>
                  <a:srgbClr val="94A3B8"/>
                </a:solidFill>
                <a:latin typeface="Calibri" pitchFamily="34" charset="0"/>
                <a:ea typeface="Calibri" pitchFamily="34" charset="-122"/>
                <a:cs typeface="Calibri" pitchFamily="34" charset="-120"/>
              </a:rPr>
              <a:t>or drag and drop.</a:t>
            </a:r>
            <a:endParaRPr lang="en-US" sz="2200" dirty="0"/>
          </a:p>
          <a:p>
            <a:pPr algn="ctr" indent="0" marL="0">
              <a:buNone/>
            </a:pPr>
            <a:r>
              <a:rPr lang="en-US" sz="2200" dirty="0">
                <a:solidFill>
                  <a:srgbClr val="94A3B8"/>
                </a:solidFill>
                <a:latin typeface="Calibri" pitchFamily="34" charset="0"/>
                <a:ea typeface="Calibri" pitchFamily="34" charset="-122"/>
                <a:cs typeface="Calibri" pitchFamily="34" charset="-120"/>
              </a:rPr>
              <a:t>We’re going to give it a task.</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548640"/>
            <a:ext cx="7315200" cy="731520"/>
          </a:xfrm>
          <a:prstGeom prst="rect">
            <a:avLst/>
          </a:prstGeom>
          <a:noFill/>
          <a:ln/>
        </p:spPr>
        <p:txBody>
          <a:bodyPr wrap="square" lIns="0" tIns="0" rIns="0" bIns="0"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YOUR TURN</a:t>
            </a:r>
            <a:endParaRPr lang="en-US" sz="2200" dirty="0"/>
          </a:p>
        </p:txBody>
      </p:sp>
      <p:sp>
        <p:nvSpPr>
          <p:cNvPr id="4" name="Text 2"/>
          <p:cNvSpPr/>
          <p:nvPr/>
        </p:nvSpPr>
        <p:spPr>
          <a:xfrm>
            <a:off x="914400" y="1371600"/>
            <a:ext cx="7315200" cy="18288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Give ChatGPT a task:</a:t>
            </a:r>
            <a:endParaRPr lang="en-US" sz="3600" dirty="0"/>
          </a:p>
        </p:txBody>
      </p:sp>
      <p:sp>
        <p:nvSpPr>
          <p:cNvPr id="5" name="Text 3"/>
          <p:cNvSpPr/>
          <p:nvPr/>
        </p:nvSpPr>
        <p:spPr>
          <a:xfrm>
            <a:off x="1371600" y="3291840"/>
            <a:ext cx="6400800" cy="1097280"/>
          </a:xfrm>
          <a:prstGeom prst="rect">
            <a:avLst/>
          </a:prstGeom>
          <a:noFill/>
          <a:ln/>
        </p:spPr>
        <p:txBody>
          <a:bodyPr wrap="square" lIns="0" tIns="0" rIns="0" bIns="0" rtlCol="0" anchor="t"/>
          <a:lstStyle/>
          <a:p>
            <a:pPr algn="ctr" indent="0" marL="0">
              <a:buNone/>
            </a:pPr>
            <a:r>
              <a:rPr lang="en-US" sz="2200" dirty="0">
                <a:solidFill>
                  <a:srgbClr val="94A3B8"/>
                </a:solidFill>
                <a:latin typeface="Calibri" pitchFamily="34" charset="0"/>
                <a:ea typeface="Calibri" pitchFamily="34" charset="-122"/>
                <a:cs typeface="Calibri" pitchFamily="34" charset="-120"/>
              </a:rPr>
              <a:t>"Read the document I’ve uploaded and write</a:t>
            </a:r>
            <a:endParaRPr lang="en-US" sz="2200" dirty="0"/>
          </a:p>
          <a:p>
            <a:pPr algn="ctr" indent="0" marL="0">
              <a:buNone/>
            </a:pPr>
            <a:r>
              <a:rPr lang="en-US" sz="2200" dirty="0">
                <a:solidFill>
                  <a:srgbClr val="94A3B8"/>
                </a:solidFill>
                <a:latin typeface="Calibri" pitchFamily="34" charset="0"/>
                <a:ea typeface="Calibri" pitchFamily="34" charset="-122"/>
                <a:cs typeface="Calibri" pitchFamily="34" charset="-120"/>
              </a:rPr>
              <a:t>a one-paragraph summary</a:t>
            </a:r>
            <a:endParaRPr lang="en-US" sz="2200" dirty="0"/>
          </a:p>
          <a:p>
            <a:pPr algn="ctr" indent="0" marL="0">
              <a:buNone/>
            </a:pPr>
            <a:r>
              <a:rPr lang="en-US" sz="2200" dirty="0">
                <a:solidFill>
                  <a:srgbClr val="94A3B8"/>
                </a:solidFill>
                <a:latin typeface="Calibri" pitchFamily="34" charset="0"/>
                <a:ea typeface="Calibri" pitchFamily="34" charset="-122"/>
                <a:cs typeface="Calibri" pitchFamily="34" charset="-120"/>
              </a:rPr>
              <a:t>for a non-technical audience."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An agent is only as useful</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as what it can reach.</a:t>
            </a:r>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pic>
        <p:nvPicPr>
          <p:cNvPr id="3" name="Image 0" descr="/Users/michaelengland/Developer/michaelengland/ai-best-practices/decks/workshop-operator/icons/envelopeW.png">    </p:cNvPr>
          <p:cNvPicPr>
            <a:picLocks noChangeAspect="1"/>
          </p:cNvPicPr>
          <p:nvPr/>
        </p:nvPicPr>
        <p:blipFill>
          <a:blip r:embed="rId1"/>
          <a:stretch>
            <a:fillRect/>
          </a:stretch>
        </p:blipFill>
        <p:spPr>
          <a:xfrm>
            <a:off x="1005840" y="1645920"/>
            <a:ext cx="731520" cy="731520"/>
          </a:xfrm>
          <a:prstGeom prst="rect">
            <a:avLst/>
          </a:prstGeom>
        </p:spPr>
      </p:pic>
      <p:sp>
        <p:nvSpPr>
          <p:cNvPr id="4" name="Text 1"/>
          <p:cNvSpPr/>
          <p:nvPr/>
        </p:nvSpPr>
        <p:spPr>
          <a:xfrm>
            <a:off x="822960" y="2514600"/>
            <a:ext cx="1097280" cy="457200"/>
          </a:xfrm>
          <a:prstGeom prst="rect">
            <a:avLst/>
          </a:prstGeom>
          <a:noFill/>
          <a:ln/>
        </p:spPr>
        <p:txBody>
          <a:bodyPr wrap="square" lIns="0" tIns="0" rIns="0" bIns="0" rtlCol="0" anchor="t"/>
          <a:lstStyle/>
          <a:p>
            <a:pPr algn="ctr" indent="0" marL="0">
              <a:buNone/>
            </a:pPr>
            <a:r>
              <a:rPr lang="en-US" sz="1800" dirty="0">
                <a:solidFill>
                  <a:srgbClr val="94A3B8"/>
                </a:solidFill>
                <a:latin typeface="Calibri" pitchFamily="34" charset="0"/>
                <a:ea typeface="Calibri" pitchFamily="34" charset="-122"/>
                <a:cs typeface="Calibri" pitchFamily="34" charset="-120"/>
              </a:rPr>
              <a:t>Email</a:t>
            </a:r>
            <a:endParaRPr lang="en-US" sz="1800" dirty="0"/>
          </a:p>
        </p:txBody>
      </p:sp>
      <p:pic>
        <p:nvPicPr>
          <p:cNvPr id="5" name="Image 1" descr="/Users/michaelengland/Developer/michaelengland/ai-best-practices/decks/workshop-operator/icons/calendarW.png">    </p:cNvPr>
          <p:cNvPicPr>
            <a:picLocks noChangeAspect="1"/>
          </p:cNvPicPr>
          <p:nvPr/>
        </p:nvPicPr>
        <p:blipFill>
          <a:blip r:embed="rId2"/>
          <a:stretch>
            <a:fillRect/>
          </a:stretch>
        </p:blipFill>
        <p:spPr>
          <a:xfrm>
            <a:off x="2286000" y="1645920"/>
            <a:ext cx="731520" cy="731520"/>
          </a:xfrm>
          <a:prstGeom prst="rect">
            <a:avLst/>
          </a:prstGeom>
        </p:spPr>
      </p:pic>
      <p:sp>
        <p:nvSpPr>
          <p:cNvPr id="6" name="Text 2"/>
          <p:cNvSpPr/>
          <p:nvPr/>
        </p:nvSpPr>
        <p:spPr>
          <a:xfrm>
            <a:off x="2103120" y="2514600"/>
            <a:ext cx="1097280" cy="457200"/>
          </a:xfrm>
          <a:prstGeom prst="rect">
            <a:avLst/>
          </a:prstGeom>
          <a:noFill/>
          <a:ln/>
        </p:spPr>
        <p:txBody>
          <a:bodyPr wrap="square" lIns="0" tIns="0" rIns="0" bIns="0" rtlCol="0" anchor="t"/>
          <a:lstStyle/>
          <a:p>
            <a:pPr algn="ctr" indent="0" marL="0">
              <a:buNone/>
            </a:pPr>
            <a:r>
              <a:rPr lang="en-US" sz="1800" dirty="0">
                <a:solidFill>
                  <a:srgbClr val="94A3B8"/>
                </a:solidFill>
                <a:latin typeface="Calibri" pitchFamily="34" charset="0"/>
                <a:ea typeface="Calibri" pitchFamily="34" charset="-122"/>
                <a:cs typeface="Calibri" pitchFamily="34" charset="-120"/>
              </a:rPr>
              <a:t>Calendar</a:t>
            </a:r>
            <a:endParaRPr lang="en-US" sz="1800" dirty="0"/>
          </a:p>
        </p:txBody>
      </p:sp>
      <p:pic>
        <p:nvPicPr>
          <p:cNvPr id="7" name="Image 2" descr="/Users/michaelengland/Developer/michaelengland/ai-best-practices/decks/workshop-operator/icons/fileW.png">    </p:cNvPr>
          <p:cNvPicPr>
            <a:picLocks noChangeAspect="1"/>
          </p:cNvPicPr>
          <p:nvPr/>
        </p:nvPicPr>
        <p:blipFill>
          <a:blip r:embed="rId3"/>
          <a:stretch>
            <a:fillRect/>
          </a:stretch>
        </p:blipFill>
        <p:spPr>
          <a:xfrm>
            <a:off x="3566160" y="1645920"/>
            <a:ext cx="731520" cy="731520"/>
          </a:xfrm>
          <a:prstGeom prst="rect">
            <a:avLst/>
          </a:prstGeom>
        </p:spPr>
      </p:pic>
      <p:sp>
        <p:nvSpPr>
          <p:cNvPr id="8" name="Text 3"/>
          <p:cNvSpPr/>
          <p:nvPr/>
        </p:nvSpPr>
        <p:spPr>
          <a:xfrm>
            <a:off x="3383280" y="2514600"/>
            <a:ext cx="1097280" cy="457200"/>
          </a:xfrm>
          <a:prstGeom prst="rect">
            <a:avLst/>
          </a:prstGeom>
          <a:noFill/>
          <a:ln/>
        </p:spPr>
        <p:txBody>
          <a:bodyPr wrap="square" lIns="0" tIns="0" rIns="0" bIns="0" rtlCol="0" anchor="t"/>
          <a:lstStyle/>
          <a:p>
            <a:pPr algn="ctr" indent="0" marL="0">
              <a:buNone/>
            </a:pPr>
            <a:r>
              <a:rPr lang="en-US" sz="1800" dirty="0">
                <a:solidFill>
                  <a:srgbClr val="94A3B8"/>
                </a:solidFill>
                <a:latin typeface="Calibri" pitchFamily="34" charset="0"/>
                <a:ea typeface="Calibri" pitchFamily="34" charset="-122"/>
                <a:cs typeface="Calibri" pitchFamily="34" charset="-120"/>
              </a:rPr>
              <a:t>Files</a:t>
            </a:r>
            <a:endParaRPr lang="en-US" sz="1800" dirty="0"/>
          </a:p>
        </p:txBody>
      </p:sp>
      <p:pic>
        <p:nvPicPr>
          <p:cNvPr id="9" name="Image 3" descr="/Users/michaelengland/Developer/michaelengland/ai-best-practices/decks/workshop-operator/icons/chatW.png">    </p:cNvPr>
          <p:cNvPicPr>
            <a:picLocks noChangeAspect="1"/>
          </p:cNvPicPr>
          <p:nvPr/>
        </p:nvPicPr>
        <p:blipFill>
          <a:blip r:embed="rId4"/>
          <a:stretch>
            <a:fillRect/>
          </a:stretch>
        </p:blipFill>
        <p:spPr>
          <a:xfrm>
            <a:off x="4846320" y="1645920"/>
            <a:ext cx="731520" cy="731520"/>
          </a:xfrm>
          <a:prstGeom prst="rect">
            <a:avLst/>
          </a:prstGeom>
        </p:spPr>
      </p:pic>
      <p:sp>
        <p:nvSpPr>
          <p:cNvPr id="10" name="Text 4"/>
          <p:cNvSpPr/>
          <p:nvPr/>
        </p:nvSpPr>
        <p:spPr>
          <a:xfrm>
            <a:off x="4663440" y="2514600"/>
            <a:ext cx="1097280" cy="457200"/>
          </a:xfrm>
          <a:prstGeom prst="rect">
            <a:avLst/>
          </a:prstGeom>
          <a:noFill/>
          <a:ln/>
        </p:spPr>
        <p:txBody>
          <a:bodyPr wrap="square" lIns="0" tIns="0" rIns="0" bIns="0" rtlCol="0" anchor="t"/>
          <a:lstStyle/>
          <a:p>
            <a:pPr algn="ctr" indent="0" marL="0">
              <a:buNone/>
            </a:pPr>
            <a:r>
              <a:rPr lang="en-US" sz="1800" dirty="0">
                <a:solidFill>
                  <a:srgbClr val="94A3B8"/>
                </a:solidFill>
                <a:latin typeface="Calibri" pitchFamily="34" charset="0"/>
                <a:ea typeface="Calibri" pitchFamily="34" charset="-122"/>
                <a:cs typeface="Calibri" pitchFamily="34" charset="-120"/>
              </a:rPr>
              <a:t>Chat</a:t>
            </a:r>
            <a:endParaRPr lang="en-US" sz="1800" dirty="0"/>
          </a:p>
        </p:txBody>
      </p:sp>
      <p:pic>
        <p:nvPicPr>
          <p:cNvPr id="11" name="Image 4" descr="/Users/michaelengland/Developer/michaelengland/ai-best-practices/decks/workshop-operator/icons/globeW.png">    </p:cNvPr>
          <p:cNvPicPr>
            <a:picLocks noChangeAspect="1"/>
          </p:cNvPicPr>
          <p:nvPr/>
        </p:nvPicPr>
        <p:blipFill>
          <a:blip r:embed="rId5"/>
          <a:stretch>
            <a:fillRect/>
          </a:stretch>
        </p:blipFill>
        <p:spPr>
          <a:xfrm>
            <a:off x="6126480" y="1645920"/>
            <a:ext cx="731520" cy="731520"/>
          </a:xfrm>
          <a:prstGeom prst="rect">
            <a:avLst/>
          </a:prstGeom>
        </p:spPr>
      </p:pic>
      <p:sp>
        <p:nvSpPr>
          <p:cNvPr id="12" name="Text 5"/>
          <p:cNvSpPr/>
          <p:nvPr/>
        </p:nvSpPr>
        <p:spPr>
          <a:xfrm>
            <a:off x="5943600" y="2514600"/>
            <a:ext cx="1097280" cy="457200"/>
          </a:xfrm>
          <a:prstGeom prst="rect">
            <a:avLst/>
          </a:prstGeom>
          <a:noFill/>
          <a:ln/>
        </p:spPr>
        <p:txBody>
          <a:bodyPr wrap="square" lIns="0" tIns="0" rIns="0" bIns="0" rtlCol="0" anchor="t"/>
          <a:lstStyle/>
          <a:p>
            <a:pPr algn="ctr" indent="0" marL="0">
              <a:buNone/>
            </a:pPr>
            <a:r>
              <a:rPr lang="en-US" sz="1800" dirty="0">
                <a:solidFill>
                  <a:srgbClr val="94A3B8"/>
                </a:solidFill>
                <a:latin typeface="Calibri" pitchFamily="34" charset="0"/>
                <a:ea typeface="Calibri" pitchFamily="34" charset="-122"/>
                <a:cs typeface="Calibri" pitchFamily="34" charset="-120"/>
              </a:rPr>
              <a:t>Web</a:t>
            </a:r>
            <a:endParaRPr lang="en-US" sz="1800" dirty="0"/>
          </a:p>
        </p:txBody>
      </p:sp>
      <p:pic>
        <p:nvPicPr>
          <p:cNvPr id="13" name="Image 5" descr="/Users/michaelengland/Developer/michaelengland/ai-best-practices/decks/workshop-operator/icons/arrowW.png">    </p:cNvPr>
          <p:cNvPicPr>
            <a:picLocks noChangeAspect="1"/>
          </p:cNvPicPr>
          <p:nvPr/>
        </p:nvPicPr>
        <p:blipFill>
          <a:blip r:embed="rId6"/>
          <a:stretch>
            <a:fillRect/>
          </a:stretch>
        </p:blipFill>
        <p:spPr>
          <a:xfrm>
            <a:off x="7406640" y="1645920"/>
            <a:ext cx="731520" cy="731520"/>
          </a:xfrm>
          <a:prstGeom prst="rect">
            <a:avLst/>
          </a:prstGeom>
        </p:spPr>
      </p:pic>
      <p:sp>
        <p:nvSpPr>
          <p:cNvPr id="14" name="Text 6"/>
          <p:cNvSpPr/>
          <p:nvPr/>
        </p:nvSpPr>
        <p:spPr>
          <a:xfrm>
            <a:off x="7223760" y="2514600"/>
            <a:ext cx="1097280" cy="457200"/>
          </a:xfrm>
          <a:prstGeom prst="rect">
            <a:avLst/>
          </a:prstGeom>
          <a:noFill/>
          <a:ln/>
        </p:spPr>
        <p:txBody>
          <a:bodyPr wrap="square" lIns="0" tIns="0" rIns="0" bIns="0" rtlCol="0" anchor="t"/>
          <a:lstStyle/>
          <a:p>
            <a:pPr algn="ctr" indent="0" marL="0">
              <a:buNone/>
            </a:pPr>
            <a:r>
              <a:rPr lang="en-US" sz="1800" dirty="0">
                <a:solidFill>
                  <a:srgbClr val="94A3B8"/>
                </a:solidFill>
                <a:latin typeface="Calibri" pitchFamily="34" charset="0"/>
                <a:ea typeface="Calibri" pitchFamily="34" charset="-122"/>
                <a:cs typeface="Calibri" pitchFamily="34" charset="-120"/>
              </a:rPr>
              <a:t>Custom</a:t>
            </a:r>
            <a:endParaRPr lang="en-US" sz="1800" dirty="0"/>
          </a:p>
        </p:txBody>
      </p:sp>
      <p:sp>
        <p:nvSpPr>
          <p:cNvPr id="15" name="Text 7"/>
          <p:cNvSpPr/>
          <p:nvPr/>
        </p:nvSpPr>
        <p:spPr>
          <a:xfrm>
            <a:off x="1371600" y="3108960"/>
            <a:ext cx="6400800" cy="731520"/>
          </a:xfrm>
          <a:prstGeom prst="rect">
            <a:avLst/>
          </a:prstGeom>
          <a:noFill/>
          <a:ln/>
        </p:spPr>
        <p:txBody>
          <a:bodyPr wrap="square" lIns="0" tIns="0" rIns="0" bIns="0" rtlCol="0" anchor="t"/>
          <a:lstStyle/>
          <a:p>
            <a:pPr algn="ctr" indent="0" marL="0">
              <a:buNone/>
            </a:pPr>
            <a:r>
              <a:rPr lang="en-US" sz="2800" dirty="0">
                <a:solidFill>
                  <a:srgbClr val="00B4D8"/>
                </a:solidFill>
                <a:latin typeface="Georgia" pitchFamily="34" charset="0"/>
                <a:ea typeface="Georgia" pitchFamily="34" charset="-122"/>
                <a:cs typeface="Georgia" pitchFamily="34" charset="-120"/>
              </a:rPr>
              <a:t>Each connection = a new capability.</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548640"/>
            <a:ext cx="7315200" cy="731520"/>
          </a:xfrm>
          <a:prstGeom prst="rect">
            <a:avLst/>
          </a:prstGeom>
          <a:noFill/>
          <a:ln/>
        </p:spPr>
        <p:txBody>
          <a:bodyPr wrap="square" lIns="0" tIns="0" rIns="0" bIns="0"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YOUR TURN</a:t>
            </a:r>
            <a:endParaRPr lang="en-US" sz="2200" dirty="0"/>
          </a:p>
        </p:txBody>
      </p:sp>
      <p:sp>
        <p:nvSpPr>
          <p:cNvPr id="4" name="Text 2"/>
          <p:cNvSpPr/>
          <p:nvPr/>
        </p:nvSpPr>
        <p:spPr>
          <a:xfrm>
            <a:off x="914400" y="1371600"/>
            <a:ext cx="7315200" cy="18288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Switch to agent mode.</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Then try this:</a:t>
            </a:r>
            <a:endParaRPr lang="en-US" sz="3600" dirty="0"/>
          </a:p>
        </p:txBody>
      </p:sp>
      <p:sp>
        <p:nvSpPr>
          <p:cNvPr id="5" name="Text 3"/>
          <p:cNvSpPr/>
          <p:nvPr/>
        </p:nvSpPr>
        <p:spPr>
          <a:xfrm>
            <a:off x="1371600" y="3291840"/>
            <a:ext cx="6400800" cy="1097280"/>
          </a:xfrm>
          <a:prstGeom prst="rect">
            <a:avLst/>
          </a:prstGeom>
          <a:noFill/>
          <a:ln/>
        </p:spPr>
        <p:txBody>
          <a:bodyPr wrap="square" lIns="0" tIns="0" rIns="0" bIns="0" rtlCol="0" anchor="t"/>
          <a:lstStyle/>
          <a:p>
            <a:pPr algn="ctr" indent="0" marL="0">
              <a:buNone/>
            </a:pPr>
            <a:r>
              <a:rPr lang="en-US" sz="2200" dirty="0">
                <a:solidFill>
                  <a:srgbClr val="94A3B8"/>
                </a:solidFill>
                <a:latin typeface="Calibri" pitchFamily="34" charset="0"/>
                <a:ea typeface="Calibri" pitchFamily="34" charset="-122"/>
                <a:cs typeface="Calibri" pitchFamily="34" charset="-120"/>
              </a:rPr>
              <a:t>"@Gmail Summarise my last 5 unread emails</a:t>
            </a:r>
            <a:endParaRPr lang="en-US" sz="2200" dirty="0"/>
          </a:p>
          <a:p>
            <a:pPr algn="ctr" indent="0" marL="0">
              <a:buNone/>
            </a:pPr>
            <a:r>
              <a:rPr lang="en-US" sz="2200" dirty="0">
                <a:solidFill>
                  <a:srgbClr val="94A3B8"/>
                </a:solidFill>
                <a:latin typeface="Calibri" pitchFamily="34" charset="0"/>
                <a:ea typeface="Calibri" pitchFamily="34" charset="-122"/>
                <a:cs typeface="Calibri" pitchFamily="34" charset="-120"/>
              </a:rPr>
              <a:t>and flag anything that needs</a:t>
            </a:r>
            <a:endParaRPr lang="en-US" sz="2200" dirty="0"/>
          </a:p>
          <a:p>
            <a:pPr algn="ctr" indent="0" marL="0">
              <a:buNone/>
            </a:pPr>
            <a:r>
              <a:rPr lang="en-US" sz="2200" dirty="0">
                <a:solidFill>
                  <a:srgbClr val="94A3B8"/>
                </a:solidFill>
                <a:latin typeface="Calibri" pitchFamily="34" charset="0"/>
                <a:ea typeface="Calibri" pitchFamily="34" charset="-122"/>
                <a:cs typeface="Calibri" pitchFamily="34" charset="-120"/>
              </a:rPr>
              <a:t>a response today."</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You didn’t search.</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You didn’t paste.</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You just asked.</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Trust, but verify.</a:t>
            </a:r>
            <a:endParaRPr lang="en-US" sz="6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548640"/>
            <a:ext cx="7315200" cy="731520"/>
          </a:xfrm>
          <a:prstGeom prst="rect">
            <a:avLst/>
          </a:prstGeom>
          <a:noFill/>
          <a:ln/>
        </p:spPr>
        <p:txBody>
          <a:bodyPr wrap="square" lIns="0" tIns="0" rIns="0" bIns="0"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YOUR TURN</a:t>
            </a:r>
            <a:endParaRPr lang="en-US" sz="2200" dirty="0"/>
          </a:p>
        </p:txBody>
      </p:sp>
      <p:sp>
        <p:nvSpPr>
          <p:cNvPr id="4" name="Text 2"/>
          <p:cNvSpPr/>
          <p:nvPr/>
        </p:nvSpPr>
        <p:spPr>
          <a:xfrm>
            <a:off x="914400" y="1371600"/>
            <a:ext cx="7315200" cy="182880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Pick one claim from</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the agent’s output.</a:t>
            </a:r>
            <a:endParaRPr lang="en-US" sz="3600" dirty="0"/>
          </a:p>
          <a:p>
            <a:pPr algn="ctr" indent="0" marL="0">
              <a:buNone/>
            </a:pPr>
            <a:r>
              <a:rPr lang="en-US" sz="3600" b="1" dirty="0">
                <a:solidFill>
                  <a:srgbClr val="FFFFFF"/>
                </a:solidFill>
                <a:latin typeface="Georgia" pitchFamily="34" charset="0"/>
                <a:ea typeface="Georgia" pitchFamily="34" charset="-122"/>
                <a:cs typeface="Georgia" pitchFamily="34" charset="-120"/>
              </a:rPr>
              <a:t>Verify it manually.</a:t>
            </a:r>
            <a:endParaRPr lang="en-US" sz="3600" dirty="0"/>
          </a:p>
        </p:txBody>
      </p:sp>
      <p:sp>
        <p:nvSpPr>
          <p:cNvPr id="5" name="Text 3"/>
          <p:cNvSpPr/>
          <p:nvPr/>
        </p:nvSpPr>
        <p:spPr>
          <a:xfrm>
            <a:off x="1371600" y="3291840"/>
            <a:ext cx="6400800" cy="1097280"/>
          </a:xfrm>
          <a:prstGeom prst="rect">
            <a:avLst/>
          </a:prstGeom>
          <a:noFill/>
          <a:ln/>
        </p:spPr>
        <p:txBody>
          <a:bodyPr wrap="square" lIns="0" tIns="0" rIns="0" bIns="0" rtlCol="0" anchor="t"/>
          <a:lstStyle/>
          <a:p>
            <a:pPr algn="ctr" indent="0" marL="0">
              <a:buNone/>
            </a:pPr>
            <a:r>
              <a:rPr lang="en-US" sz="2200" dirty="0">
                <a:solidFill>
                  <a:srgbClr val="94A3B8"/>
                </a:solidFill>
                <a:latin typeface="Calibri" pitchFamily="34" charset="0"/>
                <a:ea typeface="Calibri" pitchFamily="34" charset="-122"/>
                <a:cs typeface="Calibri" pitchFamily="34" charset="-120"/>
              </a:rPr>
              <a:t>Is it accurate? Did anything</a:t>
            </a:r>
            <a:endParaRPr lang="en-US" sz="2200" dirty="0"/>
          </a:p>
          <a:p>
            <a:pPr algn="ctr" indent="0" marL="0">
              <a:buNone/>
            </a:pPr>
            <a:r>
              <a:rPr lang="en-US" sz="2200" dirty="0">
                <a:solidFill>
                  <a:srgbClr val="94A3B8"/>
                </a:solidFill>
                <a:latin typeface="Calibri" pitchFamily="34" charset="0"/>
                <a:ea typeface="Calibri" pitchFamily="34" charset="-122"/>
                <a:cs typeface="Calibri" pitchFamily="34" charset="-120"/>
              </a:rPr>
              <a:t>‘feel right’ but turn out wrong?</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914400"/>
            <a:ext cx="7315200" cy="2560320"/>
          </a:xfrm>
          <a:prstGeom prst="rect">
            <a:avLst/>
          </a:prstGeom>
          <a:noFill/>
          <a:ln/>
        </p:spPr>
        <p:txBody>
          <a:bodyPr wrap="square" lIns="0" tIns="0" rIns="0" bIns="0" rtlCol="0" anchor="ctr"/>
          <a:lstStyle/>
          <a:p>
            <a:pPr algn="ctr" indent="0" marL="0">
              <a:buNone/>
            </a:pPr>
            <a:r>
              <a:rPr lang="en-US" sz="4400" b="1" i="1" dirty="0">
                <a:solidFill>
                  <a:srgbClr val="FFFFFF"/>
                </a:solidFill>
                <a:latin typeface="Georgia" pitchFamily="34" charset="0"/>
                <a:ea typeface="Georgia" pitchFamily="34" charset="-122"/>
                <a:cs typeface="Georgia" pitchFamily="34" charset="-120"/>
              </a:rPr>
              <a:t>“I destroyed months of work</a:t>
            </a:r>
            <a:endParaRPr lang="en-US" sz="4400" dirty="0"/>
          </a:p>
          <a:p>
            <a:pPr algn="ctr" indent="0" marL="0">
              <a:buNone/>
            </a:pPr>
            <a:r>
              <a:rPr lang="en-US" sz="4400" b="1" i="1" dirty="0">
                <a:solidFill>
                  <a:srgbClr val="FFFFFF"/>
                </a:solidFill>
                <a:latin typeface="Georgia" pitchFamily="34" charset="0"/>
                <a:ea typeface="Georgia" pitchFamily="34" charset="-122"/>
                <a:cs typeface="Georgia" pitchFamily="34" charset="-120"/>
              </a:rPr>
              <a:t>in seconds.”</a:t>
            </a:r>
            <a:endParaRPr lang="en-US" sz="4400" dirty="0"/>
          </a:p>
        </p:txBody>
      </p:sp>
      <p:sp>
        <p:nvSpPr>
          <p:cNvPr id="4" name="Text 2"/>
          <p:cNvSpPr/>
          <p:nvPr/>
        </p:nvSpPr>
        <p:spPr>
          <a:xfrm>
            <a:off x="1371600" y="3657600"/>
            <a:ext cx="6400800" cy="548640"/>
          </a:xfrm>
          <a:prstGeom prst="rect">
            <a:avLst/>
          </a:prstGeom>
          <a:noFill/>
          <a:ln/>
        </p:spPr>
        <p:txBody>
          <a:bodyPr wrap="square" lIns="0" tIns="0" rIns="0" bIns="0" rtlCol="0" anchor="t"/>
          <a:lstStyle/>
          <a:p>
            <a:pPr algn="ctr" indent="0" marL="0">
              <a:buNone/>
            </a:pPr>
            <a:r>
              <a:rPr lang="en-US" sz="2200" i="1" dirty="0">
                <a:solidFill>
                  <a:srgbClr val="94A3B8"/>
                </a:solidFill>
                <a:latin typeface="Calibri" pitchFamily="34" charset="0"/>
                <a:ea typeface="Calibri" pitchFamily="34" charset="-122"/>
                <a:cs typeface="Calibri" pitchFamily="34" charset="-120"/>
              </a:rPr>
              <a:t>— Replit AI agent, July 2025</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AI is a power tool,</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not autopilot.</a:t>
            </a: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You’re now an Operator.</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You set up agents, connected them</a:t>
            </a:r>
            <a:endParaRPr lang="en-US" sz="2800" dirty="0"/>
          </a:p>
          <a:p>
            <a:pPr algn="ctr" indent="0" marL="0">
              <a:buNone/>
            </a:pPr>
            <a:r>
              <a:rPr lang="en-US" sz="2800" dirty="0">
                <a:solidFill>
                  <a:srgbClr val="94A3B8"/>
                </a:solidFill>
                <a:latin typeface="Calibri" pitchFamily="34" charset="0"/>
                <a:ea typeface="Calibri" pitchFamily="34" charset="-122"/>
                <a:cs typeface="Calibri" pitchFamily="34" charset="-120"/>
              </a:rPr>
              <a:t>to your world, and let them work.</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3200" b="1" dirty="0">
                <a:solidFill>
                  <a:srgbClr val="00B4D8"/>
                </a:solidFill>
                <a:latin typeface="Georgia" pitchFamily="34" charset="0"/>
                <a:ea typeface="Georgia" pitchFamily="34" charset="-122"/>
                <a:cs typeface="Georgia" pitchFamily="34" charset="-120"/>
              </a:rPr>
              <a:t>One agent doing one task</a:t>
            </a:r>
            <a:endParaRPr lang="en-US" sz="3200" dirty="0"/>
          </a:p>
          <a:p>
            <a:pPr algn="ctr" indent="0" marL="0">
              <a:buNone/>
            </a:pPr>
            <a:r>
              <a:rPr lang="en-US" sz="3200" b="1" dirty="0">
                <a:solidFill>
                  <a:srgbClr val="00B4D8"/>
                </a:solidFill>
                <a:latin typeface="Georgia" pitchFamily="34" charset="0"/>
                <a:ea typeface="Georgia" pitchFamily="34" charset="-122"/>
                <a:cs typeface="Georgia" pitchFamily="34" charset="-120"/>
              </a:rPr>
              <a:t>is powerful.</a:t>
            </a:r>
            <a:endParaRPr lang="en-US" sz="3200" dirty="0"/>
          </a:p>
          <a:p>
            <a:pPr algn="ctr" indent="0" marL="0">
              <a:buNone/>
            </a:pPr>
            <a:r>
              <a:rPr lang="en-US" sz="3200" b="1" dirty="0">
                <a:solidFill>
                  <a:srgbClr val="00B4D8"/>
                </a:solidFill>
                <a:latin typeface="Georgia" pitchFamily="34" charset="0"/>
                <a:ea typeface="Georgia" pitchFamily="34" charset="-122"/>
                <a:cs typeface="Georgia" pitchFamily="34" charset="-120"/>
              </a:rPr>
              <a:t>What if you had a whole team —</a:t>
            </a:r>
            <a:endParaRPr lang="en-US" sz="3200" dirty="0"/>
          </a:p>
          <a:p>
            <a:pPr algn="ctr" indent="0" marL="0">
              <a:buNone/>
            </a:pPr>
            <a:r>
              <a:rPr lang="en-US" sz="3200" b="1" dirty="0">
                <a:solidFill>
                  <a:srgbClr val="00B4D8"/>
                </a:solidFill>
                <a:latin typeface="Georgia" pitchFamily="34" charset="0"/>
                <a:ea typeface="Georgia" pitchFamily="34" charset="-122"/>
                <a:cs typeface="Georgia" pitchFamily="34" charset="-120"/>
              </a:rPr>
              <a:t>each one specialised?</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00B4D8"/>
                </a:solidFill>
                <a:latin typeface="Georgia" pitchFamily="34" charset="0"/>
                <a:ea typeface="Georgia" pitchFamily="34" charset="-122"/>
                <a:cs typeface="Georgia" pitchFamily="34" charset="-120"/>
              </a:rPr>
              <a:t>Next time: Operator → Orchestrator.</a:t>
            </a:r>
            <a:endParaRPr lang="en-US" sz="2800" dirty="0"/>
          </a:p>
          <a:p>
            <a:pPr algn="ctr" indent="0" marL="0">
              <a:buNone/>
            </a:pPr>
            <a:r>
              <a:rPr lang="en-US" sz="2800" i="1" dirty="0">
                <a:solidFill>
                  <a:srgbClr val="00B4D8"/>
                </a:solidFill>
                <a:latin typeface="Georgia" pitchFamily="34" charset="0"/>
                <a:ea typeface="Georgia" pitchFamily="34" charset="-122"/>
                <a:cs typeface="Georgia" pitchFamily="34" charset="-120"/>
              </a:rPr>
              <a:t>We chain agents together.</a:t>
            </a:r>
            <a:endParaRPr lang="en-US" sz="2800" dirty="0"/>
          </a:p>
          <a:p>
            <a:pPr algn="ctr" indent="0" marL="0">
              <a:buNone/>
            </a:pPr>
            <a:r>
              <a:rPr lang="en-US" sz="2800" i="1" dirty="0">
                <a:solidFill>
                  <a:srgbClr val="00B4D8"/>
                </a:solidFill>
                <a:latin typeface="Georgia" pitchFamily="34" charset="0"/>
                <a:ea typeface="Georgia" pitchFamily="34" charset="-122"/>
                <a:cs typeface="Georgia" pitchFamily="34" charset="-120"/>
              </a:rPr>
              <a:t>Each one focused. The team does everything.</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Strategist → Operator</dc:title>
  <dc:subject>PptxGenJS Presentation</dc:subject>
  <dc:creator>AI Academy</dc:creator>
  <cp:lastModifiedBy>AI Academy</cp:lastModifiedBy>
  <cp:revision>1</cp:revision>
  <dcterms:created xsi:type="dcterms:W3CDTF">2026-02-22T23:52:35Z</dcterms:created>
  <dcterms:modified xsi:type="dcterms:W3CDTF">2026-02-22T23:52:35Z</dcterms:modified>
</cp:coreProperties>
</file>